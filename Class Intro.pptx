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81" r:id="rId4"/>
    <p:sldId id="258" r:id="rId5"/>
    <p:sldId id="260" r:id="rId6"/>
    <p:sldId id="279" r:id="rId7"/>
    <p:sldId id="263" r:id="rId8"/>
    <p:sldId id="266" r:id="rId9"/>
    <p:sldId id="280" r:id="rId10"/>
    <p:sldId id="288" r:id="rId11"/>
    <p:sldId id="262" r:id="rId12"/>
    <p:sldId id="272" r:id="rId13"/>
    <p:sldId id="282" r:id="rId14"/>
    <p:sldId id="285" r:id="rId15"/>
    <p:sldId id="283" r:id="rId16"/>
    <p:sldId id="286" r:id="rId17"/>
    <p:sldId id="284" r:id="rId18"/>
    <p:sldId id="287" r:id="rId19"/>
    <p:sldId id="275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/>
    <p:restoredTop sz="94582"/>
  </p:normalViewPr>
  <p:slideViewPr>
    <p:cSldViewPr>
      <p:cViewPr varScale="1">
        <p:scale>
          <a:sx n="120" d="100"/>
          <a:sy n="120" d="100"/>
        </p:scale>
        <p:origin x="119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499AA4-461E-492B-AC5F-BC73CAE80FB0}" type="datetimeFigureOut">
              <a:rPr lang="en-US" smtClean="0"/>
              <a:t>8/25/26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FBFEC2-D1D9-4572-96CC-11D7F7296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75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FBFEC2-D1D9-4572-96CC-11D7F7296F3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635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mwon@memphis.edu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eople.memphis.edu/~jaffairs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</p:spPr>
        <p:txBody>
          <a:bodyPr>
            <a:normAutofit fontScale="90000"/>
          </a:bodyPr>
          <a:lstStyle/>
          <a:p>
            <a:r>
              <a:rPr lang="en-US" dirty="0"/>
              <a:t>COMP7212 Operating/Distributed Systems</a:t>
            </a:r>
            <a:br>
              <a:rPr lang="en-US" dirty="0"/>
            </a:br>
            <a:r>
              <a:rPr lang="en-US" dirty="0"/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9144000" cy="1752600"/>
          </a:xfrm>
        </p:spPr>
        <p:txBody>
          <a:bodyPr>
            <a:normAutofit/>
          </a:bodyPr>
          <a:lstStyle/>
          <a:p>
            <a:r>
              <a:rPr lang="en-US" dirty="0"/>
              <a:t>Dr. Myounggyu Won</a:t>
            </a:r>
          </a:p>
        </p:txBody>
      </p:sp>
    </p:spTree>
    <p:extLst>
      <p:ext uri="{BB962C8B-B14F-4D97-AF65-F5344CB8AC3E}">
        <p14:creationId xmlns:p14="http://schemas.microsoft.com/office/powerpoint/2010/main" val="540042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81600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Myounggyu</a:t>
            </a:r>
            <a:r>
              <a:rPr lang="en-US" dirty="0"/>
              <a:t> Won, Ph.D.</a:t>
            </a:r>
          </a:p>
          <a:p>
            <a:r>
              <a:rPr lang="en-US" dirty="0"/>
              <a:t>Email: </a:t>
            </a:r>
            <a:r>
              <a:rPr lang="en-US" dirty="0">
                <a:hlinkClick r:id="rId2"/>
              </a:rPr>
              <a:t>mwon@memphis.edu</a:t>
            </a:r>
            <a:endParaRPr lang="en-US" dirty="0"/>
          </a:p>
          <a:p>
            <a:pPr lvl="1"/>
            <a:r>
              <a:rPr lang="en-US" dirty="0"/>
              <a:t>You can also email via Canvas</a:t>
            </a:r>
          </a:p>
          <a:p>
            <a:r>
              <a:rPr lang="en-US" dirty="0"/>
              <a:t>Office: DH398</a:t>
            </a:r>
          </a:p>
          <a:p>
            <a:r>
              <a:rPr lang="en-US" dirty="0"/>
              <a:t>Office Hours: MW 3:45PM-5:00PM and by appointment</a:t>
            </a:r>
          </a:p>
          <a:p>
            <a:r>
              <a:rPr lang="en-US" dirty="0">
                <a:solidFill>
                  <a:srgbClr val="FF0000"/>
                </a:solidFill>
              </a:rPr>
              <a:t>Check regularly </a:t>
            </a:r>
            <a:r>
              <a:rPr lang="en-US" b="1" u="sng" dirty="0">
                <a:solidFill>
                  <a:srgbClr val="FF0000"/>
                </a:solidFill>
              </a:rPr>
              <a:t>Canvas</a:t>
            </a:r>
            <a:r>
              <a:rPr lang="en-US" dirty="0">
                <a:solidFill>
                  <a:srgbClr val="FF0000"/>
                </a:solidFill>
              </a:rPr>
              <a:t> for announcements!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HW Q/A, Tips, Corrections, etc.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Exam Reviews.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Attendance.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In-class exercise.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And many more…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362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D7280-7C62-4FF4-ACFB-94A2ECD42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33FCE-865E-49A1-93FA-96EAEDCBC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Manish </a:t>
            </a:r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Kasu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 (</a:t>
            </a:r>
            <a:r>
              <a:rPr lang="en-US" dirty="0" err="1">
                <a:solidFill>
                  <a:srgbClr val="0000FF"/>
                </a:solidFill>
                <a:effectLst/>
                <a:latin typeface="Helvetica" pitchFamily="2" charset="0"/>
              </a:rPr>
              <a:t>mjkasu@memphis.edu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)</a:t>
            </a:r>
            <a:endParaRPr lang="en-US" dirty="0">
              <a:solidFill>
                <a:srgbClr val="0000FF"/>
              </a:solidFill>
              <a:effectLst/>
              <a:latin typeface="Helvetica" pitchFamily="2" charset="0"/>
            </a:endParaRPr>
          </a:p>
          <a:p>
            <a:r>
              <a:rPr lang="sv-SE" dirty="0" err="1"/>
              <a:t>Duties</a:t>
            </a:r>
            <a:endParaRPr lang="sv-SE" dirty="0"/>
          </a:p>
          <a:p>
            <a:pPr lvl="1"/>
            <a:r>
              <a:rPr lang="sv-SE" dirty="0"/>
              <a:t>Grade your programming projects.</a:t>
            </a:r>
          </a:p>
          <a:p>
            <a:pPr lvl="1"/>
            <a:r>
              <a:rPr lang="sv-SE" dirty="0"/>
              <a:t>Grade your written assignments. </a:t>
            </a:r>
          </a:p>
          <a:p>
            <a:pPr lvl="1"/>
            <a:r>
              <a:rPr lang="sv-SE" dirty="0"/>
              <a:t>Grade your quiz/in-class exercises.</a:t>
            </a:r>
          </a:p>
          <a:p>
            <a:pPr lvl="1"/>
            <a:r>
              <a:rPr lang="sv-SE" dirty="0"/>
              <a:t>Answer questions about assignments.</a:t>
            </a:r>
          </a:p>
        </p:txBody>
      </p:sp>
    </p:spTree>
    <p:extLst>
      <p:ext uri="{BB962C8B-B14F-4D97-AF65-F5344CB8AC3E}">
        <p14:creationId xmlns:p14="http://schemas.microsoft.com/office/powerpoint/2010/main" val="1542661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 2150 Object-Oriented Programming and Data Structures </a:t>
            </a:r>
            <a:r>
              <a:rPr lang="en-US" dirty="0">
                <a:solidFill>
                  <a:schemeClr val="accent1"/>
                </a:solidFill>
              </a:rPr>
              <a:t>and </a:t>
            </a:r>
            <a:r>
              <a:rPr lang="en-US" dirty="0"/>
              <a:t>COMP 3410 Computer Organization &amp; Architecture</a:t>
            </a:r>
          </a:p>
          <a:p>
            <a:pPr marL="0" indent="0">
              <a:buNone/>
            </a:pPr>
            <a:r>
              <a:rPr lang="en-US" dirty="0"/>
              <a:t>    </a:t>
            </a:r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or</a:t>
            </a:r>
            <a:r>
              <a:rPr lang="en-US" dirty="0"/>
              <a:t> Permission of instructor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884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Textbook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r>
              <a:rPr lang="en-US" sz="2400" i="1" dirty="0"/>
              <a:t>Distributed Systems: Principles</a:t>
            </a:r>
          </a:p>
          <a:p>
            <a:pPr marL="0" indent="0">
              <a:buNone/>
            </a:pPr>
            <a:r>
              <a:rPr lang="en-US" sz="2400" i="1" dirty="0"/>
              <a:t>     and Paradigms (3</a:t>
            </a:r>
            <a:r>
              <a:rPr lang="en-US" sz="2400" i="1" baseline="30000" dirty="0"/>
              <a:t>rd</a:t>
            </a:r>
            <a:r>
              <a:rPr lang="en-US" sz="2400" i="1" dirty="0"/>
              <a:t> Edition), Andrew</a:t>
            </a:r>
          </a:p>
          <a:p>
            <a:pPr marL="0" indent="0">
              <a:buNone/>
            </a:pPr>
            <a:r>
              <a:rPr lang="en-US" sz="2400" dirty="0"/>
              <a:t>     S Tanenbaum and Maarten Van </a:t>
            </a:r>
          </a:p>
          <a:p>
            <a:pPr marL="0" indent="0">
              <a:buNone/>
            </a:pPr>
            <a:r>
              <a:rPr lang="en-US" sz="2400" dirty="0"/>
              <a:t>     Steen</a:t>
            </a:r>
          </a:p>
          <a:p>
            <a:pPr marL="0" indent="0">
              <a:buNone/>
            </a:pPr>
            <a:r>
              <a:rPr lang="en-US" sz="2400" dirty="0"/>
              <a:t>     ISBN: 978-0132392273</a:t>
            </a:r>
          </a:p>
          <a:p>
            <a:pPr marL="0" indent="0">
              <a:buNone/>
            </a:pPr>
            <a:r>
              <a:rPr lang="en-US" sz="2400" dirty="0"/>
              <a:t>	</a:t>
            </a:r>
          </a:p>
          <a:p>
            <a:pPr marL="0" indent="0">
              <a:buNone/>
            </a:pPr>
            <a:r>
              <a:rPr lang="en-US" sz="2400" dirty="0"/>
              <a:t> </a:t>
            </a:r>
          </a:p>
        </p:txBody>
      </p:sp>
      <p:pic>
        <p:nvPicPr>
          <p:cNvPr id="5" name="Picture 4" descr="Diagram, text&#10;&#10;Description automatically generated">
            <a:extLst>
              <a:ext uri="{FF2B5EF4-FFF2-40B4-BE49-F238E27FC236}">
                <a16:creationId xmlns:a16="http://schemas.microsoft.com/office/drawing/2014/main" id="{F116B8D1-18C2-4AFD-BA6C-43B489C92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33330"/>
            <a:ext cx="3378384" cy="410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573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Attendance </a:t>
            </a:r>
          </a:p>
          <a:p>
            <a:pPr lvl="2"/>
            <a:r>
              <a:rPr lang="en-US" dirty="0"/>
              <a:t>There will be </a:t>
            </a:r>
            <a:r>
              <a:rPr lang="en-US" dirty="0">
                <a:solidFill>
                  <a:srgbClr val="0070C0"/>
                </a:solidFill>
              </a:rPr>
              <a:t>15 in-class exercises </a:t>
            </a:r>
            <a:r>
              <a:rPr lang="en-US" dirty="0"/>
              <a:t>worth a total of 150 points, which can significantly impact your final letter grade if performed well.</a:t>
            </a:r>
          </a:p>
          <a:p>
            <a:pPr lvl="2"/>
            <a:r>
              <a:rPr lang="en-US" dirty="0"/>
              <a:t>I have seen many students who got an ‘A’ even if he/she did not do well in their exams because they actively participated in the in-class exercises and received full marks. </a:t>
            </a:r>
          </a:p>
          <a:p>
            <a:pPr lvl="1"/>
            <a:r>
              <a:rPr lang="en-US" dirty="0"/>
              <a:t>Responsible for materials covered during class, and quizzes/in-class exercises</a:t>
            </a:r>
          </a:p>
        </p:txBody>
      </p:sp>
    </p:spTree>
    <p:extLst>
      <p:ext uri="{BB962C8B-B14F-4D97-AF65-F5344CB8AC3E}">
        <p14:creationId xmlns:p14="http://schemas.microsoft.com/office/powerpoint/2010/main" val="1509327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Assignments</a:t>
            </a:r>
          </a:p>
          <a:p>
            <a:pPr lvl="1"/>
            <a:r>
              <a:rPr lang="en-US" dirty="0"/>
              <a:t>Due at 11:59PM on the due date</a:t>
            </a:r>
          </a:p>
          <a:p>
            <a:pPr lvl="1"/>
            <a:r>
              <a:rPr lang="en-US" dirty="0"/>
              <a:t>20% off each day after the due date</a:t>
            </a:r>
          </a:p>
          <a:p>
            <a:pPr lvl="1"/>
            <a:r>
              <a:rPr lang="en-US" dirty="0"/>
              <a:t>No credit for assignments submitted after 5 days</a:t>
            </a:r>
          </a:p>
          <a:p>
            <a:pPr lvl="2"/>
            <a:r>
              <a:rPr lang="en-US" dirty="0"/>
              <a:t>Submit incomplete work for partial credits</a:t>
            </a:r>
          </a:p>
          <a:p>
            <a:pPr lvl="1"/>
            <a:r>
              <a:rPr lang="en-US" dirty="0"/>
              <a:t>Submit your incomplete work for </a:t>
            </a:r>
            <a:r>
              <a:rPr lang="en-US" u="sng" dirty="0">
                <a:solidFill>
                  <a:srgbClr val="FF0000"/>
                </a:solidFill>
              </a:rPr>
              <a:t>partial/base credits</a:t>
            </a:r>
          </a:p>
          <a:p>
            <a:pPr lvl="2"/>
            <a:r>
              <a:rPr lang="en-US" dirty="0"/>
              <a:t>If you submit nothing, you will get 0 points. </a:t>
            </a:r>
          </a:p>
        </p:txBody>
      </p:sp>
    </p:spTree>
    <p:extLst>
      <p:ext uri="{BB962C8B-B14F-4D97-AF65-F5344CB8AC3E}">
        <p14:creationId xmlns:p14="http://schemas.microsoft.com/office/powerpoint/2010/main" val="352173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Academic Integrity/Plagiarism</a:t>
            </a:r>
          </a:p>
          <a:p>
            <a:pPr lvl="1"/>
            <a:r>
              <a:rPr lang="en-US" dirty="0"/>
              <a:t>Do not copy from another student’s work</a:t>
            </a:r>
          </a:p>
          <a:p>
            <a:pPr lvl="1"/>
            <a:r>
              <a:rPr lang="en-US" dirty="0"/>
              <a:t>Do not copy from the Internet </a:t>
            </a:r>
          </a:p>
          <a:p>
            <a:pPr lvl="1"/>
            <a:r>
              <a:rPr lang="en-US" dirty="0"/>
              <a:t>Do not give your work to other students</a:t>
            </a:r>
          </a:p>
          <a:p>
            <a:r>
              <a:rPr lang="en-US" dirty="0"/>
              <a:t>If plagiarism or cheating occurs, the student will receive a failing grade on the assignment.</a:t>
            </a:r>
          </a:p>
          <a:p>
            <a:r>
              <a:rPr lang="en-US" dirty="0"/>
              <a:t>For more info, refer to </a:t>
            </a:r>
            <a:r>
              <a:rPr lang="en-US" u="sng" dirty="0">
                <a:hlinkClick r:id="rId2"/>
              </a:rPr>
              <a:t>http://www.people.memphis.edu/~jaffairs/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235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F3106-AC78-42B2-953B-E76ACCC97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2A44F-5F4B-46AA-B938-99F7DB273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The student will be able to identify basic roles of distributed systems.</a:t>
            </a:r>
          </a:p>
          <a:p>
            <a:pPr lvl="0"/>
            <a:r>
              <a:rPr lang="en-US" dirty="0"/>
              <a:t>The student will be able to list the various components of distributed systems.</a:t>
            </a:r>
          </a:p>
          <a:p>
            <a:pPr lvl="0"/>
            <a:r>
              <a:rPr lang="en-US" dirty="0"/>
              <a:t>The student will be able to identify major issues in the design of distributed systems. </a:t>
            </a:r>
          </a:p>
          <a:p>
            <a:pPr lvl="0"/>
            <a:r>
              <a:rPr lang="en-US" dirty="0"/>
              <a:t>The student will be able to analyze the tradeoffs involved in the design of distributed systems.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962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BECF1-D60C-8C57-AFD4-E86DD8BFC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Paper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115AB-4314-0076-F01B-A7CF07CE8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70000" lnSpcReduction="20000"/>
          </a:bodyPr>
          <a:lstStyle/>
          <a:p>
            <a:r>
              <a:rPr lang="en-US" sz="3000" dirty="0"/>
              <a:t>A presentation schedule will be determined by the instructor (in an alphabetical order of last name). </a:t>
            </a:r>
          </a:p>
          <a:p>
            <a:pPr lvl="1"/>
            <a:r>
              <a:rPr lang="en-US" sz="2600" b="1" u="sng" dirty="0"/>
              <a:t>Students are not allowed to change the presentation schedule</a:t>
            </a:r>
            <a:r>
              <a:rPr lang="en-US" sz="2600" dirty="0"/>
              <a:t>. If a student fails to present a paper on the scheduled date, they will automatically receive a zero. </a:t>
            </a:r>
          </a:p>
          <a:p>
            <a:r>
              <a:rPr lang="en-US" sz="3000" dirty="0"/>
              <a:t>A student's presentation must include the following minimum content. Additional details may be incorporated at the student's discretion, provided the presentation does not exceed the 30-minute time limit. 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300" dirty="0">
                <a:effectLst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Introduction (1 slide)</a:t>
            </a:r>
            <a:endParaRPr lang="en-US" sz="2300" dirty="0">
              <a:effectLst/>
              <a:latin typeface="Verdana" panose="020B060403050404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300" dirty="0">
                <a:effectLst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What is the problem?</a:t>
            </a:r>
            <a:endParaRPr lang="en-US" sz="2300" dirty="0">
              <a:effectLst/>
              <a:latin typeface="Verdana" panose="020B060403050404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300" dirty="0">
                <a:effectLst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Why is the problem important?</a:t>
            </a:r>
            <a:endParaRPr lang="en-US" sz="2300" dirty="0">
              <a:effectLst/>
              <a:latin typeface="Verdana" panose="020B060403050404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300" dirty="0">
                <a:effectLst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What is the key idea to solve the problem?</a:t>
            </a:r>
            <a:endParaRPr lang="en-US" sz="2300" dirty="0">
              <a:effectLst/>
              <a:latin typeface="Verdana" panose="020B060403050404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300" dirty="0">
                <a:effectLst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Why is the problem hard? (i.e., what are the challenges addressed in the paper)</a:t>
            </a:r>
            <a:endParaRPr lang="en-US" sz="2300" dirty="0">
              <a:effectLst/>
              <a:latin typeface="Verdana" panose="020B060403050404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300" dirty="0">
                <a:effectLst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Related Work (1 slides)</a:t>
            </a:r>
            <a:endParaRPr lang="en-US" sz="2300" dirty="0">
              <a:effectLst/>
              <a:latin typeface="Verdana" panose="020B060403050404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300" dirty="0">
                <a:effectLst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Discuss two related papers including the main idea and limitation compared to the paper you are presenting. </a:t>
            </a:r>
            <a:endParaRPr lang="en-US" sz="2300" dirty="0">
              <a:effectLst/>
              <a:latin typeface="Verdana" panose="020B060403050404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300" dirty="0">
                <a:effectLst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Proposed Approach/Ideas (5+ slides)</a:t>
            </a:r>
            <a:endParaRPr lang="en-US" sz="2300" dirty="0">
              <a:effectLst/>
              <a:latin typeface="Verdana" panose="020B060403050404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300" dirty="0">
                <a:effectLst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Overview (before presenting the details, show us the big picture of the proposed idea).</a:t>
            </a:r>
            <a:endParaRPr lang="en-US" sz="2300" dirty="0">
              <a:effectLst/>
              <a:latin typeface="Verdana" panose="020B060403050404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300" dirty="0">
                <a:effectLst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And then, the details. </a:t>
            </a:r>
            <a:endParaRPr lang="en-US" sz="2300" dirty="0">
              <a:effectLst/>
              <a:latin typeface="Verdana" panose="020B060403050404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300" dirty="0">
                <a:effectLst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Experimental Results (2~3 slides)</a:t>
            </a:r>
            <a:endParaRPr lang="en-US" sz="2300" dirty="0">
              <a:effectLst/>
              <a:latin typeface="Verdana" panose="020B060403050404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300" dirty="0">
                <a:effectLst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No need to present all results. </a:t>
            </a:r>
            <a:endParaRPr lang="en-US" sz="2300" dirty="0">
              <a:effectLst/>
              <a:latin typeface="Verdana" panose="020B060403050404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300" dirty="0">
                <a:effectLst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Choose two to three graphs/tables that represent the key results. </a:t>
            </a:r>
            <a:endParaRPr lang="en-US" sz="2300" dirty="0">
              <a:effectLst/>
              <a:latin typeface="Verdana" panose="020B060403050404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300" dirty="0">
                <a:effectLst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Conclusion (1 slide)</a:t>
            </a:r>
            <a:endParaRPr lang="en-US" sz="2300" dirty="0">
              <a:effectLst/>
              <a:latin typeface="Verdana" panose="020B060403050404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endParaRPr lang="en-US" sz="3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411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Performance Criteria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6073350"/>
              </p:ext>
            </p:extLst>
          </p:nvPr>
        </p:nvGraphicFramePr>
        <p:xfrm>
          <a:off x="228600" y="1219200"/>
          <a:ext cx="8686800" cy="51547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5142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2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4813">
                <a:tc>
                  <a:txBody>
                    <a:bodyPr/>
                    <a:lstStyle/>
                    <a:p>
                      <a:pPr marL="1371600" indent="-1371600" algn="ctr"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  <a:tab pos="2743200" algn="ctr"/>
                          <a:tab pos="5486400" algn="r"/>
                        </a:tabLst>
                      </a:pPr>
                      <a:r>
                        <a:rPr lang="en-US" sz="2800" dirty="0">
                          <a:effectLst/>
                        </a:rPr>
                        <a:t>Programming Assignments </a:t>
                      </a:r>
                      <a:r>
                        <a:rPr lang="en-US" sz="2800" b="0" dirty="0">
                          <a:effectLst/>
                        </a:rPr>
                        <a:t>(3)</a:t>
                      </a:r>
                      <a:endParaRPr lang="en-US" sz="2800" b="0" dirty="0">
                        <a:effectLst/>
                        <a:latin typeface="Verdana" panose="020B060403050404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371600" indent="-1371600" algn="ctr"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  <a:tab pos="2743200" algn="ctr"/>
                          <a:tab pos="5486400" algn="r"/>
                        </a:tabLst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en-US" sz="2800" b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813">
                <a:tc>
                  <a:txBody>
                    <a:bodyPr/>
                    <a:lstStyle/>
                    <a:p>
                      <a:pPr marL="1371600" indent="-1371600" algn="ctr"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  <a:tab pos="2743200" algn="ctr"/>
                          <a:tab pos="5486400" algn="r"/>
                        </a:tabLst>
                      </a:pPr>
                      <a:r>
                        <a:rPr lang="en-US" sz="2800" dirty="0">
                          <a:effectLst/>
                        </a:rPr>
                        <a:t>Written Assignments </a:t>
                      </a:r>
                      <a:r>
                        <a:rPr lang="en-US" sz="2800" b="0" dirty="0">
                          <a:effectLst/>
                        </a:rPr>
                        <a:t>(3)</a:t>
                      </a:r>
                      <a:endParaRPr lang="en-US" sz="2800" b="0" dirty="0">
                        <a:effectLst/>
                        <a:latin typeface="Verdana" panose="020B060403050404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371600" indent="-1371600" algn="ctr"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  <a:tab pos="2743200" algn="ctr"/>
                          <a:tab pos="5486400" algn="r"/>
                        </a:tabLst>
                      </a:pPr>
                      <a:r>
                        <a:rPr lang="en-US" sz="2800" dirty="0">
                          <a:effectLst/>
                        </a:rPr>
                        <a:t>100</a:t>
                      </a:r>
                      <a:endParaRPr lang="en-US" sz="2800" dirty="0">
                        <a:effectLst/>
                        <a:latin typeface="Verdana" panose="020B060403050404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261">
                <a:tc>
                  <a:txBody>
                    <a:bodyPr/>
                    <a:lstStyle/>
                    <a:p>
                      <a:pPr marL="1371600" indent="-1371600" algn="ctr"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  <a:tab pos="2743200" algn="ctr"/>
                          <a:tab pos="5486400" algn="r"/>
                        </a:tabLst>
                      </a:pPr>
                      <a:r>
                        <a:rPr lang="en-US" sz="2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Quizzes/In-class Exercises (15)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371600" indent="-1371600" algn="ctr" defTabSz="914400" rtl="0" eaLnBrk="1" latinLnBrk="0" hangingPunct="1"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  <a:tab pos="2743200" algn="ctr"/>
                          <a:tab pos="5486400" algn="r"/>
                        </a:tabLst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1086757"/>
                  </a:ext>
                </a:extLst>
              </a:tr>
              <a:tr h="557741">
                <a:tc>
                  <a:txBody>
                    <a:bodyPr/>
                    <a:lstStyle/>
                    <a:p>
                      <a:pPr marL="1371600" indent="-1371600" algn="ctr"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  <a:tab pos="2743200" algn="ctr"/>
                          <a:tab pos="5486400" algn="r"/>
                        </a:tabLst>
                      </a:pPr>
                      <a:r>
                        <a:rPr lang="en-US" sz="2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Paper Presentations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371600" indent="-1371600" algn="ctr" defTabSz="914400" rtl="0" eaLnBrk="1" latinLnBrk="0" hangingPunct="1"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  <a:tab pos="2743200" algn="ctr"/>
                          <a:tab pos="5486400" algn="r"/>
                        </a:tabLst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095126"/>
                  </a:ext>
                </a:extLst>
              </a:tr>
              <a:tr h="684813">
                <a:tc>
                  <a:txBody>
                    <a:bodyPr/>
                    <a:lstStyle/>
                    <a:p>
                      <a:pPr marL="1371600" indent="-1371600" algn="ctr"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  <a:tab pos="2743200" algn="ctr"/>
                          <a:tab pos="5486400" algn="r"/>
                        </a:tabLst>
                      </a:pPr>
                      <a:r>
                        <a:rPr lang="en-US" sz="2800" dirty="0">
                          <a:effectLst/>
                        </a:rPr>
                        <a:t>Midterm 1</a:t>
                      </a:r>
                      <a:endParaRPr lang="en-US" sz="2800" dirty="0">
                        <a:effectLst/>
                        <a:latin typeface="Verdana" panose="020B060403050404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371600" indent="-1371600" algn="ctr"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  <a:tab pos="2743200" algn="ctr"/>
                          <a:tab pos="5486400" algn="r"/>
                        </a:tabLst>
                      </a:pPr>
                      <a:r>
                        <a:rPr lang="en-US" sz="2800" dirty="0">
                          <a:effectLst/>
                        </a:rPr>
                        <a:t>100</a:t>
                      </a:r>
                      <a:endParaRPr lang="en-US" sz="2800" dirty="0">
                        <a:effectLst/>
                        <a:latin typeface="Verdana" panose="020B060403050404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791">
                <a:tc>
                  <a:txBody>
                    <a:bodyPr/>
                    <a:lstStyle/>
                    <a:p>
                      <a:pPr marL="1371600" indent="-1371600" algn="ctr"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  <a:tab pos="2743200" algn="ctr"/>
                          <a:tab pos="5486400" algn="r"/>
                        </a:tabLst>
                      </a:pPr>
                      <a:r>
                        <a:rPr lang="en-US" sz="2800" dirty="0">
                          <a:effectLst/>
                        </a:rPr>
                        <a:t>Midterm 2</a:t>
                      </a:r>
                      <a:endParaRPr lang="en-US" sz="2800" dirty="0">
                        <a:effectLst/>
                        <a:latin typeface="Verdana" panose="020B060403050404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371600" indent="-1371600" algn="ctr"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  <a:tab pos="2743200" algn="ctr"/>
                          <a:tab pos="5486400" algn="r"/>
                        </a:tabLst>
                      </a:pPr>
                      <a:r>
                        <a:rPr lang="en-US" sz="2800" dirty="0">
                          <a:effectLst/>
                        </a:rPr>
                        <a:t>100</a:t>
                      </a:r>
                      <a:endParaRPr lang="en-US" sz="2800" dirty="0">
                        <a:effectLst/>
                        <a:latin typeface="Verdana" panose="020B060403050404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4813">
                <a:tc>
                  <a:txBody>
                    <a:bodyPr/>
                    <a:lstStyle/>
                    <a:p>
                      <a:pPr marL="1371600" indent="-1371600" algn="ctr"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  <a:tab pos="2743200" algn="ctr"/>
                          <a:tab pos="5486400" algn="r"/>
                        </a:tabLst>
                      </a:pPr>
                      <a:r>
                        <a:rPr lang="en-US" sz="2800" dirty="0">
                          <a:effectLst/>
                        </a:rPr>
                        <a:t>Final Exam</a:t>
                      </a:r>
                      <a:endParaRPr lang="en-US" sz="2800" dirty="0">
                        <a:effectLst/>
                        <a:latin typeface="Verdana" panose="020B060403050404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371600" indent="-1371600" algn="ctr"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  <a:tab pos="2743200" algn="ctr"/>
                          <a:tab pos="5486400" algn="r"/>
                        </a:tabLst>
                      </a:pPr>
                      <a:r>
                        <a:rPr lang="en-US" sz="2800" dirty="0">
                          <a:effectLst/>
                        </a:rPr>
                        <a:t>150</a:t>
                      </a:r>
                      <a:endParaRPr lang="en-US" sz="2800" dirty="0">
                        <a:effectLst/>
                        <a:latin typeface="Verdana" panose="020B060403050404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9706">
                <a:tc>
                  <a:txBody>
                    <a:bodyPr/>
                    <a:lstStyle/>
                    <a:p>
                      <a:pPr marL="1371600" indent="-1371600" algn="ctr"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  <a:tab pos="2743200" algn="ctr"/>
                          <a:tab pos="5486400" algn="r"/>
                        </a:tabLst>
                      </a:pPr>
                      <a:r>
                        <a:rPr lang="en-US" sz="2800" dirty="0">
                          <a:effectLst/>
                        </a:rPr>
                        <a:t>Total Points Possible</a:t>
                      </a:r>
                      <a:endParaRPr lang="en-US" sz="2800" dirty="0">
                        <a:effectLst/>
                        <a:latin typeface="Verdana" panose="020B060403050404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371600" indent="-1371600" algn="ctr">
                        <a:spcAft>
                          <a:spcPts val="0"/>
                        </a:spcAft>
                        <a:tabLst>
                          <a:tab pos="2743200" algn="ctr"/>
                          <a:tab pos="5486400" algn="r"/>
                          <a:tab pos="457200" algn="l"/>
                          <a:tab pos="2743200" algn="ctr"/>
                          <a:tab pos="5486400" algn="r"/>
                        </a:tabLst>
                      </a:pPr>
                      <a:r>
                        <a:rPr lang="en-US" sz="2800" dirty="0">
                          <a:effectLst/>
                        </a:rPr>
                        <a:t>900</a:t>
                      </a:r>
                      <a:endParaRPr lang="en-US" sz="2800" dirty="0">
                        <a:effectLst/>
                        <a:latin typeface="Verdana" panose="020B060403050404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8741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Chapter 1. Introduction</a:t>
            </a:r>
          </a:p>
          <a:p>
            <a:pPr lvl="1"/>
            <a:r>
              <a:rPr lang="en-US" dirty="0"/>
              <a:t>What is a distributed system?</a:t>
            </a:r>
          </a:p>
          <a:p>
            <a:pPr lvl="2"/>
            <a:r>
              <a:rPr lang="en-US" dirty="0"/>
              <a:t>Characteristics, middleware, …</a:t>
            </a:r>
          </a:p>
          <a:p>
            <a:pPr lvl="1"/>
            <a:r>
              <a:rPr lang="en-US" dirty="0"/>
              <a:t>Design goals</a:t>
            </a:r>
          </a:p>
          <a:p>
            <a:pPr lvl="2"/>
            <a:r>
              <a:rPr lang="en-US" dirty="0"/>
              <a:t>Resource sharing, transparency, openness, scalability</a:t>
            </a:r>
          </a:p>
          <a:p>
            <a:pPr lvl="1"/>
            <a:r>
              <a:rPr lang="en-US" dirty="0"/>
              <a:t>Types of distributed systems</a:t>
            </a:r>
          </a:p>
          <a:p>
            <a:pPr lvl="2"/>
            <a:r>
              <a:rPr lang="en-US" dirty="0"/>
              <a:t>High performance, distributed information, pervasive</a:t>
            </a:r>
          </a:p>
          <a:p>
            <a:r>
              <a:rPr lang="en-US" dirty="0"/>
              <a:t>Chapter 2. Architectures</a:t>
            </a:r>
          </a:p>
          <a:p>
            <a:pPr lvl="1"/>
            <a:r>
              <a:rPr lang="en-US" dirty="0"/>
              <a:t>Architectural styles (software)</a:t>
            </a:r>
          </a:p>
          <a:p>
            <a:pPr lvl="2"/>
            <a:r>
              <a:rPr lang="en-US" dirty="0"/>
              <a:t>Layered, object-oriented, …</a:t>
            </a:r>
          </a:p>
          <a:p>
            <a:pPr lvl="1"/>
            <a:r>
              <a:rPr lang="en-US" dirty="0"/>
              <a:t>Middleware organization</a:t>
            </a:r>
          </a:p>
          <a:p>
            <a:pPr lvl="1"/>
            <a:r>
              <a:rPr lang="en-US" dirty="0"/>
              <a:t>System architecture (hardware)</a:t>
            </a:r>
          </a:p>
          <a:p>
            <a:pPr lvl="2"/>
            <a:r>
              <a:rPr lang="en-US" dirty="0"/>
              <a:t>Centralized (client-server)</a:t>
            </a:r>
          </a:p>
          <a:p>
            <a:pPr lvl="2"/>
            <a:r>
              <a:rPr lang="en-US" dirty="0"/>
              <a:t>Decentralized (peer-to-peer)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640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69576-C2AA-4DE1-84C1-A551F54C0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A6D1B-53F4-446A-AFC1-8D50065C5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3. Processes</a:t>
            </a:r>
          </a:p>
          <a:p>
            <a:pPr lvl="1"/>
            <a:r>
              <a:rPr lang="en-US" dirty="0"/>
              <a:t>Threads</a:t>
            </a:r>
          </a:p>
          <a:p>
            <a:pPr lvl="2"/>
            <a:r>
              <a:rPr lang="en-US" dirty="0"/>
              <a:t>Multithreaded clients</a:t>
            </a:r>
          </a:p>
          <a:p>
            <a:pPr lvl="2"/>
            <a:r>
              <a:rPr lang="en-US" dirty="0"/>
              <a:t>Multithreaded servers</a:t>
            </a:r>
          </a:p>
          <a:p>
            <a:pPr lvl="1"/>
            <a:r>
              <a:rPr lang="en-US" dirty="0"/>
              <a:t>Virtualization</a:t>
            </a:r>
          </a:p>
          <a:p>
            <a:pPr lvl="2"/>
            <a:r>
              <a:rPr lang="en-US" dirty="0"/>
              <a:t>Hide the complexity/diversity of systems by exposing a virtualized interface</a:t>
            </a:r>
          </a:p>
          <a:p>
            <a:pPr lvl="1"/>
            <a:r>
              <a:rPr lang="en-US" dirty="0"/>
              <a:t>Clients/Servers</a:t>
            </a:r>
          </a:p>
          <a:p>
            <a:pPr lvl="2"/>
            <a:r>
              <a:rPr lang="en-US" dirty="0"/>
              <a:t>More details on the design of client/server processes</a:t>
            </a:r>
          </a:p>
        </p:txBody>
      </p:sp>
    </p:spTree>
    <p:extLst>
      <p:ext uri="{BB962C8B-B14F-4D97-AF65-F5344CB8AC3E}">
        <p14:creationId xmlns:p14="http://schemas.microsoft.com/office/powerpoint/2010/main" val="4236290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00C3A-6865-4941-BA4F-6BD508429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28692-0D5A-4F82-A68E-DC252A60E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Chapter 4. Communication</a:t>
            </a:r>
          </a:p>
          <a:p>
            <a:pPr lvl="1"/>
            <a:r>
              <a:rPr lang="en-US" dirty="0"/>
              <a:t>Remote procedure call</a:t>
            </a:r>
          </a:p>
          <a:p>
            <a:pPr lvl="1"/>
            <a:r>
              <a:rPr lang="en-US" dirty="0"/>
              <a:t>Message-oriented communication</a:t>
            </a:r>
          </a:p>
          <a:p>
            <a:pPr lvl="2"/>
            <a:r>
              <a:rPr lang="en-US" dirty="0"/>
              <a:t>Numerous issues on message-based communication</a:t>
            </a:r>
          </a:p>
          <a:p>
            <a:pPr lvl="1"/>
            <a:r>
              <a:rPr lang="en-US" dirty="0"/>
              <a:t>Multicast communication</a:t>
            </a:r>
          </a:p>
          <a:p>
            <a:pPr lvl="2"/>
            <a:r>
              <a:rPr lang="en-US" dirty="0"/>
              <a:t>Tree-based</a:t>
            </a:r>
          </a:p>
          <a:p>
            <a:pPr lvl="2"/>
            <a:r>
              <a:rPr lang="en-US" dirty="0"/>
              <a:t>Flooding-based</a:t>
            </a:r>
          </a:p>
          <a:p>
            <a:pPr lvl="2"/>
            <a:r>
              <a:rPr lang="en-US" dirty="0"/>
              <a:t>Gossip-based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027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CD3A0-25C2-4014-8281-8F1BE8378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B5BE0-B885-468E-9020-833F7D593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/>
              <a:t>Chapter 5. Naming</a:t>
            </a:r>
          </a:p>
          <a:p>
            <a:pPr lvl="1"/>
            <a:r>
              <a:rPr lang="en-US" dirty="0"/>
              <a:t>Basic concepts</a:t>
            </a:r>
          </a:p>
          <a:p>
            <a:pPr lvl="2"/>
            <a:r>
              <a:rPr lang="en-US" dirty="0"/>
              <a:t>To access service, data, etc., we need to give a name to an entity </a:t>
            </a:r>
          </a:p>
          <a:p>
            <a:pPr lvl="1"/>
            <a:r>
              <a:rPr lang="en-US" dirty="0"/>
              <a:t>Flat naming</a:t>
            </a:r>
          </a:p>
          <a:p>
            <a:pPr lvl="2"/>
            <a:r>
              <a:rPr lang="en-US" dirty="0"/>
              <a:t>Unstructured name (i.e. random bit strings)</a:t>
            </a:r>
          </a:p>
          <a:p>
            <a:pPr lvl="1"/>
            <a:r>
              <a:rPr lang="en-US" dirty="0"/>
              <a:t>Structured naming</a:t>
            </a:r>
          </a:p>
          <a:p>
            <a:pPr lvl="2"/>
            <a:r>
              <a:rPr lang="en-US" dirty="0"/>
              <a:t>Simple, human-readable names</a:t>
            </a:r>
          </a:p>
          <a:p>
            <a:pPr lvl="1"/>
            <a:r>
              <a:rPr lang="en-US" dirty="0"/>
              <a:t>Attribute-based naming</a:t>
            </a:r>
          </a:p>
          <a:p>
            <a:pPr lvl="2"/>
            <a:r>
              <a:rPr lang="en-US" dirty="0"/>
              <a:t>A description of an entity in terms of (attribute, value)</a:t>
            </a:r>
          </a:p>
        </p:txBody>
      </p:sp>
    </p:spTree>
    <p:extLst>
      <p:ext uri="{BB962C8B-B14F-4D97-AF65-F5344CB8AC3E}">
        <p14:creationId xmlns:p14="http://schemas.microsoft.com/office/powerpoint/2010/main" val="33604023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3EBD0-F919-41D9-A611-20179633B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155F1-5033-42D8-B688-E219C282A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Chapter 6. Coordination</a:t>
            </a:r>
          </a:p>
          <a:p>
            <a:pPr lvl="1"/>
            <a:r>
              <a:rPr lang="en-US" dirty="0"/>
              <a:t>Clock synchronization</a:t>
            </a:r>
          </a:p>
          <a:p>
            <a:pPr lvl="1"/>
            <a:r>
              <a:rPr lang="en-US" dirty="0"/>
              <a:t>Logical clocks</a:t>
            </a:r>
          </a:p>
          <a:p>
            <a:pPr lvl="2"/>
            <a:r>
              <a:rPr lang="en-US" dirty="0"/>
              <a:t>Order of events rather than the exact time</a:t>
            </a:r>
          </a:p>
          <a:p>
            <a:pPr lvl="1"/>
            <a:r>
              <a:rPr lang="en-US" dirty="0"/>
              <a:t>Mutual exclusion</a:t>
            </a:r>
          </a:p>
          <a:p>
            <a:pPr lvl="2"/>
            <a:r>
              <a:rPr lang="en-US" dirty="0"/>
              <a:t>Coordinate access of processes to resources</a:t>
            </a:r>
          </a:p>
          <a:p>
            <a:pPr lvl="1"/>
            <a:r>
              <a:rPr lang="en-US" dirty="0"/>
              <a:t>Election algorithms</a:t>
            </a:r>
          </a:p>
          <a:p>
            <a:pPr lvl="2"/>
            <a:r>
              <a:rPr lang="en-US" dirty="0"/>
              <a:t>Electing a coordinator</a:t>
            </a:r>
          </a:p>
          <a:p>
            <a:pPr lvl="1"/>
            <a:r>
              <a:rPr lang="en-US" dirty="0"/>
              <a:t>Location algorithms</a:t>
            </a:r>
          </a:p>
          <a:p>
            <a:pPr lvl="2"/>
            <a:r>
              <a:rPr lang="en-US" dirty="0"/>
              <a:t>For a large-scale distributed systems, location information is important</a:t>
            </a:r>
          </a:p>
          <a:p>
            <a:pPr lvl="1"/>
            <a:r>
              <a:rPr lang="en-US" dirty="0"/>
              <a:t>Distributed event-matching algorithms</a:t>
            </a:r>
          </a:p>
          <a:p>
            <a:pPr lvl="2"/>
            <a:r>
              <a:rPr lang="en-US" dirty="0"/>
              <a:t>For publish-subscribe systems, an event should be matched to systems subscribed to the event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009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D3C65-E1F5-4681-A9C9-9E4C5228F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D9106-2393-4BA3-8AD3-FE6D96096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Chapter 7. Consistency and Replication</a:t>
            </a:r>
          </a:p>
          <a:p>
            <a:pPr lvl="1"/>
            <a:r>
              <a:rPr lang="en-US" dirty="0"/>
              <a:t>Replication for enhancing reliability and improving performance</a:t>
            </a:r>
          </a:p>
          <a:p>
            <a:pPr lvl="1"/>
            <a:r>
              <a:rPr lang="en-US" dirty="0"/>
              <a:t>Consistency: when one copy is updated, the others should be updated as well</a:t>
            </a:r>
          </a:p>
          <a:p>
            <a:pPr lvl="2"/>
            <a:r>
              <a:rPr lang="en-US" dirty="0"/>
              <a:t>Data-centric consistency models</a:t>
            </a:r>
          </a:p>
          <a:p>
            <a:pPr lvl="2"/>
            <a:r>
              <a:rPr lang="en-US" dirty="0"/>
              <a:t>Client-centric consistency models</a:t>
            </a:r>
          </a:p>
          <a:p>
            <a:pPr lvl="1"/>
            <a:r>
              <a:rPr lang="en-US" dirty="0"/>
              <a:t>Replica management</a:t>
            </a:r>
          </a:p>
          <a:p>
            <a:pPr lvl="2"/>
            <a:r>
              <a:rPr lang="en-US" dirty="0"/>
              <a:t>Where, when, and by whom replicas should be placed?</a:t>
            </a:r>
          </a:p>
          <a:p>
            <a:pPr lvl="1"/>
            <a:r>
              <a:rPr lang="en-US" dirty="0"/>
              <a:t>Consistency protocols</a:t>
            </a:r>
          </a:p>
          <a:p>
            <a:pPr lvl="2"/>
            <a:r>
              <a:rPr lang="en-US" dirty="0"/>
              <a:t>Actual implementation of consistency models</a:t>
            </a:r>
          </a:p>
        </p:txBody>
      </p:sp>
    </p:spTree>
    <p:extLst>
      <p:ext uri="{BB962C8B-B14F-4D97-AF65-F5344CB8AC3E}">
        <p14:creationId xmlns:p14="http://schemas.microsoft.com/office/powerpoint/2010/main" val="18038895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A084E-FFC2-4FCC-AA56-FAA0B56ED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71FD6-844A-49D6-8B38-B87D4E96A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/>
          <a:lstStyle/>
          <a:p>
            <a:r>
              <a:rPr lang="en-US" dirty="0"/>
              <a:t>Chapter 8. Fault Tolerance</a:t>
            </a:r>
          </a:p>
          <a:p>
            <a:pPr lvl="1"/>
            <a:r>
              <a:rPr lang="en-US" dirty="0"/>
              <a:t>Process resilience</a:t>
            </a:r>
          </a:p>
          <a:p>
            <a:pPr lvl="2"/>
            <a:r>
              <a:rPr lang="en-US" dirty="0"/>
              <a:t>Automatic recovery from failures</a:t>
            </a:r>
          </a:p>
          <a:p>
            <a:pPr lvl="1"/>
            <a:r>
              <a:rPr lang="en-US" dirty="0"/>
              <a:t>Reliable client-server communication</a:t>
            </a:r>
          </a:p>
          <a:p>
            <a:pPr lvl="1"/>
            <a:r>
              <a:rPr lang="en-US" dirty="0"/>
              <a:t>Reliable group (multicast) communication</a:t>
            </a:r>
          </a:p>
          <a:p>
            <a:pPr lvl="1"/>
            <a:r>
              <a:rPr lang="en-US" dirty="0"/>
              <a:t>Distributed commit</a:t>
            </a:r>
          </a:p>
          <a:p>
            <a:pPr lvl="2"/>
            <a:r>
              <a:rPr lang="en-US" dirty="0"/>
              <a:t>A group of processes either jointly commit their local work, or collectively abort.</a:t>
            </a:r>
          </a:p>
          <a:p>
            <a:pPr lvl="1"/>
            <a:r>
              <a:rPr lang="en-US" dirty="0"/>
              <a:t>Recovery</a:t>
            </a:r>
          </a:p>
          <a:p>
            <a:pPr lvl="2"/>
            <a:r>
              <a:rPr lang="en-US" dirty="0"/>
              <a:t>How to recover from failure?</a:t>
            </a:r>
          </a:p>
        </p:txBody>
      </p:sp>
    </p:spTree>
    <p:extLst>
      <p:ext uri="{BB962C8B-B14F-4D97-AF65-F5344CB8AC3E}">
        <p14:creationId xmlns:p14="http://schemas.microsoft.com/office/powerpoint/2010/main" val="3403937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19400"/>
            <a:ext cx="8229600" cy="1143000"/>
          </a:xfrm>
        </p:spPr>
        <p:txBody>
          <a:bodyPr/>
          <a:lstStyle/>
          <a:p>
            <a:r>
              <a:rPr lang="en-US" dirty="0"/>
              <a:t>Good luck!</a:t>
            </a:r>
          </a:p>
        </p:txBody>
      </p:sp>
    </p:spTree>
    <p:extLst>
      <p:ext uri="{BB962C8B-B14F-4D97-AF65-F5344CB8AC3E}">
        <p14:creationId xmlns:p14="http://schemas.microsoft.com/office/powerpoint/2010/main" val="229794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</TotalTime>
  <Words>1010</Words>
  <Application>Microsoft Macintosh PowerPoint</Application>
  <PresentationFormat>On-screen Show (4:3)</PresentationFormat>
  <Paragraphs>171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Helvetica</vt:lpstr>
      <vt:lpstr>Times New Roman</vt:lpstr>
      <vt:lpstr>Verdana</vt:lpstr>
      <vt:lpstr>Office Theme</vt:lpstr>
      <vt:lpstr>COMP7212 Operating/Distributed Systems Introduction</vt:lpstr>
      <vt:lpstr>Instructor</vt:lpstr>
      <vt:lpstr>TA</vt:lpstr>
      <vt:lpstr>Pre-requisites</vt:lpstr>
      <vt:lpstr>Textbook</vt:lpstr>
      <vt:lpstr>Course Policy</vt:lpstr>
      <vt:lpstr>Course Policy</vt:lpstr>
      <vt:lpstr>Course Policy</vt:lpstr>
      <vt:lpstr>Course Goals</vt:lpstr>
      <vt:lpstr>Paper Presentation</vt:lpstr>
      <vt:lpstr>Expected Performance Criteria</vt:lpstr>
      <vt:lpstr>Course Overview</vt:lpstr>
      <vt:lpstr>Course Overview</vt:lpstr>
      <vt:lpstr>Course Overview</vt:lpstr>
      <vt:lpstr>Course Overview</vt:lpstr>
      <vt:lpstr>Course Overview</vt:lpstr>
      <vt:lpstr>Course Overview</vt:lpstr>
      <vt:lpstr>Course Overview</vt:lpstr>
      <vt:lpstr>Good luck!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COSC 3360 Human Computer Interaction Introduction</dc:title>
  <dc:creator>Won, Myounggyu</dc:creator>
  <cp:lastModifiedBy>Myounggyu Won (mwon)</cp:lastModifiedBy>
  <cp:revision>195</cp:revision>
  <dcterms:created xsi:type="dcterms:W3CDTF">2006-08-16T00:00:00Z</dcterms:created>
  <dcterms:modified xsi:type="dcterms:W3CDTF">2026-08-25T18:44:21Z</dcterms:modified>
</cp:coreProperties>
</file>