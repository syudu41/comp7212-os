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77" r:id="rId4"/>
    <p:sldId id="278" r:id="rId5"/>
    <p:sldId id="279" r:id="rId6"/>
    <p:sldId id="316" r:id="rId7"/>
    <p:sldId id="280" r:id="rId8"/>
    <p:sldId id="281" r:id="rId9"/>
    <p:sldId id="282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2" r:id="rId28"/>
    <p:sldId id="303" r:id="rId29"/>
    <p:sldId id="304" r:id="rId30"/>
    <p:sldId id="305" r:id="rId31"/>
    <p:sldId id="306" r:id="rId32"/>
    <p:sldId id="307" r:id="rId33"/>
    <p:sldId id="308" r:id="rId34"/>
    <p:sldId id="309" r:id="rId35"/>
    <p:sldId id="311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 autoAdjust="0"/>
    <p:restoredTop sz="94444" autoAdjust="0"/>
  </p:normalViewPr>
  <p:slideViewPr>
    <p:cSldViewPr>
      <p:cViewPr varScale="1">
        <p:scale>
          <a:sx n="120" d="100"/>
          <a:sy n="120" d="100"/>
        </p:scale>
        <p:origin x="119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6019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499AA4-461E-492B-AC5F-BC73CAE80FB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BFEC2-D1D9-4572-96CC-11D7F7296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75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BFEC2-D1D9-4572-96CC-11D7F7296F3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167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59DAD-7459-81F9-5DC5-111EC38EA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DD2842-DB41-AD44-C053-D06D884042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41DEF6-DBB9-C882-10EC-3EC291192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7DAAD-38AB-2E1D-D5B5-77A4C4E2AC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BFEC2-D1D9-4572-96CC-11D7F7296F3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9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BFEC2-D1D9-4572-96CC-11D7F7296F3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472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14300" y="2133600"/>
            <a:ext cx="93726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COMP 7212: Operating/Distributed Systems</a:t>
            </a:r>
            <a:br>
              <a:rPr lang="en-US" dirty="0"/>
            </a:br>
            <a:r>
              <a:rPr lang="en-US" dirty="0"/>
              <a:t>Chapter 6: Coordination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9144000" cy="1752600"/>
          </a:xfrm>
        </p:spPr>
        <p:txBody>
          <a:bodyPr>
            <a:normAutofit/>
          </a:bodyPr>
          <a:lstStyle/>
          <a:p>
            <a:r>
              <a:rPr lang="en-US" dirty="0"/>
              <a:t>Dr. Myounggyu Won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776C6-D20E-45D7-81C1-CB6AEE533F90}"/>
              </a:ext>
            </a:extLst>
          </p:cNvPr>
          <p:cNvSpPr txBox="1"/>
          <p:nvPr/>
        </p:nvSpPr>
        <p:spPr>
          <a:xfrm>
            <a:off x="0" y="6450568"/>
            <a:ext cx="669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Reference: Distributed Systems: Principles and Paradigms (3</a:t>
            </a:r>
            <a:r>
              <a:rPr lang="en-US" baseline="30000" dirty="0"/>
              <a:t>rd</a:t>
            </a:r>
            <a:r>
              <a:rPr lang="en-US" dirty="0"/>
              <a:t> Edition)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255887-2764-45AA-BA9E-B6E050746B34}"/>
              </a:ext>
            </a:extLst>
          </p:cNvPr>
          <p:cNvSpPr txBox="1"/>
          <p:nvPr/>
        </p:nvSpPr>
        <p:spPr>
          <a:xfrm>
            <a:off x="-36098" y="4577834"/>
            <a:ext cx="9329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“In this chapter, we concentrate on how processes synchronize and coordinate with one another.”</a:t>
            </a:r>
          </a:p>
        </p:txBody>
      </p:sp>
    </p:spTree>
    <p:extLst>
      <p:ext uri="{BB962C8B-B14F-4D97-AF65-F5344CB8AC3E}">
        <p14:creationId xmlns:p14="http://schemas.microsoft.com/office/powerpoint/2010/main" val="540042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5CDCB-6CD2-4E75-AB6F-9BEB229B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7EEAC-1689-4FCA-B75D-F8413C4A9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5626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Clock synchronization</a:t>
            </a:r>
          </a:p>
          <a:p>
            <a:pPr lvl="1"/>
            <a:r>
              <a:rPr lang="en-US" dirty="0"/>
              <a:t>Physical clocks</a:t>
            </a:r>
          </a:p>
          <a:p>
            <a:pPr lvl="1"/>
            <a:r>
              <a:rPr lang="en-US" dirty="0"/>
              <a:t>Clock synchronization algorithms</a:t>
            </a:r>
          </a:p>
          <a:p>
            <a:r>
              <a:rPr lang="en-US" dirty="0"/>
              <a:t>Logical clocks</a:t>
            </a:r>
          </a:p>
          <a:p>
            <a:pPr lvl="1"/>
            <a:r>
              <a:rPr lang="en-US" dirty="0" err="1"/>
              <a:t>Lamport’s</a:t>
            </a:r>
            <a:r>
              <a:rPr lang="en-US" dirty="0"/>
              <a:t> logical clocks</a:t>
            </a:r>
          </a:p>
          <a:p>
            <a:pPr lvl="1"/>
            <a:r>
              <a:rPr lang="en-US" dirty="0"/>
              <a:t>Vector clocks</a:t>
            </a:r>
          </a:p>
          <a:p>
            <a:r>
              <a:rPr lang="en-US" dirty="0"/>
              <a:t>Mutual exclusion</a:t>
            </a:r>
          </a:p>
          <a:p>
            <a:pPr lvl="1"/>
            <a:r>
              <a:rPr lang="en-US" dirty="0"/>
              <a:t>Overview</a:t>
            </a:r>
          </a:p>
          <a:p>
            <a:pPr lvl="1"/>
            <a:r>
              <a:rPr lang="en-US" dirty="0"/>
              <a:t>A centralized algorithm</a:t>
            </a:r>
          </a:p>
          <a:p>
            <a:pPr lvl="1"/>
            <a:r>
              <a:rPr lang="en-US" dirty="0"/>
              <a:t>A distributed algorithm</a:t>
            </a:r>
          </a:p>
          <a:p>
            <a:pPr lvl="1"/>
            <a:r>
              <a:rPr lang="en-US" dirty="0"/>
              <a:t>A token-ring algorithm</a:t>
            </a:r>
          </a:p>
          <a:p>
            <a:pPr lvl="1"/>
            <a:r>
              <a:rPr lang="en-US" dirty="0"/>
              <a:t>A decentralized algorithm</a:t>
            </a:r>
          </a:p>
          <a:p>
            <a:r>
              <a:rPr lang="en-US" dirty="0"/>
              <a:t>Election algorithms</a:t>
            </a:r>
          </a:p>
          <a:p>
            <a:pPr lvl="1"/>
            <a:r>
              <a:rPr lang="en-US" dirty="0"/>
              <a:t>The bully algorithm</a:t>
            </a:r>
          </a:p>
          <a:p>
            <a:pPr lvl="1"/>
            <a:r>
              <a:rPr lang="en-US" dirty="0"/>
              <a:t>A ring algorithm</a:t>
            </a:r>
          </a:p>
          <a:p>
            <a:pPr lvl="1"/>
            <a:r>
              <a:rPr lang="en-US" dirty="0"/>
              <a:t>Elections in wireless environments</a:t>
            </a:r>
          </a:p>
          <a:p>
            <a:r>
              <a:rPr lang="en-US" dirty="0"/>
              <a:t>Location systems</a:t>
            </a:r>
          </a:p>
          <a:p>
            <a:pPr lvl="1"/>
            <a:r>
              <a:rPr lang="en-US" dirty="0"/>
              <a:t>GPS</a:t>
            </a:r>
          </a:p>
        </p:txBody>
      </p:sp>
    </p:spTree>
    <p:extLst>
      <p:ext uri="{BB962C8B-B14F-4D97-AF65-F5344CB8AC3E}">
        <p14:creationId xmlns:p14="http://schemas.microsoft.com/office/powerpoint/2010/main" val="897047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D5A6-C76A-4E73-BF12-17B03D26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Clock Synchronization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270A17-B33B-4EAC-B3E6-AC3594F5E231}"/>
              </a:ext>
            </a:extLst>
          </p:cNvPr>
          <p:cNvSpPr txBox="1"/>
          <p:nvPr/>
        </p:nvSpPr>
        <p:spPr>
          <a:xfrm>
            <a:off x="2743200" y="4000500"/>
            <a:ext cx="3788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“How to achieve agreement on time?”</a:t>
            </a:r>
          </a:p>
        </p:txBody>
      </p:sp>
    </p:spTree>
    <p:extLst>
      <p:ext uri="{BB962C8B-B14F-4D97-AF65-F5344CB8AC3E}">
        <p14:creationId xmlns:p14="http://schemas.microsoft.com/office/powerpoint/2010/main" val="2963778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A6EBC-3FBE-4D5E-9CB8-0C9571B95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Clocks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23048-F572-4FEE-8222-9C176505E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computer system has a </a:t>
            </a:r>
            <a:r>
              <a:rPr lang="en-US" dirty="0">
                <a:solidFill>
                  <a:srgbClr val="0070C0"/>
                </a:solidFill>
              </a:rPr>
              <a:t>clock/timer </a:t>
            </a:r>
            <a:r>
              <a:rPr lang="en-US" dirty="0"/>
              <a:t>used to keep track of time.</a:t>
            </a:r>
          </a:p>
          <a:p>
            <a:r>
              <a:rPr lang="en-US" dirty="0"/>
              <a:t>In a single computer system, it does not matter much if the clock is off by a small amount since all processes are on the same machine.</a:t>
            </a:r>
          </a:p>
          <a:p>
            <a:r>
              <a:rPr lang="en-US" dirty="0"/>
              <a:t>As soon as multiple CPUs (</a:t>
            </a:r>
            <a:r>
              <a:rPr lang="en-US" i="1" dirty="0"/>
              <a:t>i.e.</a:t>
            </a:r>
            <a:r>
              <a:rPr lang="en-US" dirty="0"/>
              <a:t>, multiple nodes) are introduced with its own clock, the situation is different.</a:t>
            </a:r>
          </a:p>
          <a:p>
            <a:pPr lvl="1"/>
            <a:r>
              <a:rPr lang="en-US" dirty="0"/>
              <a:t>Each node’s notion of time may differ from the ground-truth clock value.</a:t>
            </a:r>
          </a:p>
          <a:p>
            <a:pPr lvl="1"/>
            <a:r>
              <a:rPr lang="en-US" dirty="0"/>
              <a:t>This difference in time is called </a:t>
            </a:r>
            <a:r>
              <a:rPr lang="en-US" dirty="0">
                <a:solidFill>
                  <a:srgbClr val="0070C0"/>
                </a:solidFill>
              </a:rPr>
              <a:t>clock skew.</a:t>
            </a:r>
          </a:p>
          <a:p>
            <a:r>
              <a:rPr lang="en-US" dirty="0"/>
              <a:t>Challenges </a:t>
            </a:r>
          </a:p>
          <a:p>
            <a:pPr lvl="1"/>
            <a:r>
              <a:rPr lang="en-US" dirty="0"/>
              <a:t>How do we </a:t>
            </a:r>
            <a:r>
              <a:rPr lang="en-US" dirty="0">
                <a:solidFill>
                  <a:srgbClr val="0070C0"/>
                </a:solidFill>
              </a:rPr>
              <a:t>synchronize with the real-world clock (ground-truth clock value)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How do we </a:t>
            </a:r>
            <a:r>
              <a:rPr lang="en-US" dirty="0">
                <a:solidFill>
                  <a:srgbClr val="0070C0"/>
                </a:solidFill>
              </a:rPr>
              <a:t>synchronize the clocks with each other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59147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BA86F-60B7-4F7F-A98A-90F8926BA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340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Clock Synchronization Algorithms (1/7)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A935E-2F15-4B4B-90C0-428452ABC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486400"/>
          </a:xfrm>
        </p:spPr>
        <p:txBody>
          <a:bodyPr>
            <a:normAutofit/>
          </a:bodyPr>
          <a:lstStyle/>
          <a:p>
            <a:r>
              <a:rPr lang="en-US" sz="2400" dirty="0"/>
              <a:t>If one node has a </a:t>
            </a:r>
            <a:r>
              <a:rPr lang="en-US" sz="2400" dirty="0">
                <a:solidFill>
                  <a:srgbClr val="0070C0"/>
                </a:solidFill>
              </a:rPr>
              <a:t>Universal Coordinated Time (UTC) receiver</a:t>
            </a:r>
            <a:r>
              <a:rPr lang="en-US" sz="2400" dirty="0"/>
              <a:t> (</a:t>
            </a:r>
            <a:r>
              <a:rPr lang="en-US" sz="2400" i="1" dirty="0"/>
              <a:t>i.e., </a:t>
            </a:r>
            <a:r>
              <a:rPr lang="en-US" sz="2400" dirty="0"/>
              <a:t>synchronized with </a:t>
            </a:r>
            <a:r>
              <a:rPr lang="en-US" sz="2400" dirty="0">
                <a:solidFill>
                  <a:srgbClr val="0070C0"/>
                </a:solidFill>
              </a:rPr>
              <a:t>the real-world clock</a:t>
            </a:r>
            <a:r>
              <a:rPr lang="en-US" sz="2400" dirty="0"/>
              <a:t>), the goal is to keep all the other nodes synchronized to it.</a:t>
            </a:r>
          </a:p>
          <a:p>
            <a:r>
              <a:rPr lang="en-US" sz="2400" dirty="0"/>
              <a:t>Let </a:t>
            </a:r>
            <a:r>
              <a:rPr lang="en-US" sz="2400" i="1" dirty="0"/>
              <a:t>C</a:t>
            </a:r>
            <a:r>
              <a:rPr lang="en-US" sz="2400" i="1" baseline="-25000" dirty="0"/>
              <a:t>p</a:t>
            </a:r>
            <a:r>
              <a:rPr lang="en-US" sz="2400" i="1" dirty="0"/>
              <a:t>(t)</a:t>
            </a:r>
            <a:r>
              <a:rPr lang="en-US" sz="2400" dirty="0"/>
              <a:t> denote the clock value of node </a:t>
            </a:r>
            <a:r>
              <a:rPr lang="en-US" sz="2400" i="1" dirty="0"/>
              <a:t>p</a:t>
            </a:r>
            <a:r>
              <a:rPr lang="en-US" sz="2400" dirty="0"/>
              <a:t> at the UTC time </a:t>
            </a:r>
            <a:r>
              <a:rPr lang="en-US" sz="2400" i="1" dirty="0"/>
              <a:t>t</a:t>
            </a:r>
            <a:r>
              <a:rPr lang="en-US" sz="2400" dirty="0"/>
              <a:t>; the goal is to keep the deviation between any two nodes, called </a:t>
            </a:r>
            <a:r>
              <a:rPr lang="en-US" sz="2400" dirty="0">
                <a:solidFill>
                  <a:srgbClr val="0070C0"/>
                </a:solidFill>
              </a:rPr>
              <a:t>precision</a:t>
            </a:r>
            <a:r>
              <a:rPr lang="en-US" sz="2400" dirty="0"/>
              <a:t>, within a specific bound, </a:t>
            </a:r>
            <a:r>
              <a:rPr lang="el-GR" sz="2400" i="1" dirty="0"/>
              <a:t>π</a:t>
            </a:r>
            <a:endParaRPr lang="en-US" sz="2400" i="1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 </a:t>
            </a:r>
            <a:r>
              <a:rPr lang="en-US" sz="2400" dirty="0">
                <a:solidFill>
                  <a:srgbClr val="0070C0"/>
                </a:solidFill>
              </a:rPr>
              <a:t>accuracy</a:t>
            </a:r>
            <a:r>
              <a:rPr lang="en-US" sz="2400" dirty="0"/>
              <a:t> is the difference between the clock value of node </a:t>
            </a:r>
            <a:r>
              <a:rPr lang="en-US" sz="2400" i="1" dirty="0"/>
              <a:t>p</a:t>
            </a:r>
            <a:r>
              <a:rPr lang="en-US" sz="2400" dirty="0"/>
              <a:t> and the external reference point (</a:t>
            </a:r>
            <a:r>
              <a:rPr lang="en-US" sz="2400" i="1" dirty="0"/>
              <a:t>e.g.,</a:t>
            </a:r>
            <a:r>
              <a:rPr lang="en-US" sz="2400" dirty="0"/>
              <a:t> UTC); the goal is to keep the accuracy bound to a value </a:t>
            </a:r>
            <a:r>
              <a:rPr lang="el-GR" sz="2400" i="1" dirty="0"/>
              <a:t>α</a:t>
            </a:r>
            <a:endParaRPr lang="en-US" sz="2400" i="1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Picture 4" descr="A picture containing whiteboard&#10;&#10;Description automatically generated">
            <a:extLst>
              <a:ext uri="{FF2B5EF4-FFF2-40B4-BE49-F238E27FC236}">
                <a16:creationId xmlns:a16="http://schemas.microsoft.com/office/drawing/2014/main" id="{CE6ADB3A-45FD-4332-9A47-BE0BFDA9A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817620"/>
            <a:ext cx="4267200" cy="594360"/>
          </a:xfrm>
          <a:prstGeom prst="rect">
            <a:avLst/>
          </a:prstGeom>
        </p:spPr>
      </p:pic>
      <p:pic>
        <p:nvPicPr>
          <p:cNvPr id="7" name="Picture 6" descr="Text&#10;&#10;Description automatically generated with medium confidence">
            <a:extLst>
              <a:ext uri="{FF2B5EF4-FFF2-40B4-BE49-F238E27FC236}">
                <a16:creationId xmlns:a16="http://schemas.microsoft.com/office/drawing/2014/main" id="{70A1CE78-2F3F-4389-90A7-8567BBC86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0" y="5943600"/>
            <a:ext cx="3276600" cy="61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816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3D0B4-7ACE-CD85-3CDF-1E80B7863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E90E4-DA53-C094-F7BB-ADCE37FCD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Clock Synchronization Algorithms (2/7)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FB552-002F-65E3-109C-F021C30D2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53280"/>
            <a:ext cx="8229600" cy="6004720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US" sz="2400" dirty="0"/>
              <a:t>The frequency of hardware clocks is affected by external sources such as temperature, noise, interference, and voltage fluctuations, </a:t>
            </a:r>
            <a:r>
              <a:rPr lang="en-US" sz="2400" i="1" dirty="0"/>
              <a:t>etc.</a:t>
            </a:r>
            <a:r>
              <a:rPr lang="en-US" sz="2400" dirty="0"/>
              <a:t> </a:t>
            </a:r>
          </a:p>
          <a:p>
            <a:r>
              <a:rPr lang="en-US" sz="2400" dirty="0"/>
              <a:t>The clock value gradually becomes different from the UTC time. </a:t>
            </a:r>
          </a:p>
          <a:p>
            <a:r>
              <a:rPr lang="en-US" sz="2400" dirty="0"/>
              <a:t>The </a:t>
            </a:r>
            <a:r>
              <a:rPr lang="en-US" sz="2400" b="1" u="sng" dirty="0"/>
              <a:t>difference per unit time</a:t>
            </a:r>
            <a:r>
              <a:rPr lang="en-US" sz="2400" b="1" dirty="0"/>
              <a:t> </a:t>
            </a:r>
            <a:r>
              <a:rPr lang="en-US" sz="2400" dirty="0"/>
              <a:t>from the UTC time is called the </a:t>
            </a:r>
            <a:r>
              <a:rPr lang="en-US" sz="2400" dirty="0">
                <a:solidFill>
                  <a:srgbClr val="0070C0"/>
                </a:solidFill>
              </a:rPr>
              <a:t>clock drift rate</a:t>
            </a:r>
          </a:p>
        </p:txBody>
      </p:sp>
    </p:spTree>
    <p:extLst>
      <p:ext uri="{BB962C8B-B14F-4D97-AF65-F5344CB8AC3E}">
        <p14:creationId xmlns:p14="http://schemas.microsoft.com/office/powerpoint/2010/main" val="2899749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0A503-E60A-49B6-A933-C81A2D3D2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Clock Synchronization Algorithms (3/7)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49D02-6393-40C4-9217-C209B82E2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91380"/>
            <a:ext cx="8229600" cy="5539582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Network time protocol (NTP)</a:t>
            </a:r>
          </a:p>
          <a:p>
            <a:pPr lvl="1"/>
            <a:r>
              <a:rPr lang="en-US" sz="1600" dirty="0"/>
              <a:t>The idea is to let clients contact a </a:t>
            </a:r>
            <a:r>
              <a:rPr lang="en-US" sz="1600" b="1" dirty="0">
                <a:solidFill>
                  <a:srgbClr val="0070C0"/>
                </a:solidFill>
              </a:rPr>
              <a:t>time server </a:t>
            </a:r>
            <a:r>
              <a:rPr lang="en-US" sz="1600" dirty="0"/>
              <a:t>and synchronize with the time of the time server</a:t>
            </a:r>
          </a:p>
          <a:p>
            <a:pPr lvl="1"/>
            <a:r>
              <a:rPr lang="en-US" sz="1600" dirty="0"/>
              <a:t>A problem is the </a:t>
            </a:r>
            <a:r>
              <a:rPr lang="en-US" sz="1600" dirty="0">
                <a:solidFill>
                  <a:srgbClr val="C00000"/>
                </a:solidFill>
              </a:rPr>
              <a:t>message delay </a:t>
            </a:r>
            <a:r>
              <a:rPr lang="en-US" sz="1600" dirty="0"/>
              <a:t>that will outdate the reported time</a:t>
            </a:r>
          </a:p>
          <a:p>
            <a:pPr lvl="1"/>
            <a:r>
              <a:rPr lang="en-US" sz="1600" dirty="0"/>
              <a:t>A trick is to estimate these delays and incorporate them in calculating the time difference between the client and the server.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The estimated offset relative to B (time difference between A and B) is: 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</p:txBody>
      </p:sp>
      <p:pic>
        <p:nvPicPr>
          <p:cNvPr id="5" name="Picture 4" descr="Chart, rectangle&#10;&#10;Description automatically generated">
            <a:extLst>
              <a:ext uri="{FF2B5EF4-FFF2-40B4-BE49-F238E27FC236}">
                <a16:creationId xmlns:a16="http://schemas.microsoft.com/office/drawing/2014/main" id="{67820031-A112-423C-A9AB-DDF303F54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625012"/>
            <a:ext cx="3352800" cy="16079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C0F105-896E-4FF9-86E0-4701494AE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5715000"/>
            <a:ext cx="7162800" cy="72148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4D8154E-AF2A-4535-8A1B-A8704564B48B}"/>
              </a:ext>
            </a:extLst>
          </p:cNvPr>
          <p:cNvSpPr/>
          <p:nvPr/>
        </p:nvSpPr>
        <p:spPr>
          <a:xfrm>
            <a:off x="2133600" y="5638800"/>
            <a:ext cx="2438400" cy="5334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2E8CE0-0A96-417F-970B-090E5FFABE1C}"/>
              </a:ext>
            </a:extLst>
          </p:cNvPr>
          <p:cNvSpPr txBox="1"/>
          <p:nvPr/>
        </p:nvSpPr>
        <p:spPr>
          <a:xfrm>
            <a:off x="990600" y="6495255"/>
            <a:ext cx="2047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(T4 – T1) – (T3 – T2)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494BDB0-4398-4D48-B1A0-C593DE0BFBA9}"/>
              </a:ext>
            </a:extLst>
          </p:cNvPr>
          <p:cNvCxnSpPr>
            <a:cxnSpLocks/>
          </p:cNvCxnSpPr>
          <p:nvPr/>
        </p:nvCxnSpPr>
        <p:spPr>
          <a:xfrm flipV="1">
            <a:off x="2362200" y="6191860"/>
            <a:ext cx="228600" cy="361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06B12A0-70DC-4A65-8885-9BF4DEDE0528}"/>
              </a:ext>
            </a:extLst>
          </p:cNvPr>
          <p:cNvSpPr/>
          <p:nvPr/>
        </p:nvSpPr>
        <p:spPr>
          <a:xfrm>
            <a:off x="2019300" y="5545902"/>
            <a:ext cx="2705100" cy="89057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B0AF14-7082-45E5-9943-9E7F00EF7C76}"/>
              </a:ext>
            </a:extLst>
          </p:cNvPr>
          <p:cNvSpPr txBox="1"/>
          <p:nvPr/>
        </p:nvSpPr>
        <p:spPr>
          <a:xfrm>
            <a:off x="3380855" y="6505366"/>
            <a:ext cx="352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Propagation delay between A and B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B9C6E59-E986-4277-9BD3-52FA2F8084C4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4724400" y="6372530"/>
            <a:ext cx="419887" cy="132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DB226BB-2E31-4C5B-B7DB-21ED5815EF7A}"/>
              </a:ext>
            </a:extLst>
          </p:cNvPr>
          <p:cNvCxnSpPr>
            <a:cxnSpLocks/>
          </p:cNvCxnSpPr>
          <p:nvPr/>
        </p:nvCxnSpPr>
        <p:spPr>
          <a:xfrm flipH="1" flipV="1">
            <a:off x="1599413" y="5296209"/>
            <a:ext cx="787" cy="555498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C771467-B63B-4242-98B8-C8191C21AB5B}"/>
              </a:ext>
            </a:extLst>
          </p:cNvPr>
          <p:cNvCxnSpPr>
            <a:cxnSpLocks/>
          </p:cNvCxnSpPr>
          <p:nvPr/>
        </p:nvCxnSpPr>
        <p:spPr>
          <a:xfrm flipH="1" flipV="1">
            <a:off x="5001662" y="5299634"/>
            <a:ext cx="787" cy="555498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2F6880E-4051-4994-9444-B8480CCFBCC1}"/>
              </a:ext>
            </a:extLst>
          </p:cNvPr>
          <p:cNvCxnSpPr>
            <a:cxnSpLocks/>
          </p:cNvCxnSpPr>
          <p:nvPr/>
        </p:nvCxnSpPr>
        <p:spPr>
          <a:xfrm flipH="1" flipV="1">
            <a:off x="1610026" y="5287083"/>
            <a:ext cx="3391636" cy="9549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A48689B-06E8-4FAE-8623-54C51A66B200}"/>
              </a:ext>
            </a:extLst>
          </p:cNvPr>
          <p:cNvSpPr txBox="1"/>
          <p:nvPr/>
        </p:nvSpPr>
        <p:spPr>
          <a:xfrm>
            <a:off x="264432" y="4782778"/>
            <a:ext cx="4500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 difference without considering the delay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CEBF291-D297-4B8E-8DD0-4A020ECA2639}"/>
              </a:ext>
            </a:extLst>
          </p:cNvPr>
          <p:cNvCxnSpPr>
            <a:cxnSpLocks/>
          </p:cNvCxnSpPr>
          <p:nvPr/>
        </p:nvCxnSpPr>
        <p:spPr>
          <a:xfrm>
            <a:off x="2286000" y="5105400"/>
            <a:ext cx="181644" cy="201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68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8ACB6-1B9C-4C6F-AD73-43584B55B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Clock Synchronization Algorithms (4/7)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57D83-D16F-4D3D-9317-D80F172D8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Network time protocol </a:t>
            </a:r>
            <a:r>
              <a:rPr lang="en-US" sz="2800" i="1" dirty="0"/>
              <a:t>cont.</a:t>
            </a:r>
          </a:p>
          <a:p>
            <a:pPr lvl="1"/>
            <a:r>
              <a:rPr lang="en-US" sz="2400" dirty="0"/>
              <a:t>In NTP, the offset </a:t>
            </a:r>
            <a:r>
              <a:rPr lang="en-US" sz="2400" i="1" dirty="0"/>
              <a:t>θ</a:t>
            </a:r>
            <a:r>
              <a:rPr lang="en-US" sz="2400" dirty="0"/>
              <a:t> is computed along with the estimated delay </a:t>
            </a:r>
            <a:r>
              <a:rPr lang="el-GR" sz="2400" i="1" dirty="0"/>
              <a:t>δ</a:t>
            </a:r>
            <a:r>
              <a:rPr lang="en-US" sz="2400" dirty="0"/>
              <a:t>: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Eight pair of </a:t>
            </a:r>
            <a:r>
              <a:rPr lang="en-US" sz="2400" i="1" dirty="0"/>
              <a:t>(θ, </a:t>
            </a:r>
            <a:r>
              <a:rPr lang="el-GR" sz="2400" i="1" dirty="0"/>
              <a:t>δ</a:t>
            </a:r>
            <a:r>
              <a:rPr lang="en-US" sz="2400" i="1" dirty="0"/>
              <a:t>) </a:t>
            </a:r>
            <a:r>
              <a:rPr lang="en-US" sz="2400" dirty="0"/>
              <a:t>are buffered.</a:t>
            </a:r>
          </a:p>
          <a:p>
            <a:pPr lvl="1"/>
            <a:r>
              <a:rPr lang="en-US" sz="2400" b="1" dirty="0"/>
              <a:t>The offset </a:t>
            </a:r>
            <a:r>
              <a:rPr lang="en-US" sz="2400" b="1" i="1" dirty="0"/>
              <a:t>θ</a:t>
            </a:r>
            <a:r>
              <a:rPr lang="en-US" sz="2400" b="1" dirty="0"/>
              <a:t> associated with the smallest </a:t>
            </a:r>
            <a:r>
              <a:rPr lang="el-GR" sz="2400" b="1" i="1" dirty="0"/>
              <a:t>δ</a:t>
            </a:r>
            <a:r>
              <a:rPr lang="en-US" sz="2400" b="1" dirty="0"/>
              <a:t> is selected as the best estimation.</a:t>
            </a:r>
          </a:p>
          <a:p>
            <a:pPr lvl="1"/>
            <a:r>
              <a:rPr lang="en-US" sz="2400" dirty="0"/>
              <a:t>To prevent adjusting a clock known to be accurate, NTP divides servers into different categories.</a:t>
            </a:r>
          </a:p>
          <a:p>
            <a:pPr lvl="2"/>
            <a:r>
              <a:rPr lang="en-US" sz="2000" dirty="0"/>
              <a:t>For example, the server with a </a:t>
            </a:r>
            <a:r>
              <a:rPr lang="en-US" sz="2000" dirty="0">
                <a:solidFill>
                  <a:srgbClr val="0070C0"/>
                </a:solidFill>
              </a:rPr>
              <a:t>reference clock </a:t>
            </a:r>
            <a:r>
              <a:rPr lang="en-US" sz="2000" dirty="0"/>
              <a:t>such as a UTC receiver is a </a:t>
            </a:r>
            <a:r>
              <a:rPr lang="en-US" sz="2000" dirty="0">
                <a:solidFill>
                  <a:srgbClr val="0070C0"/>
                </a:solidFill>
              </a:rPr>
              <a:t>stratum-1 server</a:t>
            </a:r>
            <a:r>
              <a:rPr lang="en-US" sz="2000" dirty="0"/>
              <a:t>. (lowest stratum level = highest accuracy)</a:t>
            </a:r>
          </a:p>
          <a:p>
            <a:pPr lvl="2"/>
            <a:r>
              <a:rPr lang="en-US" sz="2000" dirty="0"/>
              <a:t>When A contacts B, it will adjust its clock only if its stratum level is higher than that of B.</a:t>
            </a:r>
          </a:p>
          <a:p>
            <a:pPr lvl="2"/>
            <a:r>
              <a:rPr lang="en-US" sz="2000" dirty="0"/>
              <a:t>Moreover, after synchronization, A’s stratum level will become one higher than that of B.</a:t>
            </a:r>
          </a:p>
        </p:txBody>
      </p:sp>
      <p:pic>
        <p:nvPicPr>
          <p:cNvPr id="7" name="Picture 6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B54B6B4C-AF10-4F31-AE77-2C9DD03FE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2362200"/>
            <a:ext cx="2971800" cy="65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785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AC600-2EC5-40F4-98A9-212956A3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Clock Synchronization Algorithms (5/7)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F4FB1-547D-4691-9156-21BC241E2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Berkeley algorithm</a:t>
            </a:r>
          </a:p>
          <a:p>
            <a:pPr lvl="1"/>
            <a:r>
              <a:rPr lang="en-US" dirty="0"/>
              <a:t>In many clock synchronization algorithms, the time server is </a:t>
            </a:r>
            <a:r>
              <a:rPr lang="en-US" dirty="0">
                <a:solidFill>
                  <a:srgbClr val="C00000"/>
                </a:solidFill>
              </a:rPr>
              <a:t>passive</a:t>
            </a:r>
            <a:r>
              <a:rPr lang="en-US" dirty="0"/>
              <a:t> (simply responds to queries).</a:t>
            </a:r>
          </a:p>
          <a:p>
            <a:pPr lvl="1"/>
            <a:r>
              <a:rPr lang="en-US" dirty="0"/>
              <a:t>In the Berkeley algorithm, the time server is </a:t>
            </a:r>
            <a:r>
              <a:rPr lang="en-US" dirty="0">
                <a:solidFill>
                  <a:srgbClr val="0070C0"/>
                </a:solidFill>
              </a:rPr>
              <a:t>active</a:t>
            </a:r>
            <a:r>
              <a:rPr lang="en-US" dirty="0"/>
              <a:t>, polling every machine from time to time to ask what time it is there.</a:t>
            </a:r>
          </a:p>
          <a:p>
            <a:pPr lvl="1"/>
            <a:r>
              <a:rPr lang="en-US" dirty="0"/>
              <a:t>An average time is computed; based on that, asks other machines to advance their clocks or slow their clocks</a:t>
            </a:r>
          </a:p>
          <a:p>
            <a:pPr lvl="1"/>
            <a:r>
              <a:rPr lang="en-US" dirty="0"/>
              <a:t>This algorithm is </a:t>
            </a:r>
            <a:r>
              <a:rPr lang="en-US" b="1" dirty="0"/>
              <a:t>suitable for a system in which no machine has a UTC receiver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Since we do not have the UTC time, we use the average instead.</a:t>
            </a:r>
          </a:p>
        </p:txBody>
      </p:sp>
    </p:spTree>
    <p:extLst>
      <p:ext uri="{BB962C8B-B14F-4D97-AF65-F5344CB8AC3E}">
        <p14:creationId xmlns:p14="http://schemas.microsoft.com/office/powerpoint/2010/main" val="1770194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22A6E-DB77-4C4A-9E76-277A85255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Clock Synchronization Algorithms (6/7)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C0AD6-0C6F-4BC9-BE96-B977D2DF2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dirty="0"/>
              <a:t>Clock synchronization in </a:t>
            </a:r>
            <a:r>
              <a:rPr lang="en-US" dirty="0">
                <a:solidFill>
                  <a:srgbClr val="0070C0"/>
                </a:solidFill>
              </a:rPr>
              <a:t>wireless networks</a:t>
            </a:r>
          </a:p>
          <a:p>
            <a:pPr lvl="1"/>
            <a:r>
              <a:rPr lang="en-US" dirty="0"/>
              <a:t>In traditional distributed systems, most machines can contact each other. </a:t>
            </a:r>
          </a:p>
          <a:p>
            <a:pPr lvl="1"/>
            <a:r>
              <a:rPr lang="en-US" dirty="0"/>
              <a:t>This assumption is no longer valid in wireless networks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Reference broadcast synchronization (RBS)</a:t>
            </a:r>
          </a:p>
          <a:p>
            <a:pPr lvl="2"/>
            <a:r>
              <a:rPr lang="en-US" dirty="0"/>
              <a:t>There</a:t>
            </a:r>
            <a:r>
              <a:rPr lang="ko-KR" altLang="en-US" dirty="0"/>
              <a:t> </a:t>
            </a:r>
            <a:r>
              <a:rPr lang="en-US" altLang="ko-KR" dirty="0"/>
              <a:t>is</a:t>
            </a:r>
            <a:r>
              <a:rPr lang="ko-KR" altLang="en-US" dirty="0"/>
              <a:t> </a:t>
            </a:r>
            <a:r>
              <a:rPr lang="en-US" altLang="ko-KR" dirty="0"/>
              <a:t>no</a:t>
            </a:r>
            <a:r>
              <a:rPr lang="ko-KR" altLang="en-US" dirty="0"/>
              <a:t> </a:t>
            </a:r>
            <a:r>
              <a:rPr lang="en-US" altLang="ko-KR" dirty="0"/>
              <a:t>node</a:t>
            </a:r>
            <a:r>
              <a:rPr lang="ko-KR" altLang="en-US" dirty="0"/>
              <a:t> </a:t>
            </a:r>
            <a:r>
              <a:rPr lang="en-US" altLang="ko-KR" dirty="0"/>
              <a:t>with</a:t>
            </a:r>
            <a:r>
              <a:rPr lang="ko-KR" altLang="en-US" dirty="0"/>
              <a:t> </a:t>
            </a:r>
            <a:r>
              <a:rPr lang="en-US" altLang="ko-KR" dirty="0"/>
              <a:t>an</a:t>
            </a:r>
            <a:r>
              <a:rPr lang="ko-KR" altLang="en-US" dirty="0"/>
              <a:t> </a:t>
            </a:r>
            <a:r>
              <a:rPr lang="en-US" altLang="ko-KR" dirty="0"/>
              <a:t>accurate</a:t>
            </a:r>
            <a:r>
              <a:rPr lang="ko-KR" altLang="en-US" dirty="0"/>
              <a:t> </a:t>
            </a:r>
            <a:r>
              <a:rPr lang="en-US" altLang="ko-KR" dirty="0"/>
              <a:t>account</a:t>
            </a:r>
            <a:r>
              <a:rPr lang="ko-KR" altLang="en-US" dirty="0"/>
              <a:t> </a:t>
            </a:r>
            <a:r>
              <a:rPr lang="en-US" altLang="ko-KR" dirty="0"/>
              <a:t>of</a:t>
            </a:r>
            <a:r>
              <a:rPr lang="ko-KR" altLang="en-US" dirty="0"/>
              <a:t> </a:t>
            </a:r>
            <a:r>
              <a:rPr lang="en-US" altLang="ko-KR" dirty="0"/>
              <a:t>actual</a:t>
            </a:r>
            <a:r>
              <a:rPr lang="ko-KR" altLang="en-US" dirty="0"/>
              <a:t> </a:t>
            </a:r>
            <a:r>
              <a:rPr lang="en-US" altLang="ko-KR" dirty="0"/>
              <a:t>time.</a:t>
            </a:r>
            <a:endParaRPr lang="en-US" dirty="0"/>
          </a:p>
          <a:p>
            <a:pPr lvl="2"/>
            <a:r>
              <a:rPr lang="en-US" dirty="0"/>
              <a:t>The goal is not to synchronize the clocks with UTC, but rather to synchronize the clocks with one another.</a:t>
            </a:r>
          </a:p>
        </p:txBody>
      </p:sp>
    </p:spTree>
    <p:extLst>
      <p:ext uri="{BB962C8B-B14F-4D97-AF65-F5344CB8AC3E}">
        <p14:creationId xmlns:p14="http://schemas.microsoft.com/office/powerpoint/2010/main" val="1876386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E5EEB-DFA5-4AC6-8301-768B32A39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Clock Synchronization Algorithms (7/7)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F0219-5210-433C-8C05-7BC6BF431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Reference broadcast system (RBS) </a:t>
            </a:r>
            <a:r>
              <a:rPr lang="en-US" i="1" dirty="0"/>
              <a:t>cont.</a:t>
            </a:r>
          </a:p>
          <a:p>
            <a:pPr lvl="1"/>
            <a:r>
              <a:rPr lang="en-US" dirty="0"/>
              <a:t>A designated node called the </a:t>
            </a:r>
            <a:r>
              <a:rPr lang="en-US" dirty="0">
                <a:solidFill>
                  <a:srgbClr val="0070C0"/>
                </a:solidFill>
              </a:rPr>
              <a:t>reference broadcaster</a:t>
            </a:r>
            <a:r>
              <a:rPr lang="en-US" dirty="0"/>
              <a:t> broadcasts a </a:t>
            </a:r>
            <a:r>
              <a:rPr lang="en-US" dirty="0">
                <a:solidFill>
                  <a:srgbClr val="0070C0"/>
                </a:solidFill>
              </a:rPr>
              <a:t>reference message </a:t>
            </a:r>
            <a:r>
              <a:rPr lang="en-US" dirty="0"/>
              <a:t>that allows its receivers to adjust their clocks.</a:t>
            </a:r>
          </a:p>
          <a:p>
            <a:pPr lvl="1"/>
            <a:r>
              <a:rPr lang="en-US" dirty="0"/>
              <a:t>When a node </a:t>
            </a:r>
            <a:r>
              <a:rPr lang="en-US" i="1" dirty="0"/>
              <a:t>q</a:t>
            </a:r>
            <a:r>
              <a:rPr lang="en-US" dirty="0"/>
              <a:t> broadcasts a reference message </a:t>
            </a:r>
            <a:r>
              <a:rPr lang="en-US" i="1" dirty="0"/>
              <a:t>m</a:t>
            </a:r>
            <a:r>
              <a:rPr lang="en-US" dirty="0"/>
              <a:t>, each node </a:t>
            </a:r>
            <a:r>
              <a:rPr lang="en-US" i="1" dirty="0"/>
              <a:t>p</a:t>
            </a:r>
            <a:r>
              <a:rPr lang="en-US" dirty="0"/>
              <a:t>, simply records the time </a:t>
            </a:r>
            <a:r>
              <a:rPr lang="en-US" i="1" dirty="0" err="1"/>
              <a:t>T</a:t>
            </a:r>
            <a:r>
              <a:rPr lang="en-US" i="1" baseline="-25000" dirty="0" err="1"/>
              <a:t>p,m</a:t>
            </a:r>
            <a:r>
              <a:rPr lang="en-US" dirty="0"/>
              <a:t> (p’s local time) when it received </a:t>
            </a:r>
            <a:r>
              <a:rPr lang="en-US" i="1" dirty="0"/>
              <a:t>m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 offset is then calculated as </a:t>
            </a:r>
            <a:r>
              <a:rPr lang="en-US" dirty="0">
                <a:solidFill>
                  <a:srgbClr val="0070C0"/>
                </a:solidFill>
              </a:rPr>
              <a:t>the average for M messages</a:t>
            </a:r>
          </a:p>
        </p:txBody>
      </p:sp>
      <p:pic>
        <p:nvPicPr>
          <p:cNvPr id="5" name="Picture 4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56D004BB-E881-4EFE-8B61-EB52DC99B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5512457"/>
            <a:ext cx="3962400" cy="75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780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D5A6-C76A-4E73-BF12-17B03D26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Logical Clocks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9B0EFC-6189-4235-B0C8-05BFE0055296}"/>
              </a:ext>
            </a:extLst>
          </p:cNvPr>
          <p:cNvSpPr txBox="1"/>
          <p:nvPr/>
        </p:nvSpPr>
        <p:spPr>
          <a:xfrm>
            <a:off x="774582" y="4267200"/>
            <a:ext cx="7594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“What usually matters is not that all processes agree on exactly what time it is, </a:t>
            </a:r>
          </a:p>
          <a:p>
            <a:pPr algn="ctr"/>
            <a:r>
              <a:rPr lang="en-US" dirty="0"/>
              <a:t>but rather that they agree on </a:t>
            </a:r>
            <a:r>
              <a:rPr lang="en-US" dirty="0">
                <a:solidFill>
                  <a:srgbClr val="0070C0"/>
                </a:solidFill>
              </a:rPr>
              <a:t>the order in which events occur</a:t>
            </a:r>
            <a:r>
              <a:rPr lang="en-US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2823710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8A8EA-7953-45F6-8A1A-393ACB3D8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Lamport’s</a:t>
            </a:r>
            <a:r>
              <a:rPr lang="en-US" dirty="0"/>
              <a:t> Logical Clocks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28299-1941-43DC-9AED-28D6D484F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To synchronize logical clocks based on the </a:t>
            </a:r>
            <a:r>
              <a:rPr lang="en-US" dirty="0">
                <a:solidFill>
                  <a:srgbClr val="0070C0"/>
                </a:solidFill>
              </a:rPr>
              <a:t>order of events</a:t>
            </a:r>
            <a:r>
              <a:rPr lang="en-US" dirty="0"/>
              <a:t>, a relation called the </a:t>
            </a:r>
            <a:r>
              <a:rPr lang="en-US" dirty="0">
                <a:solidFill>
                  <a:srgbClr val="0070C0"/>
                </a:solidFill>
              </a:rPr>
              <a:t>happens-before </a:t>
            </a:r>
            <a:r>
              <a:rPr lang="en-US" dirty="0"/>
              <a:t>relation needs to be defined.</a:t>
            </a:r>
          </a:p>
          <a:p>
            <a:pPr lvl="1"/>
            <a:r>
              <a:rPr lang="en-US" i="1" dirty="0"/>
              <a:t>a-&gt;b</a:t>
            </a:r>
            <a:r>
              <a:rPr lang="en-US" dirty="0"/>
              <a:t> is read “event </a:t>
            </a:r>
            <a:r>
              <a:rPr lang="en-US" i="1" dirty="0"/>
              <a:t>a</a:t>
            </a:r>
            <a:r>
              <a:rPr lang="en-US" dirty="0"/>
              <a:t> happens before event </a:t>
            </a:r>
            <a:r>
              <a:rPr lang="en-US" i="1" dirty="0"/>
              <a:t>b.</a:t>
            </a:r>
            <a:r>
              <a:rPr lang="en-US" dirty="0"/>
              <a:t>”</a:t>
            </a:r>
          </a:p>
          <a:p>
            <a:r>
              <a:rPr lang="en-US" dirty="0"/>
              <a:t>The happens-before relation is a transitive relation</a:t>
            </a:r>
          </a:p>
          <a:p>
            <a:pPr lvl="1"/>
            <a:r>
              <a:rPr lang="en-US" i="1" dirty="0"/>
              <a:t>a-&gt;b</a:t>
            </a:r>
            <a:r>
              <a:rPr lang="en-US" dirty="0"/>
              <a:t> and </a:t>
            </a:r>
            <a:r>
              <a:rPr lang="en-US" i="1" dirty="0"/>
              <a:t>b-&gt;c</a:t>
            </a:r>
            <a:r>
              <a:rPr lang="en-US" dirty="0"/>
              <a:t>, then </a:t>
            </a:r>
            <a:r>
              <a:rPr lang="en-US" i="1" dirty="0"/>
              <a:t>a-&gt;c</a:t>
            </a:r>
          </a:p>
          <a:p>
            <a:r>
              <a:rPr lang="en-US" dirty="0"/>
              <a:t>If two events </a:t>
            </a:r>
            <a:r>
              <a:rPr lang="en-US" i="1" dirty="0"/>
              <a:t>x</a:t>
            </a:r>
            <a:r>
              <a:rPr lang="en-US" dirty="0"/>
              <a:t> and </a:t>
            </a:r>
            <a:r>
              <a:rPr lang="en-US" i="1" dirty="0"/>
              <a:t>y</a:t>
            </a:r>
            <a:r>
              <a:rPr lang="en-US" dirty="0"/>
              <a:t> happen in different processes that do not exchange messages, then </a:t>
            </a:r>
            <a:r>
              <a:rPr lang="en-US" i="1" dirty="0"/>
              <a:t>x-&gt;y </a:t>
            </a:r>
            <a:r>
              <a:rPr lang="en-US" dirty="0"/>
              <a:t>is not true, neither </a:t>
            </a:r>
            <a:r>
              <a:rPr lang="en-US" i="1" dirty="0"/>
              <a:t>y-&gt;x</a:t>
            </a:r>
          </a:p>
          <a:p>
            <a:r>
              <a:rPr lang="en-US" dirty="0"/>
              <a:t>For each event a, we can assign a time value C(a)</a:t>
            </a:r>
          </a:p>
          <a:p>
            <a:pPr lvl="1"/>
            <a:r>
              <a:rPr lang="en-US" dirty="0"/>
              <a:t>If </a:t>
            </a:r>
            <a:r>
              <a:rPr lang="en-US" i="1" dirty="0"/>
              <a:t>a-&gt;b</a:t>
            </a:r>
            <a:r>
              <a:rPr lang="en-US" dirty="0"/>
              <a:t>, then </a:t>
            </a:r>
            <a:r>
              <a:rPr lang="en-US" i="1" dirty="0"/>
              <a:t>C(a)</a:t>
            </a:r>
            <a:r>
              <a:rPr lang="en-US" dirty="0"/>
              <a:t> </a:t>
            </a:r>
            <a:r>
              <a:rPr lang="en-US" i="1" dirty="0"/>
              <a:t>&lt; C(b)</a:t>
            </a:r>
          </a:p>
        </p:txBody>
      </p:sp>
    </p:spTree>
    <p:extLst>
      <p:ext uri="{BB962C8B-B14F-4D97-AF65-F5344CB8AC3E}">
        <p14:creationId xmlns:p14="http://schemas.microsoft.com/office/powerpoint/2010/main" val="260184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8A8EA-7953-45F6-8A1A-393ACB3D8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Lamport’s</a:t>
            </a:r>
            <a:r>
              <a:rPr lang="en-US" dirty="0"/>
              <a:t> Logical Clocks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28299-1941-43DC-9AED-28D6D484F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2595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Consider an example with three processes (</a:t>
            </a:r>
            <a:r>
              <a:rPr lang="en-US" sz="2400" i="1" dirty="0"/>
              <a:t>P1</a:t>
            </a:r>
            <a:r>
              <a:rPr lang="en-US" sz="2400" dirty="0"/>
              <a:t>’s timer is incremented by </a:t>
            </a:r>
            <a:r>
              <a:rPr lang="en-US" sz="2400" i="1" dirty="0"/>
              <a:t>6</a:t>
            </a:r>
            <a:r>
              <a:rPr lang="en-US" sz="2400" dirty="0"/>
              <a:t> units, </a:t>
            </a:r>
            <a:r>
              <a:rPr lang="en-US" sz="2400" i="1" dirty="0"/>
              <a:t>P2</a:t>
            </a:r>
            <a:r>
              <a:rPr lang="en-US" sz="2400" dirty="0"/>
              <a:t>’s timer by </a:t>
            </a:r>
            <a:r>
              <a:rPr lang="en-US" sz="2400" i="1" dirty="0"/>
              <a:t>8</a:t>
            </a:r>
            <a:r>
              <a:rPr lang="en-US" sz="2400" dirty="0"/>
              <a:t> units, and </a:t>
            </a:r>
            <a:r>
              <a:rPr lang="en-US" sz="2400" i="1" dirty="0"/>
              <a:t>P3</a:t>
            </a:r>
            <a:r>
              <a:rPr lang="en-US" sz="2400" dirty="0"/>
              <a:t>’s timer by </a:t>
            </a:r>
            <a:r>
              <a:rPr lang="en-US" sz="2400" i="1" dirty="0"/>
              <a:t>10</a:t>
            </a:r>
            <a:r>
              <a:rPr lang="en-US" sz="2400" dirty="0"/>
              <a:t> units)</a:t>
            </a:r>
          </a:p>
          <a:p>
            <a:pPr lvl="1"/>
            <a:r>
              <a:rPr lang="en-US" sz="2000" dirty="0"/>
              <a:t>The </a:t>
            </a:r>
            <a:r>
              <a:rPr lang="en-US" sz="2000" dirty="0">
                <a:solidFill>
                  <a:srgbClr val="0070C0"/>
                </a:solidFill>
              </a:rPr>
              <a:t>event</a:t>
            </a:r>
            <a:r>
              <a:rPr lang="en-US" sz="2000" dirty="0"/>
              <a:t> of sending </a:t>
            </a:r>
            <a:r>
              <a:rPr lang="en-US" sz="2000" i="1" dirty="0"/>
              <a:t>m3</a:t>
            </a:r>
            <a:r>
              <a:rPr lang="en-US" sz="2000" dirty="0"/>
              <a:t> by </a:t>
            </a:r>
            <a:r>
              <a:rPr lang="en-US" sz="2000" i="1" dirty="0"/>
              <a:t>P3</a:t>
            </a:r>
            <a:r>
              <a:rPr lang="en-US" sz="2000" dirty="0"/>
              <a:t> happens before the event of receiving </a:t>
            </a:r>
            <a:r>
              <a:rPr lang="en-US" sz="2000" i="1" dirty="0"/>
              <a:t>m3</a:t>
            </a:r>
            <a:r>
              <a:rPr lang="en-US" sz="2000" dirty="0"/>
              <a:t> by </a:t>
            </a:r>
            <a:r>
              <a:rPr lang="en-US" sz="2000" i="1" dirty="0"/>
              <a:t>P2</a:t>
            </a:r>
            <a:r>
              <a:rPr lang="en-US" sz="2000" dirty="0"/>
              <a:t>; thus, the timer value for </a:t>
            </a:r>
            <a:r>
              <a:rPr lang="en-US" sz="2000" i="1" dirty="0"/>
              <a:t>P2</a:t>
            </a:r>
            <a:r>
              <a:rPr lang="en-US" sz="2000" dirty="0"/>
              <a:t> should be adjusted.</a:t>
            </a:r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C405FB26-F80B-45DE-B8A5-24647226A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7018" y="3275051"/>
            <a:ext cx="3509963" cy="358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880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201B8-BFD4-44AC-BFE9-53C1E1795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Clocks (1/4)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57F84-B511-43AA-8AA8-4105C0A03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With </a:t>
            </a:r>
            <a:r>
              <a:rPr lang="en-US" dirty="0" err="1"/>
              <a:t>Lamport’s</a:t>
            </a:r>
            <a:r>
              <a:rPr lang="en-US" dirty="0"/>
              <a:t> logical clocks, </a:t>
            </a:r>
            <a:r>
              <a:rPr lang="en-US" i="1" dirty="0"/>
              <a:t>C(a) &lt; C(b) </a:t>
            </a:r>
            <a:r>
              <a:rPr lang="en-US" dirty="0"/>
              <a:t>does not necessarily mean that event </a:t>
            </a:r>
            <a:r>
              <a:rPr lang="en-US" i="1" dirty="0"/>
              <a:t>a</a:t>
            </a:r>
            <a:r>
              <a:rPr lang="en-US" dirty="0"/>
              <a:t> indeed happened before event </a:t>
            </a:r>
            <a:r>
              <a:rPr lang="en-US" i="1" dirty="0"/>
              <a:t>b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No </a:t>
            </a:r>
            <a:r>
              <a:rPr lang="en-US" dirty="0">
                <a:solidFill>
                  <a:srgbClr val="0070C0"/>
                </a:solidFill>
              </a:rPr>
              <a:t>causality</a:t>
            </a:r>
            <a:r>
              <a:rPr lang="en-US" dirty="0"/>
              <a:t> between the two events.</a:t>
            </a:r>
          </a:p>
          <a:p>
            <a:r>
              <a:rPr lang="en-US" dirty="0"/>
              <a:t>The sending of </a:t>
            </a:r>
            <a:r>
              <a:rPr lang="en-US" i="1" dirty="0"/>
              <a:t>m2 (20) </a:t>
            </a:r>
            <a:r>
              <a:rPr lang="en-US" dirty="0"/>
              <a:t>has</a:t>
            </a:r>
          </a:p>
          <a:p>
            <a:pPr marL="0" indent="0">
              <a:buNone/>
            </a:pPr>
            <a:r>
              <a:rPr lang="en-US" dirty="0"/>
              <a:t>    nothing to do with </a:t>
            </a:r>
          </a:p>
          <a:p>
            <a:pPr marL="0" indent="0">
              <a:buNone/>
            </a:pPr>
            <a:r>
              <a:rPr lang="en-US" dirty="0"/>
              <a:t>    the receipt of </a:t>
            </a:r>
            <a:r>
              <a:rPr lang="en-US" i="1" dirty="0"/>
              <a:t>m1 (16);</a:t>
            </a:r>
          </a:p>
          <a:p>
            <a:pPr marL="0" indent="0">
              <a:buNone/>
            </a:pPr>
            <a:r>
              <a:rPr lang="en-US" dirty="0"/>
              <a:t>    We cannot say that </a:t>
            </a:r>
            <a:r>
              <a:rPr lang="en-US" i="1" dirty="0"/>
              <a:t>m1</a:t>
            </a:r>
          </a:p>
          <a:p>
            <a:pPr marL="0" indent="0">
              <a:buNone/>
            </a:pPr>
            <a:r>
              <a:rPr lang="en-US" dirty="0"/>
              <a:t>    happened before </a:t>
            </a:r>
            <a:r>
              <a:rPr lang="en-US" i="1" dirty="0"/>
              <a:t>m2</a:t>
            </a:r>
            <a:r>
              <a:rPr lang="en-US" dirty="0"/>
              <a:t> even</a:t>
            </a:r>
          </a:p>
          <a:p>
            <a:pPr marL="0" indent="0">
              <a:buNone/>
            </a:pPr>
            <a:r>
              <a:rPr lang="en-US" dirty="0"/>
              <a:t>    if </a:t>
            </a:r>
            <a:r>
              <a:rPr lang="en-US" i="1" dirty="0"/>
              <a:t>C(m1) &lt; C(m2).</a:t>
            </a:r>
          </a:p>
          <a:p>
            <a:endParaRPr lang="en-US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2384C703-2620-43AC-8FEC-F11C2E316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3429000"/>
            <a:ext cx="3200400" cy="32535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8D8C7FC-2E91-4266-8241-B443CDA65D72}"/>
              </a:ext>
            </a:extLst>
          </p:cNvPr>
          <p:cNvSpPr/>
          <p:nvPr/>
        </p:nvSpPr>
        <p:spPr>
          <a:xfrm>
            <a:off x="7010400" y="4267200"/>
            <a:ext cx="381000" cy="228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0B3B1F-74D9-4887-9CBE-DF9FCEB97151}"/>
              </a:ext>
            </a:extLst>
          </p:cNvPr>
          <p:cNvSpPr/>
          <p:nvPr/>
        </p:nvSpPr>
        <p:spPr>
          <a:xfrm>
            <a:off x="8302625" y="4267200"/>
            <a:ext cx="381000" cy="228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836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E745A-FA59-4A30-88AC-51BAF30BC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Clocks (2/4)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DE383-D351-4B36-B6F1-6B822E24F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Causality</a:t>
            </a:r>
            <a:r>
              <a:rPr lang="en-US" dirty="0"/>
              <a:t> is captured by means of </a:t>
            </a:r>
            <a:r>
              <a:rPr lang="en-US" dirty="0">
                <a:solidFill>
                  <a:srgbClr val="0070C0"/>
                </a:solidFill>
              </a:rPr>
              <a:t>vector clocks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A vector of local clocks of all processes</a:t>
            </a:r>
          </a:p>
          <a:p>
            <a:pPr lvl="1"/>
            <a:r>
              <a:rPr lang="en-US" i="1" dirty="0"/>
              <a:t>e.g.</a:t>
            </a:r>
            <a:r>
              <a:rPr lang="en-US" dirty="0"/>
              <a:t>, </a:t>
            </a:r>
            <a:r>
              <a:rPr lang="en-US" i="1" dirty="0"/>
              <a:t>VC</a:t>
            </a:r>
            <a:r>
              <a:rPr lang="en-US" i="1" baseline="-25000" dirty="0"/>
              <a:t>1</a:t>
            </a:r>
            <a:r>
              <a:rPr lang="en-US" i="1" dirty="0"/>
              <a:t> = (1,3,3)</a:t>
            </a:r>
          </a:p>
          <a:p>
            <a:r>
              <a:rPr lang="en-US" dirty="0"/>
              <a:t>A vector clock of process </a:t>
            </a:r>
            <a:r>
              <a:rPr lang="en-US" i="1" dirty="0"/>
              <a:t>P</a:t>
            </a:r>
            <a:r>
              <a:rPr lang="en-US" i="1" baseline="-25000" dirty="0"/>
              <a:t>i</a:t>
            </a:r>
            <a:r>
              <a:rPr lang="en-US" dirty="0"/>
              <a:t> is denoted by </a:t>
            </a:r>
            <a:r>
              <a:rPr lang="en-US" i="1" dirty="0" err="1"/>
              <a:t>VC</a:t>
            </a:r>
            <a:r>
              <a:rPr lang="en-US" i="1" baseline="-25000" dirty="0" err="1"/>
              <a:t>i</a:t>
            </a:r>
            <a:r>
              <a:rPr lang="en-US" i="1" baseline="-25000" dirty="0"/>
              <a:t> </a:t>
            </a:r>
            <a:r>
              <a:rPr lang="en-US" i="1" baseline="30000" dirty="0"/>
              <a:t> </a:t>
            </a:r>
            <a:r>
              <a:rPr lang="en-US" dirty="0"/>
              <a:t>which has the following two properties: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6579E083-C714-457A-BDB7-6EA74B83B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151719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51CCA6-EB79-4684-8504-8ED188BBDD35}"/>
              </a:ext>
            </a:extLst>
          </p:cNvPr>
          <p:cNvCxnSpPr>
            <a:cxnSpLocks/>
          </p:cNvCxnSpPr>
          <p:nvPr/>
        </p:nvCxnSpPr>
        <p:spPr>
          <a:xfrm>
            <a:off x="457200" y="6019800"/>
            <a:ext cx="44196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8588458-8610-4B1D-8BE2-BC7F55A814CD}"/>
              </a:ext>
            </a:extLst>
          </p:cNvPr>
          <p:cNvCxnSpPr>
            <a:cxnSpLocks/>
          </p:cNvCxnSpPr>
          <p:nvPr/>
        </p:nvCxnSpPr>
        <p:spPr>
          <a:xfrm>
            <a:off x="2743200" y="5334000"/>
            <a:ext cx="38862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110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B0750-8F05-4809-8600-0CBC1C9D4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Clocks (3/4)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38149-9222-464C-8C9F-3A6CC2A53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In particular, the following is performed to synchronize the logical clocks:</a:t>
            </a:r>
          </a:p>
        </p:txBody>
      </p:sp>
      <p:pic>
        <p:nvPicPr>
          <p:cNvPr id="5" name="Picture 4" descr="A picture containing text, person, document, screenshot&#10;&#10;Description automatically generated">
            <a:extLst>
              <a:ext uri="{FF2B5EF4-FFF2-40B4-BE49-F238E27FC236}">
                <a16:creationId xmlns:a16="http://schemas.microsoft.com/office/drawing/2014/main" id="{0741BAD5-8478-4C77-BC22-E99F70DFA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9800"/>
            <a:ext cx="9144000" cy="420406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EA3F7D-C110-F32F-5960-9049FDC9624D}"/>
              </a:ext>
            </a:extLst>
          </p:cNvPr>
          <p:cNvCxnSpPr>
            <a:cxnSpLocks/>
          </p:cNvCxnSpPr>
          <p:nvPr/>
        </p:nvCxnSpPr>
        <p:spPr>
          <a:xfrm>
            <a:off x="2819400" y="4267200"/>
            <a:ext cx="47244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2F9CA10-237B-D6D8-B6A3-4535360EE44C}"/>
              </a:ext>
            </a:extLst>
          </p:cNvPr>
          <p:cNvSpPr txBox="1"/>
          <p:nvPr/>
        </p:nvSpPr>
        <p:spPr>
          <a:xfrm>
            <a:off x="4953000" y="3290372"/>
            <a:ext cx="4319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i.e., after increasing its local clock value by 1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C82F99-57F0-48EE-C76D-0B81C2409357}"/>
              </a:ext>
            </a:extLst>
          </p:cNvPr>
          <p:cNvCxnSpPr>
            <a:cxnSpLocks/>
          </p:cNvCxnSpPr>
          <p:nvPr/>
        </p:nvCxnSpPr>
        <p:spPr>
          <a:xfrm flipH="1">
            <a:off x="4953000" y="3558381"/>
            <a:ext cx="152400" cy="522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916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03DA8-8D2A-4421-BC21-1B306472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Clocks (4/4)</a:t>
            </a:r>
          </a:p>
        </p:txBody>
      </p:sp>
      <p:pic>
        <p:nvPicPr>
          <p:cNvPr id="5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0280981F-39D0-412F-8ACD-564FB6D99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337" y="1348293"/>
            <a:ext cx="4237326" cy="550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016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D5A6-C76A-4E73-BF12-17B03D26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Mutual Exclusion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9B0EFC-6189-4235-B0C8-05BFE0055296}"/>
              </a:ext>
            </a:extLst>
          </p:cNvPr>
          <p:cNvSpPr txBox="1"/>
          <p:nvPr/>
        </p:nvSpPr>
        <p:spPr>
          <a:xfrm>
            <a:off x="932761" y="4267200"/>
            <a:ext cx="72785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“The concurrent access of processes to a resource can make it inconsistent. </a:t>
            </a:r>
          </a:p>
          <a:p>
            <a:pPr algn="ctr"/>
            <a:r>
              <a:rPr lang="en-US" dirty="0"/>
              <a:t>Solutions are needed to grant mutually exclusive access.”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208367-75B5-84A8-D61B-C11FF5367CF4}"/>
              </a:ext>
            </a:extLst>
          </p:cNvPr>
          <p:cNvSpPr txBox="1"/>
          <p:nvPr/>
        </p:nvSpPr>
        <p:spPr>
          <a:xfrm>
            <a:off x="2819400" y="5180231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HELLOWORLD vs HEWLOLROLD</a:t>
            </a:r>
          </a:p>
        </p:txBody>
      </p:sp>
    </p:spTree>
    <p:extLst>
      <p:ext uri="{BB962C8B-B14F-4D97-AF65-F5344CB8AC3E}">
        <p14:creationId xmlns:p14="http://schemas.microsoft.com/office/powerpoint/2010/main" val="3235020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736F9-88B1-43CB-8CF6-96906D149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2A07B-5D5F-4485-BA4C-97F7299DF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Two categories of </a:t>
            </a:r>
            <a:r>
              <a:rPr lang="en-US" dirty="0">
                <a:solidFill>
                  <a:srgbClr val="0070C0"/>
                </a:solidFill>
              </a:rPr>
              <a:t>distributed mutual exclusion algorithms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Token-based solutions</a:t>
            </a:r>
          </a:p>
          <a:p>
            <a:pPr lvl="2"/>
            <a:r>
              <a:rPr lang="en-US" dirty="0"/>
              <a:t>Mutual exclusion is achieved by passing a special message between processes, known as a </a:t>
            </a:r>
            <a:r>
              <a:rPr lang="en-US" dirty="0">
                <a:solidFill>
                  <a:srgbClr val="0070C0"/>
                </a:solidFill>
              </a:rPr>
              <a:t>token.</a:t>
            </a:r>
          </a:p>
          <a:p>
            <a:pPr lvl="2"/>
            <a:r>
              <a:rPr lang="en-US" dirty="0"/>
              <a:t>Only one token is available and whoever has that token is allowed to access the shared resource.</a:t>
            </a:r>
          </a:p>
          <a:p>
            <a:pPr lvl="2"/>
            <a:r>
              <a:rPr lang="en-US" dirty="0">
                <a:solidFill>
                  <a:srgbClr val="C00000"/>
                </a:solidFill>
              </a:rPr>
              <a:t>What if a token is lost?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Permission-based approaches</a:t>
            </a:r>
          </a:p>
          <a:p>
            <a:pPr lvl="2"/>
            <a:r>
              <a:rPr lang="en-US" dirty="0"/>
              <a:t>A process wanting to access the resource first requires the </a:t>
            </a:r>
            <a:r>
              <a:rPr lang="en-US" dirty="0">
                <a:solidFill>
                  <a:srgbClr val="0070C0"/>
                </a:solidFill>
              </a:rPr>
              <a:t>permission</a:t>
            </a:r>
            <a:r>
              <a:rPr lang="en-US" dirty="0"/>
              <a:t> from other processes.</a:t>
            </a:r>
          </a:p>
          <a:p>
            <a:pPr lvl="2"/>
            <a:r>
              <a:rPr lang="en-US" dirty="0">
                <a:solidFill>
                  <a:srgbClr val="C00000"/>
                </a:solidFill>
              </a:rPr>
              <a:t>How to grant such a permission?</a:t>
            </a:r>
          </a:p>
        </p:txBody>
      </p:sp>
    </p:spTree>
    <p:extLst>
      <p:ext uri="{BB962C8B-B14F-4D97-AF65-F5344CB8AC3E}">
        <p14:creationId xmlns:p14="http://schemas.microsoft.com/office/powerpoint/2010/main" val="3043225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E10AF-5E9E-4FE4-BDFE-C9CAB24C4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6200"/>
            <a:ext cx="90678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Centralized Algorithm (Permission-Based)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0D714-730A-42D2-BBA0-567AF96F1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638800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r>
              <a:rPr lang="en-US" sz="2400" dirty="0">
                <a:solidFill>
                  <a:schemeClr val="accent1"/>
                </a:solidFill>
              </a:rPr>
              <a:t>Benefits</a:t>
            </a:r>
          </a:p>
          <a:p>
            <a:pPr lvl="1"/>
            <a:r>
              <a:rPr lang="en-US" sz="2000" dirty="0"/>
              <a:t>Guarantees mutual exclusion, easy to implement</a:t>
            </a:r>
          </a:p>
          <a:p>
            <a:pPr lvl="1"/>
            <a:r>
              <a:rPr lang="en-US" sz="2000" dirty="0"/>
              <a:t>No </a:t>
            </a:r>
            <a:r>
              <a:rPr lang="en-US" sz="2000" dirty="0">
                <a:solidFill>
                  <a:srgbClr val="C00000"/>
                </a:solidFill>
              </a:rPr>
              <a:t>starvation</a:t>
            </a:r>
            <a:r>
              <a:rPr lang="en-US" sz="2000" dirty="0"/>
              <a:t> (</a:t>
            </a:r>
            <a:r>
              <a:rPr lang="en-US" sz="2000" i="1" dirty="0"/>
              <a:t>i.e., </a:t>
            </a:r>
            <a:r>
              <a:rPr lang="en-US" sz="2000" dirty="0"/>
              <a:t>no process remains unable to access the shared resource indefinitely) because requesting processes are queued according to the order of request</a:t>
            </a:r>
          </a:p>
          <a:p>
            <a:r>
              <a:rPr lang="en-US" sz="2400" dirty="0"/>
              <a:t>Shortcomings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A single point of failure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C00000"/>
                </a:solidFill>
              </a:rPr>
              <a:t>bottleneck</a:t>
            </a:r>
          </a:p>
        </p:txBody>
      </p:sp>
      <p:pic>
        <p:nvPicPr>
          <p:cNvPr id="5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6D4240D9-C03E-4503-B033-0B42F37D2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838200"/>
            <a:ext cx="7296150" cy="334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660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5EAFC-863B-473D-8141-4BA193E20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Distributed Algorithm (Permission-Based) 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E9C12-25EA-4E96-ACBF-E911AF617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When a process wants to access a resource, it builds a message with the name of resource, its process number, and the logical time.</a:t>
            </a:r>
          </a:p>
          <a:p>
            <a:r>
              <a:rPr lang="en-US" dirty="0"/>
              <a:t>It then sends the message to all other processes.</a:t>
            </a:r>
          </a:p>
          <a:p>
            <a:r>
              <a:rPr lang="en-US" dirty="0"/>
              <a:t>This algorithm requires </a:t>
            </a:r>
            <a:r>
              <a:rPr lang="en-US" dirty="0">
                <a:solidFill>
                  <a:srgbClr val="0070C0"/>
                </a:solidFill>
              </a:rPr>
              <a:t>a total ordering </a:t>
            </a:r>
            <a:r>
              <a:rPr lang="en-US" dirty="0"/>
              <a:t>of all events (</a:t>
            </a:r>
            <a:r>
              <a:rPr lang="en-US" i="1" dirty="0"/>
              <a:t>e.g., </a:t>
            </a:r>
            <a:r>
              <a:rPr lang="en-US" dirty="0"/>
              <a:t>based on vector clocks).</a:t>
            </a:r>
          </a:p>
          <a:p>
            <a:pPr lvl="1"/>
            <a:r>
              <a:rPr lang="en-US" dirty="0"/>
              <a:t>For any pair of events, it must be unambiguous which one happened first.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724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D9EFD-2A1C-4850-8571-07A58BC28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Distributed Algorithm (Permission-Based) 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48725-A880-40E8-827B-CF7F01B4F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process receives a request message, there are three different cases:</a:t>
            </a:r>
          </a:p>
        </p:txBody>
      </p:sp>
      <p:pic>
        <p:nvPicPr>
          <p:cNvPr id="5" name="Picture 4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DA67DEAB-0B3A-4771-8770-9502747F9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743200"/>
            <a:ext cx="8077200" cy="317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640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1283F-79F7-4A1A-8CAE-CCC03A263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Distributed Algorithm (Permission-Based) (3/3)</a:t>
            </a:r>
          </a:p>
        </p:txBody>
      </p:sp>
      <p:pic>
        <p:nvPicPr>
          <p:cNvPr id="5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EF97AB55-BABC-42F2-A2E4-3039E8A27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2438400"/>
            <a:ext cx="9144000" cy="27238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E3AF47-DF1A-421E-8BEC-E35A31F68934}"/>
              </a:ext>
            </a:extLst>
          </p:cNvPr>
          <p:cNvSpPr txBox="1"/>
          <p:nvPr/>
        </p:nvSpPr>
        <p:spPr>
          <a:xfrm>
            <a:off x="4572000" y="3123208"/>
            <a:ext cx="17502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P0 with lower </a:t>
            </a:r>
          </a:p>
          <a:p>
            <a:r>
              <a:rPr lang="en-US" dirty="0">
                <a:solidFill>
                  <a:srgbClr val="0070C0"/>
                </a:solidFill>
              </a:rPr>
              <a:t>timestamp wins!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AE7637-B702-453C-BC12-67E630D0D929}"/>
              </a:ext>
            </a:extLst>
          </p:cNvPr>
          <p:cNvSpPr txBox="1"/>
          <p:nvPr/>
        </p:nvSpPr>
        <p:spPr>
          <a:xfrm>
            <a:off x="5684596" y="2795323"/>
            <a:ext cx="3011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P0 is done and sends OK to P2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609A6-105E-4833-B771-1A5B448D0243}"/>
              </a:ext>
            </a:extLst>
          </p:cNvPr>
          <p:cNvSpPr txBox="1"/>
          <p:nvPr/>
        </p:nvSpPr>
        <p:spPr>
          <a:xfrm>
            <a:off x="1447800" y="2560638"/>
            <a:ext cx="1227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Timestamp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9D76A1-C333-4C7B-892C-3D4CEA9B9F35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1066800" y="2745304"/>
            <a:ext cx="381000" cy="61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F12660B-8782-4ED4-A372-751BFBF8E463}"/>
              </a:ext>
            </a:extLst>
          </p:cNvPr>
          <p:cNvCxnSpPr>
            <a:cxnSpLocks/>
          </p:cNvCxnSpPr>
          <p:nvPr/>
        </p:nvCxnSpPr>
        <p:spPr>
          <a:xfrm flipH="1">
            <a:off x="4267200" y="3385254"/>
            <a:ext cx="381000" cy="61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E150867-AF30-8F2C-860A-A92746E68FFD}"/>
              </a:ext>
            </a:extLst>
          </p:cNvPr>
          <p:cNvSpPr txBox="1"/>
          <p:nvPr/>
        </p:nvSpPr>
        <p:spPr>
          <a:xfrm>
            <a:off x="29656" y="5039394"/>
            <a:ext cx="5089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Node 1 does not want to access the shared resource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7CEA065-BC51-3304-0AF9-2CA8EC442D75}"/>
              </a:ext>
            </a:extLst>
          </p:cNvPr>
          <p:cNvCxnSpPr>
            <a:cxnSpLocks/>
          </p:cNvCxnSpPr>
          <p:nvPr/>
        </p:nvCxnSpPr>
        <p:spPr>
          <a:xfrm flipV="1">
            <a:off x="381000" y="4714206"/>
            <a:ext cx="0" cy="391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73731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1E338-AA1E-4CD2-B05F-3F2A3D0A1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Token-Ring Algorithm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4365C-7376-47ED-8B05-EC29A51F9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Construct an overlay network in the form of a </a:t>
            </a:r>
            <a:r>
              <a:rPr lang="en-US" dirty="0">
                <a:solidFill>
                  <a:srgbClr val="0070C0"/>
                </a:solidFill>
              </a:rPr>
              <a:t>logical ring.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i="1" dirty="0"/>
              <a:t>P</a:t>
            </a:r>
            <a:r>
              <a:rPr lang="en-US" i="1" baseline="-25000" dirty="0"/>
              <a:t>0</a:t>
            </a:r>
            <a:r>
              <a:rPr lang="en-US" dirty="0"/>
              <a:t> is given a token, and the token circulates around the ring.</a:t>
            </a:r>
          </a:p>
          <a:p>
            <a:r>
              <a:rPr lang="en-US" dirty="0"/>
              <a:t>When acquired a token, the process checks to see if it needs to access the shared resource.</a:t>
            </a:r>
          </a:p>
          <a:p>
            <a:r>
              <a:rPr lang="en-US" dirty="0"/>
              <a:t>After finished, it passes the token along the ring</a:t>
            </a:r>
          </a:p>
        </p:txBody>
      </p:sp>
      <p:pic>
        <p:nvPicPr>
          <p:cNvPr id="5" name="Picture 4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B2339A77-E1B1-4EFE-92AE-BC6B32E33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514600"/>
            <a:ext cx="4772025" cy="153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7743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4BB43-A1C2-43F6-A703-1D7D1BAC9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Token-Ring Algorithm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F51B9-EB91-40A0-838A-36BED0A16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a </a:t>
            </a:r>
            <a:r>
              <a:rPr lang="en-US" dirty="0">
                <a:solidFill>
                  <a:srgbClr val="C00000"/>
                </a:solidFill>
              </a:rPr>
              <a:t>token is lost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Maybe we can regenerate it, but it maybe possible that someone is holding the token for a long time.</a:t>
            </a:r>
          </a:p>
          <a:p>
            <a:pPr lvl="1"/>
            <a:r>
              <a:rPr lang="en-US" dirty="0"/>
              <a:t>Q?</a:t>
            </a:r>
          </a:p>
          <a:p>
            <a:r>
              <a:rPr lang="en-US" dirty="0"/>
              <a:t>What if a process crashes?</a:t>
            </a:r>
          </a:p>
          <a:p>
            <a:pPr lvl="1"/>
            <a:r>
              <a:rPr lang="en-US" dirty="0"/>
              <a:t>The ring topology is broken.</a:t>
            </a:r>
          </a:p>
          <a:p>
            <a:pPr lvl="1"/>
            <a:r>
              <a:rPr lang="en-US" dirty="0"/>
              <a:t>This problem is relatively easier than losing a token.</a:t>
            </a:r>
          </a:p>
          <a:p>
            <a:pPr lvl="2"/>
            <a:r>
              <a:rPr lang="en-US" dirty="0"/>
              <a:t>The crashed process can be removed from the group.</a:t>
            </a:r>
          </a:p>
        </p:txBody>
      </p:sp>
    </p:spTree>
    <p:extLst>
      <p:ext uri="{BB962C8B-B14F-4D97-AF65-F5344CB8AC3E}">
        <p14:creationId xmlns:p14="http://schemas.microsoft.com/office/powerpoint/2010/main" val="37864945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D5A6-C76A-4E73-BF12-17B03D26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Election Algorithms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9B0EFC-6189-4235-B0C8-05BFE0055296}"/>
              </a:ext>
            </a:extLst>
          </p:cNvPr>
          <p:cNvSpPr txBox="1"/>
          <p:nvPr/>
        </p:nvSpPr>
        <p:spPr>
          <a:xfrm>
            <a:off x="1935963" y="4267200"/>
            <a:ext cx="5272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“We will look at algorithms for electing a coordinator.”</a:t>
            </a:r>
          </a:p>
        </p:txBody>
      </p:sp>
    </p:spTree>
    <p:extLst>
      <p:ext uri="{BB962C8B-B14F-4D97-AF65-F5344CB8AC3E}">
        <p14:creationId xmlns:p14="http://schemas.microsoft.com/office/powerpoint/2010/main" val="33617518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4741F-E559-4D39-99AC-2FA87C7CC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Bully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80C70-ED10-4133-903D-4FADF05C5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81600"/>
          </a:xfrm>
        </p:spPr>
        <p:txBody>
          <a:bodyPr/>
          <a:lstStyle/>
          <a:p>
            <a:r>
              <a:rPr lang="en-US" dirty="0"/>
              <a:t>Consider </a:t>
            </a:r>
            <a:r>
              <a:rPr lang="en-US" i="1" dirty="0"/>
              <a:t>N</a:t>
            </a:r>
            <a:r>
              <a:rPr lang="en-US" dirty="0"/>
              <a:t> processes </a:t>
            </a:r>
            <a:r>
              <a:rPr lang="en-US" i="1" dirty="0"/>
              <a:t>{P</a:t>
            </a:r>
            <a:r>
              <a:rPr lang="en-US" i="1" baseline="-25000" dirty="0"/>
              <a:t>0</a:t>
            </a:r>
            <a:r>
              <a:rPr lang="en-US" i="1" dirty="0"/>
              <a:t>, …, P</a:t>
            </a:r>
            <a:r>
              <a:rPr lang="en-US" i="1" baseline="-25000" dirty="0"/>
              <a:t>N-1</a:t>
            </a:r>
            <a:r>
              <a:rPr lang="en-US" i="1" dirty="0"/>
              <a:t>} </a:t>
            </a:r>
            <a:r>
              <a:rPr lang="en-US" dirty="0"/>
              <a:t>and let </a:t>
            </a:r>
            <a:r>
              <a:rPr lang="en-US" i="1" dirty="0"/>
              <a:t>id(P</a:t>
            </a:r>
            <a:r>
              <a:rPr lang="en-US" i="1" baseline="-25000" dirty="0"/>
              <a:t>k</a:t>
            </a:r>
            <a:r>
              <a:rPr lang="en-US" i="1" dirty="0"/>
              <a:t>) = k</a:t>
            </a:r>
          </a:p>
          <a:p>
            <a:r>
              <a:rPr lang="en-US" dirty="0"/>
              <a:t>A process P</a:t>
            </a:r>
            <a:r>
              <a:rPr lang="en-US" baseline="-25000" dirty="0"/>
              <a:t>k</a:t>
            </a:r>
            <a:r>
              <a:rPr lang="en-US" dirty="0"/>
              <a:t> holds an election as follows.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one who took over then holds an election.</a:t>
            </a:r>
          </a:p>
          <a:p>
            <a:r>
              <a:rPr lang="en-US" dirty="0"/>
              <a:t>Eventually, all processes give up but one which is the new coordinator.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F2BECB79-51C4-46E2-AC66-2505B0362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200400"/>
            <a:ext cx="8686800" cy="143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7722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F0CB1-443A-489F-8DF2-17810C247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Bully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2685E-DDD6-405D-A4D4-1BA831056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5230C619-8C47-40B8-95A3-7EED60201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0" y="1417638"/>
            <a:ext cx="4371204" cy="55621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F497E8-2642-7B36-FBAB-BB2F86FDC6A4}"/>
              </a:ext>
            </a:extLst>
          </p:cNvPr>
          <p:cNvSpPr txBox="1"/>
          <p:nvPr/>
        </p:nvSpPr>
        <p:spPr>
          <a:xfrm>
            <a:off x="1453582" y="4890274"/>
            <a:ext cx="1905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Node 6 receives no reply.</a:t>
            </a:r>
          </a:p>
          <a:p>
            <a:r>
              <a:rPr lang="en-US" dirty="0"/>
              <a:t>Thus, it becomes the leader.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1BC0B2-7808-41D8-1083-CDA3E6A0D2B3}"/>
              </a:ext>
            </a:extLst>
          </p:cNvPr>
          <p:cNvSpPr txBox="1"/>
          <p:nvPr/>
        </p:nvSpPr>
        <p:spPr>
          <a:xfrm>
            <a:off x="1013770" y="2382986"/>
            <a:ext cx="2415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Node 4 initiates the election process.</a:t>
            </a:r>
          </a:p>
          <a:p>
            <a:r>
              <a:rPr lang="en-US" dirty="0"/>
              <a:t>Node 7 does not reply.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B4789B-7E92-CEC6-A6D4-BED7E5E83A3C}"/>
              </a:ext>
            </a:extLst>
          </p:cNvPr>
          <p:cNvSpPr txBox="1"/>
          <p:nvPr/>
        </p:nvSpPr>
        <p:spPr>
          <a:xfrm>
            <a:off x="6802754" y="1120676"/>
            <a:ext cx="21575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Nodes 5 and 6 reply.</a:t>
            </a:r>
          </a:p>
          <a:p>
            <a:r>
              <a:rPr lang="en-US" dirty="0"/>
              <a:t>Node 4 stops sending the ELECTION message.</a:t>
            </a:r>
          </a:p>
          <a:p>
            <a:r>
              <a:rPr lang="en-US" dirty="0"/>
              <a:t>Nodes 5 and 6 send the ELECTION message to nodes with greater IDs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064A44-06EB-D95F-228F-3C474D1D2A39}"/>
              </a:ext>
            </a:extLst>
          </p:cNvPr>
          <p:cNvSpPr txBox="1"/>
          <p:nvPr/>
        </p:nvSpPr>
        <p:spPr>
          <a:xfrm>
            <a:off x="5997506" y="3648670"/>
            <a:ext cx="21575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Node 5 receives reply from Node 6.</a:t>
            </a:r>
          </a:p>
          <a:p>
            <a:r>
              <a:rPr lang="en-US" dirty="0"/>
              <a:t>Thus, it stops.</a:t>
            </a:r>
          </a:p>
        </p:txBody>
      </p:sp>
    </p:spTree>
    <p:extLst>
      <p:ext uri="{BB962C8B-B14F-4D97-AF65-F5344CB8AC3E}">
        <p14:creationId xmlns:p14="http://schemas.microsoft.com/office/powerpoint/2010/main" val="20955904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44B85-A22C-49E6-8D0C-EF7CAE99A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Ring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13102-41A8-4D88-8814-2A6296E23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 election algorithm based on a </a:t>
            </a:r>
            <a:r>
              <a:rPr lang="en-US" dirty="0">
                <a:solidFill>
                  <a:srgbClr val="0070C0"/>
                </a:solidFill>
              </a:rPr>
              <a:t>ring topology</a:t>
            </a:r>
            <a:r>
              <a:rPr lang="en-US" dirty="0"/>
              <a:t>.</a:t>
            </a:r>
          </a:p>
          <a:p>
            <a:r>
              <a:rPr lang="en-US" dirty="0"/>
              <a:t>When any process notices that the coordinator is not functioning (</a:t>
            </a:r>
            <a:r>
              <a:rPr lang="en-US" i="1" dirty="0"/>
              <a:t>i.e., </a:t>
            </a:r>
            <a:r>
              <a:rPr lang="en-US" dirty="0"/>
              <a:t>need to elect a new leader), it builds </a:t>
            </a:r>
            <a:r>
              <a:rPr lang="en-US" dirty="0">
                <a:solidFill>
                  <a:srgbClr val="0070C0"/>
                </a:solidFill>
              </a:rPr>
              <a:t>an ELECTION message </a:t>
            </a:r>
            <a:r>
              <a:rPr lang="en-US" dirty="0"/>
              <a:t>containing its identifier and sends it along the ring.</a:t>
            </a:r>
          </a:p>
          <a:p>
            <a:r>
              <a:rPr lang="en-US" dirty="0"/>
              <a:t>When the message gets back, the process with the highest identifier is found.</a:t>
            </a:r>
          </a:p>
          <a:p>
            <a:r>
              <a:rPr lang="en-US" dirty="0"/>
              <a:t>The initiator then circulates </a:t>
            </a:r>
            <a:r>
              <a:rPr lang="en-US" dirty="0">
                <a:solidFill>
                  <a:srgbClr val="0070C0"/>
                </a:solidFill>
              </a:rPr>
              <a:t>a COORDINATOR message</a:t>
            </a:r>
            <a:r>
              <a:rPr lang="en-US" dirty="0"/>
              <a:t> to inform everyone else who the coordinator is.</a:t>
            </a:r>
          </a:p>
        </p:txBody>
      </p:sp>
    </p:spTree>
    <p:extLst>
      <p:ext uri="{BB962C8B-B14F-4D97-AF65-F5344CB8AC3E}">
        <p14:creationId xmlns:p14="http://schemas.microsoft.com/office/powerpoint/2010/main" val="23918949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3305A-ABA0-4A87-8E62-AE6C04977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Elections in Wireless Environments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D4DAE-D51B-4DD0-B0A4-274BD5F08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638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We assumed that message passing is </a:t>
            </a:r>
            <a:r>
              <a:rPr lang="en-US" dirty="0">
                <a:solidFill>
                  <a:srgbClr val="0070C0"/>
                </a:solidFill>
              </a:rPr>
              <a:t>reliable,</a:t>
            </a:r>
            <a:r>
              <a:rPr lang="en-US" dirty="0"/>
              <a:t> and the </a:t>
            </a:r>
            <a:r>
              <a:rPr lang="en-US" dirty="0">
                <a:solidFill>
                  <a:srgbClr val="0070C0"/>
                </a:solidFill>
              </a:rPr>
              <a:t>topology does not change.</a:t>
            </a:r>
          </a:p>
          <a:p>
            <a:pPr lvl="1"/>
            <a:r>
              <a:rPr lang="en-US" dirty="0"/>
              <a:t>This assumption does not work in </a:t>
            </a:r>
            <a:r>
              <a:rPr lang="en-US" dirty="0">
                <a:solidFill>
                  <a:srgbClr val="C00000"/>
                </a:solidFill>
              </a:rPr>
              <a:t>wireless environments</a:t>
            </a:r>
            <a:r>
              <a:rPr lang="en-US" dirty="0"/>
              <a:t>.</a:t>
            </a:r>
          </a:p>
          <a:p>
            <a:r>
              <a:rPr lang="en-US" dirty="0" err="1"/>
              <a:t>Vasduevan</a:t>
            </a:r>
            <a:r>
              <a:rPr lang="en-US" dirty="0"/>
              <a:t> </a:t>
            </a:r>
            <a:r>
              <a:rPr lang="en-US" i="1" dirty="0"/>
              <a:t>et al.</a:t>
            </a:r>
            <a:r>
              <a:rPr lang="en-US" dirty="0"/>
              <a:t>’s solution</a:t>
            </a:r>
          </a:p>
          <a:p>
            <a:pPr lvl="1"/>
            <a:r>
              <a:rPr lang="en-US" dirty="0"/>
              <a:t>Any node initiates by sending an ELECTION message to its </a:t>
            </a:r>
            <a:r>
              <a:rPr lang="en-US" dirty="0">
                <a:solidFill>
                  <a:srgbClr val="0070C0"/>
                </a:solidFill>
              </a:rPr>
              <a:t>immediate neighbors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When a node receives this message, it designates the sender as its parent and sends the message to its immediate neighbors.</a:t>
            </a:r>
          </a:p>
          <a:p>
            <a:pPr lvl="1"/>
            <a:r>
              <a:rPr lang="en-US" dirty="0"/>
              <a:t>When a node receives an ELECTION message from a node other than its parent, it simply acknowledges the receipt.</a:t>
            </a:r>
          </a:p>
          <a:p>
            <a:pPr lvl="1"/>
            <a:r>
              <a:rPr lang="en-US" dirty="0"/>
              <a:t>If all neighbors already have a parent, </a:t>
            </a:r>
            <a:r>
              <a:rPr lang="en-US" i="1" dirty="0"/>
              <a:t>i.e.</a:t>
            </a:r>
            <a:r>
              <a:rPr lang="en-US" dirty="0"/>
              <a:t>, a leaf node, it will report back its capacity (assuming that the capacity is used as a main metric for electing the leader).</a:t>
            </a:r>
          </a:p>
          <a:p>
            <a:pPr lvl="1"/>
            <a:r>
              <a:rPr lang="en-US" dirty="0"/>
              <a:t>A node receiving the report, will compare the reports from its immediate neighbors and report back the node with the highest capacity.</a:t>
            </a:r>
          </a:p>
          <a:p>
            <a:pPr lvl="1"/>
            <a:r>
              <a:rPr lang="en-US" dirty="0"/>
              <a:t>An initiator will then be able to find the one with the highest capacity.</a:t>
            </a:r>
          </a:p>
        </p:txBody>
      </p:sp>
    </p:spTree>
    <p:extLst>
      <p:ext uri="{BB962C8B-B14F-4D97-AF65-F5344CB8AC3E}">
        <p14:creationId xmlns:p14="http://schemas.microsoft.com/office/powerpoint/2010/main" val="21040774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E9E65-38F5-4CE5-8C19-5A7E2E2F4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Elections in Wireless Environments (2/2)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808A4F1C-8447-4F41-8BC4-5BD16ABE3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596001"/>
            <a:ext cx="4419600" cy="526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8197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D5A6-C76A-4E73-BF12-17B03D26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Location Systems</a:t>
            </a:r>
          </a:p>
        </p:txBody>
      </p:sp>
    </p:spTree>
    <p:extLst>
      <p:ext uri="{BB962C8B-B14F-4D97-AF65-F5344CB8AC3E}">
        <p14:creationId xmlns:p14="http://schemas.microsoft.com/office/powerpoint/2010/main" val="36251307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C3D82-4B49-48CE-B3E9-80E2D4C00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GPS: Global Positioning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347A8-FDB2-4317-91BD-BFB53DAF4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positioning problem is simply solved through </a:t>
            </a:r>
            <a:r>
              <a:rPr lang="en-US" sz="2400" dirty="0">
                <a:solidFill>
                  <a:srgbClr val="0070C0"/>
                </a:solidFill>
              </a:rPr>
              <a:t>the Global Positioning System (GPS)</a:t>
            </a:r>
          </a:p>
          <a:p>
            <a:r>
              <a:rPr lang="en-US" sz="2400" dirty="0"/>
              <a:t>A satellite continuously broadcasts its position and time, which allows a receiver on Earth to compute its own position</a:t>
            </a:r>
          </a:p>
          <a:p>
            <a:r>
              <a:rPr lang="en-US" sz="2400" dirty="0"/>
              <a:t>An example for a two-dimensional space</a:t>
            </a:r>
          </a:p>
          <a:p>
            <a:pPr lvl="1"/>
            <a:r>
              <a:rPr lang="en-US" sz="2000" dirty="0"/>
              <a:t>Can be easily extended for a 3D space</a:t>
            </a:r>
          </a:p>
          <a:p>
            <a:pPr lvl="1"/>
            <a:r>
              <a:rPr lang="en-US" sz="2000" dirty="0"/>
              <a:t>In 3D positioning, such as GPS, at least four satellite measurements are generally needed because the receiver must also estimate its clock offset.</a:t>
            </a:r>
          </a:p>
        </p:txBody>
      </p:sp>
      <p:pic>
        <p:nvPicPr>
          <p:cNvPr id="5" name="Picture 4" descr="Diagram, venn diagram&#10;&#10;Description automatically generated">
            <a:extLst>
              <a:ext uri="{FF2B5EF4-FFF2-40B4-BE49-F238E27FC236}">
                <a16:creationId xmlns:a16="http://schemas.microsoft.com/office/drawing/2014/main" id="{48E73ED5-37D4-46CF-B46A-DF9A96670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479" y="4654424"/>
            <a:ext cx="2611041" cy="220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8434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1D925-01EC-447F-9C0A-A8F143943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GPS: Global Positioning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2EB66-2625-4B3C-945A-53EF691C5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GPS is not an option</a:t>
            </a:r>
          </a:p>
          <a:p>
            <a:pPr lvl="1"/>
            <a:r>
              <a:rPr lang="en-US" dirty="0"/>
              <a:t>A major drawback of GPS is that it does not work indoors</a:t>
            </a:r>
          </a:p>
          <a:p>
            <a:pPr lvl="1"/>
            <a:r>
              <a:rPr lang="en-US" dirty="0"/>
              <a:t>A possible solution is to use Wi-Fi access points (like satellites)</a:t>
            </a:r>
          </a:p>
          <a:p>
            <a:pPr lvl="2"/>
            <a:r>
              <a:rPr lang="en-US" dirty="0"/>
              <a:t>There are numerous Wi-Fi-based indoor localization techniques</a:t>
            </a:r>
          </a:p>
          <a:p>
            <a:pPr lvl="2"/>
            <a:r>
              <a:rPr lang="en-US" dirty="0"/>
              <a:t>Let’s read state-of-the-art papers on indoor positioning systems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970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4920</TotalTime>
  <Words>2204</Words>
  <Application>Microsoft Macintosh PowerPoint</Application>
  <PresentationFormat>On-screen Show (4:3)</PresentationFormat>
  <Paragraphs>229</Paragraphs>
  <Slides>35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COMP 7212: Operating/Distributed Systems Chapter 6: Coordination</vt:lpstr>
      <vt:lpstr>Outline</vt:lpstr>
      <vt:lpstr>Clock Synchronization</vt:lpstr>
      <vt:lpstr>Physical Clocks</vt:lpstr>
      <vt:lpstr>Clock Synchronization Algorithms (1/7)</vt:lpstr>
      <vt:lpstr>Clock Synchronization Algorithms (2/7)</vt:lpstr>
      <vt:lpstr>Clock Synchronization Algorithms (3/7)</vt:lpstr>
      <vt:lpstr>Clock Synchronization Algorithms (4/7)</vt:lpstr>
      <vt:lpstr>Clock Synchronization Algorithms (5/7)</vt:lpstr>
      <vt:lpstr>Clock Synchronization Algorithms (6/7)</vt:lpstr>
      <vt:lpstr>Clock Synchronization Algorithms (7/7)</vt:lpstr>
      <vt:lpstr>Logical Clocks</vt:lpstr>
      <vt:lpstr>Lamport’s Logical Clocks (1/2)</vt:lpstr>
      <vt:lpstr>Lamport’s Logical Clocks (2/2)</vt:lpstr>
      <vt:lpstr>Vector Clocks (1/4)</vt:lpstr>
      <vt:lpstr>Vector Clocks (2/4)</vt:lpstr>
      <vt:lpstr>Vector Clocks (3/4)</vt:lpstr>
      <vt:lpstr>Vector Clocks (4/4)</vt:lpstr>
      <vt:lpstr>Mutual Exclusion</vt:lpstr>
      <vt:lpstr>Overview</vt:lpstr>
      <vt:lpstr>Centralized Algorithm (Permission-Based)</vt:lpstr>
      <vt:lpstr>Distributed Algorithm (Permission-Based) (1/3)</vt:lpstr>
      <vt:lpstr>Distributed Algorithm (Permission-Based) (2/3)</vt:lpstr>
      <vt:lpstr>A Distributed Algorithm (Permission-Based) (3/3)</vt:lpstr>
      <vt:lpstr>A Token-Ring Algorithm (1/2)</vt:lpstr>
      <vt:lpstr>A Token-Ring Algorithm (2/2)</vt:lpstr>
      <vt:lpstr>Election Algorithms</vt:lpstr>
      <vt:lpstr>The Bully Algorithm</vt:lpstr>
      <vt:lpstr>The Bully Algorithm</vt:lpstr>
      <vt:lpstr>A Ring Algorithm</vt:lpstr>
      <vt:lpstr>Elections in Wireless Environments (1/2)</vt:lpstr>
      <vt:lpstr>Elections in Wireless Environments (2/2)</vt:lpstr>
      <vt:lpstr>Location Systems</vt:lpstr>
      <vt:lpstr>GPS: Global Positioning System</vt:lpstr>
      <vt:lpstr>GPS: Global Positioning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COSC 3360 Human Computer Interaction Introduction</dc:title>
  <dc:creator>Won, Myounggyu</dc:creator>
  <cp:lastModifiedBy>Myounggyu Won (mwon)</cp:lastModifiedBy>
  <cp:revision>744</cp:revision>
  <dcterms:created xsi:type="dcterms:W3CDTF">2006-08-16T00:00:00Z</dcterms:created>
  <dcterms:modified xsi:type="dcterms:W3CDTF">2026-10-22T18:24:36Z</dcterms:modified>
</cp:coreProperties>
</file>