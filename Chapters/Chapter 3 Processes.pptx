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1" r:id="rId6"/>
    <p:sldId id="262" r:id="rId7"/>
    <p:sldId id="288" r:id="rId8"/>
    <p:sldId id="263" r:id="rId9"/>
    <p:sldId id="296" r:id="rId10"/>
    <p:sldId id="293" r:id="rId11"/>
    <p:sldId id="264" r:id="rId12"/>
    <p:sldId id="265" r:id="rId13"/>
    <p:sldId id="297" r:id="rId14"/>
    <p:sldId id="266" r:id="rId15"/>
    <p:sldId id="267" r:id="rId16"/>
    <p:sldId id="268" r:id="rId17"/>
    <p:sldId id="269" r:id="rId18"/>
    <p:sldId id="270" r:id="rId19"/>
    <p:sldId id="298" r:id="rId20"/>
    <p:sldId id="299" r:id="rId21"/>
    <p:sldId id="273" r:id="rId22"/>
    <p:sldId id="272" r:id="rId23"/>
    <p:sldId id="274" r:id="rId24"/>
    <p:sldId id="275" r:id="rId25"/>
    <p:sldId id="276" r:id="rId26"/>
    <p:sldId id="294" r:id="rId27"/>
    <p:sldId id="277" r:id="rId28"/>
    <p:sldId id="295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9" r:id="rId37"/>
    <p:sldId id="285" r:id="rId38"/>
    <p:sldId id="286" r:id="rId39"/>
    <p:sldId id="287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82"/>
  </p:normalViewPr>
  <p:slideViewPr>
    <p:cSldViewPr>
      <p:cViewPr varScale="1">
        <p:scale>
          <a:sx n="105" d="100"/>
          <a:sy n="105" d="100"/>
        </p:scale>
        <p:origin x="16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99AA4-461E-492B-AC5F-BC73CAE80FB0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BFEC2-D1D9-4572-96CC-11D7F729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FEC2-D1D9-4572-96CC-11D7F7296F3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5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14300" y="2133600"/>
            <a:ext cx="93726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COMP 7212: Operating/Distributed Systems</a:t>
            </a:r>
            <a:br>
              <a:rPr lang="en-US" dirty="0"/>
            </a:br>
            <a:r>
              <a:rPr lang="en-US" dirty="0"/>
              <a:t>Chapter 3: Processes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</p:spPr>
        <p:txBody>
          <a:bodyPr>
            <a:normAutofit/>
          </a:bodyPr>
          <a:lstStyle/>
          <a:p>
            <a:r>
              <a:rPr lang="en-US" dirty="0"/>
              <a:t>Dr. Myounggyu Won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776C6-D20E-45D7-81C1-CB6AEE533F90}"/>
              </a:ext>
            </a:extLst>
          </p:cNvPr>
          <p:cNvSpPr txBox="1"/>
          <p:nvPr/>
        </p:nvSpPr>
        <p:spPr>
          <a:xfrm>
            <a:off x="0" y="6450568"/>
            <a:ext cx="669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Distributed Systems: Principles and Paradigms (3</a:t>
            </a:r>
            <a:r>
              <a:rPr lang="en-US" baseline="30000" dirty="0"/>
              <a:t>rd</a:t>
            </a:r>
            <a:r>
              <a:rPr lang="en-US" dirty="0"/>
              <a:t> Edition)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093BB-0342-4726-A634-21FE3B593307}"/>
              </a:ext>
            </a:extLst>
          </p:cNvPr>
          <p:cNvSpPr txBox="1"/>
          <p:nvPr/>
        </p:nvSpPr>
        <p:spPr>
          <a:xfrm>
            <a:off x="857735" y="4953000"/>
            <a:ext cx="7695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“Processes play a fundamental role in distributed systems. They form a basis for </a:t>
            </a:r>
          </a:p>
          <a:p>
            <a:pPr algn="ctr"/>
            <a:r>
              <a:rPr lang="en-US" dirty="0"/>
              <a:t>communication between different machines”.</a:t>
            </a:r>
          </a:p>
        </p:txBody>
      </p:sp>
    </p:spTree>
    <p:extLst>
      <p:ext uri="{BB962C8B-B14F-4D97-AF65-F5344CB8AC3E}">
        <p14:creationId xmlns:p14="http://schemas.microsoft.com/office/powerpoint/2010/main" val="54004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CDCB-6CD2-4E75-AB6F-9BEB229B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7EEAC-1689-4FCA-B75D-F8413C4A9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776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Threads</a:t>
            </a:r>
          </a:p>
          <a:p>
            <a:pPr lvl="1"/>
            <a:r>
              <a:rPr lang="en-US" dirty="0"/>
              <a:t>Introduction to threads</a:t>
            </a:r>
          </a:p>
          <a:p>
            <a:pPr lvl="1"/>
            <a:r>
              <a:rPr lang="en-US" dirty="0"/>
              <a:t>Threads in distributed systems</a:t>
            </a:r>
          </a:p>
          <a:p>
            <a:r>
              <a:rPr lang="en-US" dirty="0"/>
              <a:t>Virtualization</a:t>
            </a:r>
          </a:p>
          <a:p>
            <a:pPr lvl="1"/>
            <a:r>
              <a:rPr lang="en-US" dirty="0"/>
              <a:t>Principle of virtualization</a:t>
            </a:r>
          </a:p>
          <a:p>
            <a:pPr lvl="1"/>
            <a:r>
              <a:rPr lang="en-US" dirty="0"/>
              <a:t>Application of virtualization</a:t>
            </a:r>
          </a:p>
          <a:p>
            <a:r>
              <a:rPr lang="en-US" dirty="0"/>
              <a:t>Clients (Client Processes)</a:t>
            </a:r>
          </a:p>
          <a:p>
            <a:pPr lvl="1"/>
            <a:r>
              <a:rPr lang="en-US" dirty="0"/>
              <a:t>Networked user interfaces</a:t>
            </a:r>
          </a:p>
          <a:p>
            <a:pPr lvl="1"/>
            <a:r>
              <a:rPr lang="en-US" dirty="0"/>
              <a:t>Client-side software for distribution transparency</a:t>
            </a:r>
          </a:p>
          <a:p>
            <a:r>
              <a:rPr lang="en-US" dirty="0"/>
              <a:t>Servers (Server Processes)</a:t>
            </a:r>
          </a:p>
          <a:p>
            <a:pPr lvl="1"/>
            <a:r>
              <a:rPr lang="en-US" dirty="0"/>
              <a:t>Design issues</a:t>
            </a:r>
          </a:p>
          <a:p>
            <a:pPr lvl="1"/>
            <a:r>
              <a:rPr lang="en-US" dirty="0"/>
              <a:t>Object servers</a:t>
            </a:r>
          </a:p>
        </p:txBody>
      </p:sp>
    </p:spTree>
    <p:extLst>
      <p:ext uri="{BB962C8B-B14F-4D97-AF65-F5344CB8AC3E}">
        <p14:creationId xmlns:p14="http://schemas.microsoft.com/office/powerpoint/2010/main" val="897047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Threads</a:t>
            </a:r>
          </a:p>
        </p:txBody>
      </p:sp>
    </p:spTree>
    <p:extLst>
      <p:ext uri="{BB962C8B-B14F-4D97-AF65-F5344CB8AC3E}">
        <p14:creationId xmlns:p14="http://schemas.microsoft.com/office/powerpoint/2010/main" val="2226165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03D3-7D68-4610-83CD-25FB1D8F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Threads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05903-3230-49F4-B5DC-A3C2DA2E8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666999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Process</a:t>
            </a:r>
            <a:r>
              <a:rPr lang="en-US" dirty="0"/>
              <a:t>: a program in execution; an independent address space is created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chemeClr val="accent1"/>
                </a:solidFill>
              </a:rPr>
              <a:t>thread</a:t>
            </a:r>
            <a:r>
              <a:rPr lang="en-US" dirty="0"/>
              <a:t> is a basic unit of CPU utilization.</a:t>
            </a:r>
          </a:p>
          <a:p>
            <a:r>
              <a:rPr lang="en-US" dirty="0"/>
              <a:t>It comprises a thread ID, a </a:t>
            </a:r>
            <a:r>
              <a:rPr lang="en-US" dirty="0">
                <a:solidFill>
                  <a:schemeClr val="accent1"/>
                </a:solidFill>
              </a:rPr>
              <a:t>program counter</a:t>
            </a:r>
            <a:r>
              <a:rPr lang="en-US" dirty="0"/>
              <a:t>, a </a:t>
            </a:r>
            <a:r>
              <a:rPr lang="en-US" dirty="0">
                <a:solidFill>
                  <a:schemeClr val="accent1"/>
                </a:solidFill>
              </a:rPr>
              <a:t>register set</a:t>
            </a:r>
            <a:r>
              <a:rPr lang="en-US" dirty="0"/>
              <a:t>, and a </a:t>
            </a:r>
            <a:r>
              <a:rPr lang="en-US" dirty="0">
                <a:solidFill>
                  <a:schemeClr val="accent1"/>
                </a:solidFill>
              </a:rPr>
              <a:t>stack</a:t>
            </a:r>
            <a:r>
              <a:rPr lang="en-US" dirty="0"/>
              <a:t>.</a:t>
            </a:r>
          </a:p>
          <a:p>
            <a:r>
              <a:rPr lang="en-US" dirty="0"/>
              <a:t>It </a:t>
            </a:r>
            <a:r>
              <a:rPr lang="en-US" dirty="0">
                <a:solidFill>
                  <a:schemeClr val="accent1"/>
                </a:solidFill>
              </a:rPr>
              <a:t>shares</a:t>
            </a:r>
            <a:r>
              <a:rPr lang="en-US" dirty="0"/>
              <a:t> with other threads belonging to the same process its code section, data section, and other operating-system resources, such as open files.</a:t>
            </a:r>
          </a:p>
          <a:p>
            <a:pPr lvl="1"/>
            <a:r>
              <a:rPr lang="en-US" sz="2400" dirty="0"/>
              <a:t>Programmer’s job to divide the code into code blocks that are executed by each thread</a:t>
            </a:r>
          </a:p>
          <a:p>
            <a:endParaRPr lang="en-US" dirty="0"/>
          </a:p>
        </p:txBody>
      </p:sp>
      <p:pic>
        <p:nvPicPr>
          <p:cNvPr id="1026" name="Picture 2" descr="Operating Systems: Threads">
            <a:extLst>
              <a:ext uri="{FF2B5EF4-FFF2-40B4-BE49-F238E27FC236}">
                <a16:creationId xmlns:a16="http://schemas.microsoft.com/office/drawing/2014/main" id="{AA3CF158-6BC2-8E17-7D74-AF2E79F44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792969"/>
            <a:ext cx="5080000" cy="2929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822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732B8-5530-4FBC-91FD-5BCF17AA8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Threads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E0E13-1FFA-48CA-9E4A-68D2B20C6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Most applications are multi threaded.</a:t>
            </a:r>
          </a:p>
          <a:p>
            <a:r>
              <a:rPr lang="en-US" sz="2400" dirty="0"/>
              <a:t>Most OS kernels are multi threaded.</a:t>
            </a:r>
          </a:p>
          <a:p>
            <a:r>
              <a:rPr lang="en-US" sz="2400" i="1" dirty="0"/>
              <a:t>e.g.</a:t>
            </a:r>
            <a:r>
              <a:rPr lang="en-US" sz="2400" dirty="0"/>
              <a:t>, </a:t>
            </a:r>
          </a:p>
          <a:p>
            <a:pPr lvl="1"/>
            <a:r>
              <a:rPr lang="en-US" sz="2000" dirty="0"/>
              <a:t>web browser</a:t>
            </a:r>
          </a:p>
          <a:p>
            <a:pPr lvl="2"/>
            <a:r>
              <a:rPr lang="en-US" sz="1800" dirty="0"/>
              <a:t>Display image; retrieves data from the network.</a:t>
            </a:r>
          </a:p>
          <a:p>
            <a:pPr lvl="1"/>
            <a:r>
              <a:rPr lang="en-US" sz="2000" dirty="0"/>
              <a:t>Word processor</a:t>
            </a:r>
          </a:p>
          <a:p>
            <a:pPr lvl="2"/>
            <a:r>
              <a:rPr lang="en-US" sz="1800" dirty="0"/>
              <a:t>Display graphics; read user keystrokes; check grammar.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49CBD-B9E6-49AE-AF36-9F5D9DAD1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267200"/>
            <a:ext cx="6400800" cy="23597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845C31-1EDD-4242-B915-6595F76D6861}"/>
              </a:ext>
            </a:extLst>
          </p:cNvPr>
          <p:cNvSpPr txBox="1"/>
          <p:nvPr/>
        </p:nvSpPr>
        <p:spPr>
          <a:xfrm>
            <a:off x="2552243" y="6533855"/>
            <a:ext cx="342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 threaded server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31308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F55F-8022-449B-A93A-6C0737B8B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Threads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46ACF-EE2C-4B9D-8EEA-BAC758367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Benefits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Responsiveness</a:t>
            </a:r>
            <a:r>
              <a:rPr lang="en-US" dirty="0"/>
              <a:t>: a program continues to execute even if a part of it is </a:t>
            </a:r>
            <a:r>
              <a:rPr lang="en-US" dirty="0">
                <a:solidFill>
                  <a:srgbClr val="C00000"/>
                </a:solidFill>
              </a:rPr>
              <a:t>blocked</a:t>
            </a:r>
            <a:r>
              <a:rPr lang="en-US" dirty="0"/>
              <a:t> (</a:t>
            </a:r>
            <a:r>
              <a:rPr lang="en-US" i="1" dirty="0"/>
              <a:t>e.g., </a:t>
            </a:r>
            <a:r>
              <a:rPr lang="en-US" dirty="0"/>
              <a:t>I/O operation).</a:t>
            </a:r>
          </a:p>
          <a:p>
            <a:pPr lvl="2"/>
            <a:r>
              <a:rPr lang="en-US" dirty="0"/>
              <a:t>Useful for user interface design.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Resource Sharing</a:t>
            </a:r>
            <a:r>
              <a:rPr lang="en-US" dirty="0"/>
              <a:t>: threads share the code, data, and OS resources.	</a:t>
            </a:r>
          </a:p>
          <a:p>
            <a:pPr lvl="2"/>
            <a:r>
              <a:rPr lang="en-US" dirty="0"/>
              <a:t>Processes share resources via inter-process communication (</a:t>
            </a:r>
            <a:r>
              <a:rPr lang="en-US" dirty="0">
                <a:solidFill>
                  <a:srgbClr val="C00000"/>
                </a:solidFill>
              </a:rPr>
              <a:t>overhead</a:t>
            </a:r>
            <a:r>
              <a:rPr lang="en-US" dirty="0"/>
              <a:t> &amp; </a:t>
            </a:r>
            <a:r>
              <a:rPr lang="en-US" dirty="0">
                <a:solidFill>
                  <a:srgbClr val="C00000"/>
                </a:solidFill>
              </a:rPr>
              <a:t>programming burden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Economy</a:t>
            </a:r>
            <a:r>
              <a:rPr lang="en-US" dirty="0"/>
              <a:t>: lightweight to create threads since they share resources.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Scalability</a:t>
            </a:r>
            <a:r>
              <a:rPr lang="en-US" dirty="0"/>
              <a:t>: threads may be running in parallel on different processing cores.</a:t>
            </a:r>
          </a:p>
          <a:p>
            <a:pPr lvl="2"/>
            <a:r>
              <a:rPr lang="en-US" dirty="0"/>
              <a:t>A single threaded process can run on a single CPU.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434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63D3-FFC8-4D97-B547-29DD29C24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Threads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DE316-DFE4-48F4-B140-10818181B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Having a </a:t>
            </a:r>
            <a:r>
              <a:rPr lang="en-US" dirty="0">
                <a:solidFill>
                  <a:srgbClr val="0070C0"/>
                </a:solidFill>
              </a:rPr>
              <a:t>finer granularity in the form of multiple threads per process </a:t>
            </a:r>
            <a:r>
              <a:rPr lang="en-US" dirty="0"/>
              <a:t>makes it easier to build a distributed applications and achieve </a:t>
            </a:r>
            <a:r>
              <a:rPr lang="en-US" dirty="0">
                <a:solidFill>
                  <a:srgbClr val="0070C0"/>
                </a:solidFill>
              </a:rPr>
              <a:t>better performance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By breaking a process into multiple threads, it is more flexible to manage; responsiveness is improved; and CPU utilization is improved.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124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0EFD-E178-43D4-8BA9-302A5FDCE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Implementation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3489A-AF99-4BDA-96F9-4CF48B57A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Two approaches </a:t>
            </a:r>
            <a:r>
              <a:rPr lang="en-US" dirty="0"/>
              <a:t>of creating threads</a:t>
            </a:r>
          </a:p>
          <a:p>
            <a:pPr lvl="1"/>
            <a:r>
              <a:rPr lang="en-US" dirty="0"/>
              <a:t>Use a user-level library to create a thread</a:t>
            </a:r>
          </a:p>
          <a:p>
            <a:pPr lvl="2"/>
            <a:r>
              <a:rPr lang="en-US" dirty="0"/>
              <a:t>The operating system is not aware of the presence of these threads. </a:t>
            </a:r>
          </a:p>
          <a:p>
            <a:pPr lvl="2"/>
            <a:r>
              <a:rPr lang="en-US" dirty="0"/>
              <a:t>Advantages</a:t>
            </a:r>
          </a:p>
          <a:p>
            <a:pPr lvl="3"/>
            <a:r>
              <a:rPr lang="en-US" dirty="0">
                <a:solidFill>
                  <a:srgbClr val="C00000"/>
                </a:solidFill>
              </a:rPr>
              <a:t>Speed</a:t>
            </a:r>
          </a:p>
          <a:p>
            <a:pPr lvl="3"/>
            <a:r>
              <a:rPr lang="en-US" dirty="0">
                <a:solidFill>
                  <a:srgbClr val="C00000"/>
                </a:solidFill>
              </a:rPr>
              <a:t>Control</a:t>
            </a:r>
          </a:p>
          <a:p>
            <a:pPr lvl="3"/>
            <a:r>
              <a:rPr lang="en-US" dirty="0">
                <a:solidFill>
                  <a:srgbClr val="C00000"/>
                </a:solidFill>
              </a:rPr>
              <a:t>Efficiency</a:t>
            </a:r>
            <a:r>
              <a:rPr lang="en-US" dirty="0"/>
              <a:t> (i.e., kernel is not involved)</a:t>
            </a:r>
          </a:p>
          <a:p>
            <a:pPr lvl="2"/>
            <a:r>
              <a:rPr lang="en-US" dirty="0"/>
              <a:t> Disadvantages</a:t>
            </a:r>
          </a:p>
          <a:p>
            <a:pPr lvl="3"/>
            <a:r>
              <a:rPr lang="en-US" dirty="0">
                <a:solidFill>
                  <a:srgbClr val="C00000"/>
                </a:solidFill>
              </a:rPr>
              <a:t>Blocking issue </a:t>
            </a:r>
          </a:p>
          <a:p>
            <a:pPr lvl="3"/>
            <a:r>
              <a:rPr lang="en-US" dirty="0">
                <a:solidFill>
                  <a:srgbClr val="C00000"/>
                </a:solidFill>
              </a:rPr>
              <a:t>No kernel-level prioritization </a:t>
            </a:r>
            <a:r>
              <a:rPr lang="en-US" dirty="0"/>
              <a:t>(Since kernel is not involved, no optimization for scheduling is applied).</a:t>
            </a:r>
          </a:p>
          <a:p>
            <a:pPr lvl="3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220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8704B-A9AE-1973-197F-D4A2A7F7F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Implementation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B875F-EE00-C5B3-824C-E4BF1488A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Two approaches </a:t>
            </a:r>
            <a:r>
              <a:rPr lang="en-US" dirty="0"/>
              <a:t>of creating threads </a:t>
            </a:r>
            <a:r>
              <a:rPr lang="en-US" i="1" dirty="0"/>
              <a:t>cont.</a:t>
            </a:r>
          </a:p>
          <a:p>
            <a:pPr lvl="1"/>
            <a:r>
              <a:rPr lang="en-US" dirty="0"/>
              <a:t>Use the system calls of kernel to create threads</a:t>
            </a:r>
          </a:p>
          <a:p>
            <a:pPr lvl="1"/>
            <a:r>
              <a:rPr lang="en-US" dirty="0"/>
              <a:t>Advantages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Concurrency</a:t>
            </a:r>
            <a:r>
              <a:rPr lang="en-US" dirty="0"/>
              <a:t> – true concurrency is achieved. For user-level threads, “simulated” concurrency is used. 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Better Integration with Kernel </a:t>
            </a:r>
            <a:r>
              <a:rPr lang="en-US" dirty="0"/>
              <a:t>– Advanced scheduling techniques can be applied 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Robustness </a:t>
            </a:r>
            <a:r>
              <a:rPr lang="en-US" dirty="0"/>
              <a:t>– no blocking issue </a:t>
            </a:r>
          </a:p>
          <a:p>
            <a:pPr lvl="1"/>
            <a:r>
              <a:rPr lang="en-US" dirty="0"/>
              <a:t>Disadvantages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Overhead</a:t>
            </a:r>
            <a:r>
              <a:rPr lang="en-US" dirty="0"/>
              <a:t> – subject to resource-intensive context switches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Complexity</a:t>
            </a:r>
            <a:r>
              <a:rPr lang="en-US" dirty="0"/>
              <a:t> – More complex to implement and harder to debug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440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2039A-DB67-F7EB-3549-B9128F82A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Implementation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987FE-DAB6-7966-5A30-88D48CF40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User-level thread library</a:t>
            </a:r>
          </a:p>
          <a:p>
            <a:pPr lvl="1"/>
            <a:r>
              <a:rPr lang="en-US" dirty="0"/>
              <a:t>Cheap to create and destroy threads</a:t>
            </a:r>
          </a:p>
          <a:p>
            <a:pPr lvl="2"/>
            <a:r>
              <a:rPr lang="en-US" dirty="0"/>
              <a:t>All thread administration is kept in the </a:t>
            </a:r>
            <a:r>
              <a:rPr lang="en-US" dirty="0">
                <a:solidFill>
                  <a:srgbClr val="0070C0"/>
                </a:solidFill>
              </a:rPr>
              <a:t>user space</a:t>
            </a:r>
          </a:p>
          <a:p>
            <a:pPr lvl="1"/>
            <a:r>
              <a:rPr lang="en-US" dirty="0"/>
              <a:t>Switching threads can be done in just a few instructions</a:t>
            </a:r>
          </a:p>
          <a:p>
            <a:pPr lvl="1"/>
            <a:r>
              <a:rPr lang="en-US" dirty="0"/>
              <a:t>However, since multiple threads are mapped to a single schedulable entity (</a:t>
            </a:r>
            <a:r>
              <a:rPr lang="en-US" dirty="0">
                <a:solidFill>
                  <a:srgbClr val="0070C0"/>
                </a:solidFill>
              </a:rPr>
              <a:t>many-to-one threading model</a:t>
            </a:r>
            <a:r>
              <a:rPr lang="en-US" dirty="0"/>
              <a:t>), the invocation of a blocking system call will block the entire process to which the threads belong.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64DC86-CE83-B514-43F4-DDC25FAB0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299291"/>
            <a:ext cx="26924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996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C3E9B-ADD8-4E38-B7BB-8C43383A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Implementation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0B49C-3832-4C38-8409-C20E2FBF2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943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Implementing threading in the operating system’s kernel (</a:t>
            </a:r>
            <a:r>
              <a:rPr lang="en-US" dirty="0">
                <a:solidFill>
                  <a:srgbClr val="0070C0"/>
                </a:solidFill>
              </a:rPr>
              <a:t>one-to-one threading model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Every thread is a schedulable entity.</a:t>
            </a:r>
          </a:p>
          <a:p>
            <a:pPr lvl="1"/>
            <a:r>
              <a:rPr lang="en-US" dirty="0"/>
              <a:t>Every </a:t>
            </a:r>
            <a:r>
              <a:rPr lang="en-US" dirty="0">
                <a:solidFill>
                  <a:srgbClr val="0070C0"/>
                </a:solidFill>
              </a:rPr>
              <a:t>thread operation </a:t>
            </a:r>
            <a:r>
              <a:rPr lang="en-US" dirty="0"/>
              <a:t>(creation, deletion, synchronization, </a:t>
            </a:r>
            <a:r>
              <a:rPr lang="en-US" i="1" dirty="0"/>
              <a:t>etc.</a:t>
            </a:r>
            <a:r>
              <a:rPr lang="en-US" dirty="0"/>
              <a:t>) has to be done by the kernel, requiring a </a:t>
            </a:r>
            <a:r>
              <a:rPr lang="en-US" dirty="0">
                <a:solidFill>
                  <a:srgbClr val="0070C0"/>
                </a:solidFill>
              </a:rPr>
              <a:t>system call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blocking thread problem is addressed; however, the cost of running a thread is more </a:t>
            </a:r>
            <a:r>
              <a:rPr lang="en-US" dirty="0">
                <a:solidFill>
                  <a:srgbClr val="C00000"/>
                </a:solidFill>
              </a:rPr>
              <a:t>expensive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A6DEDB-89A0-F30F-4F86-A18912D4F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219" y="2133600"/>
            <a:ext cx="265430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09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42996-B771-4B6B-AC1D-C3CADFFF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Threads in Distributed Systems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3501E-C49C-456C-BFFE-BF2288055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/>
          </a:bodyPr>
          <a:lstStyle/>
          <a:p>
            <a:r>
              <a:rPr lang="en-US" dirty="0"/>
              <a:t>An important property of threads (one-to-one or many-to-many mapping) is that they allow </a:t>
            </a:r>
            <a:r>
              <a:rPr lang="en-US" dirty="0">
                <a:solidFill>
                  <a:srgbClr val="0070C0"/>
                </a:solidFill>
              </a:rPr>
              <a:t>blocking system calls </a:t>
            </a:r>
            <a:r>
              <a:rPr lang="en-US" dirty="0"/>
              <a:t>without blocking the entire process.	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blocking system call </a:t>
            </a:r>
            <a:r>
              <a:rPr lang="en-US" dirty="0"/>
              <a:t>is a function that causes the calling process (or thread) to be suspended until the event associated with the system call completes.</a:t>
            </a:r>
          </a:p>
          <a:p>
            <a:pPr lvl="1"/>
            <a:r>
              <a:rPr lang="en-US" dirty="0"/>
              <a:t>Makes it much easier for a node to maintain multiple logical connections with other nodes at the same time.</a:t>
            </a:r>
          </a:p>
          <a:p>
            <a:pPr lvl="2"/>
            <a:r>
              <a:rPr lang="en-US" dirty="0"/>
              <a:t>Each connection is managed by a </a:t>
            </a:r>
            <a:r>
              <a:rPr lang="en-US" dirty="0">
                <a:solidFill>
                  <a:srgbClr val="0070C0"/>
                </a:solidFill>
              </a:rPr>
              <a:t>separate thread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8831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C23C1-6CEE-CCA2-AE02-B2589A0B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0435-9163-4684-504E-DC986A8D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Threads in Distributed Systems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48493-222D-8CD2-348B-608D1CB0A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/>
              <a:t>Example: Multithreaded clients</a:t>
            </a:r>
          </a:p>
          <a:p>
            <a:pPr lvl="1"/>
            <a:r>
              <a:rPr lang="en-US" dirty="0"/>
              <a:t>In many distributed systems, we need to conceal </a:t>
            </a:r>
            <a:r>
              <a:rPr lang="en-US" dirty="0">
                <a:solidFill>
                  <a:srgbClr val="C00000"/>
                </a:solidFill>
              </a:rPr>
              <a:t>long inter-process message propagation delay</a:t>
            </a:r>
          </a:p>
          <a:p>
            <a:pPr lvl="1"/>
            <a:r>
              <a:rPr lang="en-US" dirty="0"/>
              <a:t>One way to conceal the propagation delay is to initiate communication (managed by a separate thread) and immediately proceed with something else</a:t>
            </a:r>
          </a:p>
          <a:p>
            <a:pPr lvl="2"/>
            <a:r>
              <a:rPr lang="en-US" dirty="0"/>
              <a:t>A web browser displaying data while data is coming</a:t>
            </a:r>
          </a:p>
          <a:p>
            <a:pPr lvl="2"/>
            <a:r>
              <a:rPr lang="en-US" dirty="0"/>
              <a:t>Several connections can be opened simultaneously with replicated servers.</a:t>
            </a:r>
          </a:p>
        </p:txBody>
      </p:sp>
    </p:spTree>
    <p:extLst>
      <p:ext uri="{BB962C8B-B14F-4D97-AF65-F5344CB8AC3E}">
        <p14:creationId xmlns:p14="http://schemas.microsoft.com/office/powerpoint/2010/main" val="2638927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B5C7-DEFC-48B6-B715-69FA19527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Threads in Distributed Systems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332B9-B3C1-452C-B801-9B755DCC3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r>
              <a:rPr lang="en-US" sz="2400" dirty="0"/>
              <a:t>Example: Multithreaded servers</a:t>
            </a:r>
          </a:p>
          <a:p>
            <a:pPr lvl="1"/>
            <a:r>
              <a:rPr lang="en-US" sz="2000" dirty="0"/>
              <a:t>The main use of multithreads is usually found at the server side.</a:t>
            </a:r>
          </a:p>
          <a:p>
            <a:pPr lvl="1"/>
            <a:r>
              <a:rPr lang="en-US" sz="2000" dirty="0"/>
              <a:t>Consider a </a:t>
            </a:r>
            <a:r>
              <a:rPr lang="en-US" sz="2000" dirty="0">
                <a:solidFill>
                  <a:srgbClr val="0070C0"/>
                </a:solidFill>
              </a:rPr>
              <a:t>file server </a:t>
            </a:r>
            <a:r>
              <a:rPr lang="en-US" sz="2000" dirty="0"/>
              <a:t>as an example</a:t>
            </a:r>
          </a:p>
          <a:p>
            <a:pPr lvl="2"/>
            <a:r>
              <a:rPr lang="en-US" sz="1600" dirty="0"/>
              <a:t>Waits for an incoming request for a file operation</a:t>
            </a:r>
          </a:p>
          <a:p>
            <a:pPr lvl="2"/>
            <a:r>
              <a:rPr lang="en-US" sz="1600" dirty="0"/>
              <a:t>Carries out the request using a separate thread (worker thread)</a:t>
            </a:r>
          </a:p>
          <a:p>
            <a:pPr lvl="2"/>
            <a:r>
              <a:rPr lang="en-US" sz="1600" dirty="0"/>
              <a:t>Sends back the reply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46F6526-2E18-4FF8-ACD1-65DBBFCDD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429000"/>
            <a:ext cx="7543800" cy="332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45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Virtualization</a:t>
            </a:r>
            <a:br>
              <a:rPr lang="en-US" dirty="0"/>
            </a:br>
            <a:br>
              <a:rPr lang="en-US" dirty="0"/>
            </a:br>
            <a:r>
              <a:rPr lang="en-US" sz="2200" dirty="0"/>
              <a:t>A key to running processes on heterogeneous nodes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78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202E7-E4CF-4550-84E8-ED66FFD27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Virtualization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36B7-DE15-45AA-939E-414CBF251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8755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Virtualization</a:t>
            </a:r>
            <a:r>
              <a:rPr lang="en-US" dirty="0"/>
              <a:t> deals with extending or replacing an existing interface so as to mimic the behavior of another system.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2F0B647-9D2C-42C3-BF47-72C431F8A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635" y="3621737"/>
            <a:ext cx="5410200" cy="30838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7CE58C-A15D-4A97-B49E-57D7D3030CDD}"/>
              </a:ext>
            </a:extLst>
          </p:cNvPr>
          <p:cNvSpPr txBox="1"/>
          <p:nvPr/>
        </p:nvSpPr>
        <p:spPr>
          <a:xfrm>
            <a:off x="150036" y="3621737"/>
            <a:ext cx="37294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e.g., </a:t>
            </a:r>
            <a:r>
              <a:rPr lang="en-US" dirty="0"/>
              <a:t>basic instruction set, </a:t>
            </a:r>
          </a:p>
          <a:p>
            <a:r>
              <a:rPr lang="en-US" dirty="0"/>
              <a:t>programming API, designed to access </a:t>
            </a:r>
          </a:p>
          <a:p>
            <a:r>
              <a:rPr lang="en-US" dirty="0"/>
              <a:t>Hardware system 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DDEDC3-CA5C-4D77-986D-805AD097C57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014746" y="4545067"/>
            <a:ext cx="637997" cy="954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2A8737-51B4-4F8A-8109-E6772FA96C46}"/>
              </a:ext>
            </a:extLst>
          </p:cNvPr>
          <p:cNvSpPr txBox="1"/>
          <p:nvPr/>
        </p:nvSpPr>
        <p:spPr>
          <a:xfrm>
            <a:off x="4316190" y="3105834"/>
            <a:ext cx="49160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virtualization layer that replaces the original</a:t>
            </a:r>
          </a:p>
          <a:p>
            <a:r>
              <a:rPr lang="en-US" dirty="0"/>
              <a:t>interface B with the new one A to allow for access </a:t>
            </a:r>
          </a:p>
          <a:p>
            <a:r>
              <a:rPr lang="en-US" dirty="0"/>
              <a:t>to the hardware with the new interface.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474983-D19B-4682-A8EB-2277E5B2AC91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6491258" y="4029164"/>
            <a:ext cx="282977" cy="848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159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FBD9B-126D-4E25-A2EF-38D990EB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Principles of Virtualization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F20EB-9638-49A7-9157-CBB346E74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729126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One of the most important reasons for using virtualization in 1970s was to run </a:t>
            </a:r>
            <a:r>
              <a:rPr lang="en-US" dirty="0">
                <a:solidFill>
                  <a:srgbClr val="C00000"/>
                </a:solidFill>
              </a:rPr>
              <a:t>legacy software </a:t>
            </a:r>
            <a:r>
              <a:rPr lang="en-US" dirty="0"/>
              <a:t>on expensive mainframe hardware</a:t>
            </a:r>
          </a:p>
          <a:p>
            <a:pPr lvl="1"/>
            <a:r>
              <a:rPr lang="en-US" dirty="0"/>
              <a:t>A</a:t>
            </a:r>
            <a:r>
              <a:rPr lang="en-US" dirty="0">
                <a:solidFill>
                  <a:srgbClr val="0070C0"/>
                </a:solidFill>
              </a:rPr>
              <a:t> virtualized interface </a:t>
            </a:r>
            <a:r>
              <a:rPr lang="en-US" dirty="0"/>
              <a:t>to allow legacy software to run on the new hardware platform.</a:t>
            </a:r>
          </a:p>
          <a:p>
            <a:pPr lvl="1"/>
            <a:r>
              <a:rPr lang="en-US" dirty="0"/>
              <a:t>Provides a high degree of </a:t>
            </a:r>
            <a:r>
              <a:rPr lang="en-US" dirty="0">
                <a:solidFill>
                  <a:srgbClr val="0070C0"/>
                </a:solidFill>
              </a:rPr>
              <a:t>portability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flexibility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Support for </a:t>
            </a:r>
            <a:r>
              <a:rPr lang="en-US" dirty="0">
                <a:solidFill>
                  <a:srgbClr val="0070C0"/>
                </a:solidFill>
              </a:rPr>
              <a:t>easier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replication</a:t>
            </a:r>
            <a:r>
              <a:rPr lang="en-US" dirty="0"/>
              <a:t> of content on heterogeneous platforms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12C4FB-FC27-7228-A48A-3B121C5F2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326" y="2133600"/>
            <a:ext cx="3530600" cy="3390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69AFCD-178C-9F5A-CFEA-E31F5DC3B833}"/>
              </a:ext>
            </a:extLst>
          </p:cNvPr>
          <p:cNvSpPr txBox="1"/>
          <p:nvPr/>
        </p:nvSpPr>
        <p:spPr>
          <a:xfrm>
            <a:off x="6635923" y="4419600"/>
            <a:ext cx="61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388786-9A90-F893-B057-4191674DC56B}"/>
              </a:ext>
            </a:extLst>
          </p:cNvPr>
          <p:cNvSpPr txBox="1"/>
          <p:nvPr/>
        </p:nvSpPr>
        <p:spPr>
          <a:xfrm>
            <a:off x="5738040" y="2895600"/>
            <a:ext cx="815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Legacy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4A48C4-8C65-9EA0-E853-EE5104E817B7}"/>
              </a:ext>
            </a:extLst>
          </p:cNvPr>
          <p:cNvSpPr txBox="1"/>
          <p:nvPr/>
        </p:nvSpPr>
        <p:spPr>
          <a:xfrm>
            <a:off x="5715000" y="2259568"/>
            <a:ext cx="815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Legacy</a:t>
            </a:r>
          </a:p>
        </p:txBody>
      </p:sp>
    </p:spTree>
    <p:extLst>
      <p:ext uri="{BB962C8B-B14F-4D97-AF65-F5344CB8AC3E}">
        <p14:creationId xmlns:p14="http://schemas.microsoft.com/office/powerpoint/2010/main" val="2352804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0F772-7CA2-4998-8FED-4D75E137C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E5AA3-520D-4C1A-8A2D-DD97D29B3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562600"/>
          </a:xfrm>
        </p:spPr>
        <p:txBody>
          <a:bodyPr>
            <a:normAutofit/>
          </a:bodyPr>
          <a:lstStyle/>
          <a:p>
            <a:r>
              <a:rPr lang="en-US" sz="2400" dirty="0"/>
              <a:t>There are many different ways in which virtualization can be realized. </a:t>
            </a:r>
          </a:p>
          <a:p>
            <a:r>
              <a:rPr lang="en-US" sz="2400" dirty="0"/>
              <a:t>To understand the different types of virtualization, it is important to understand first that computer systems generally </a:t>
            </a:r>
            <a:r>
              <a:rPr lang="en-US" sz="2400" dirty="0">
                <a:solidFill>
                  <a:srgbClr val="0070C0"/>
                </a:solidFill>
              </a:rPr>
              <a:t>offer four different types of interfaces</a:t>
            </a:r>
            <a:r>
              <a:rPr lang="en-US" sz="2400" dirty="0"/>
              <a:t>, at </a:t>
            </a:r>
            <a:r>
              <a:rPr lang="en-US" sz="2400" dirty="0">
                <a:solidFill>
                  <a:srgbClr val="0070C0"/>
                </a:solidFill>
              </a:rPr>
              <a:t>three different levels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29E94168-5422-4E9C-BD2E-5D230843A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3505200"/>
            <a:ext cx="6629400" cy="27036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6F56C7-45DA-1A02-9576-C23D53E4C7D9}"/>
              </a:ext>
            </a:extLst>
          </p:cNvPr>
          <p:cNvSpPr txBox="1"/>
          <p:nvPr/>
        </p:nvSpPr>
        <p:spPr>
          <a:xfrm>
            <a:off x="6705600" y="5562600"/>
            <a:ext cx="171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users and 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D4040A-CCE5-4296-67FC-AD68215338D7}"/>
              </a:ext>
            </a:extLst>
          </p:cNvPr>
          <p:cNvSpPr txBox="1"/>
          <p:nvPr/>
        </p:nvSpPr>
        <p:spPr>
          <a:xfrm>
            <a:off x="1600200" y="5562600"/>
            <a:ext cx="121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OS only</a:t>
            </a:r>
          </a:p>
        </p:txBody>
      </p:sp>
    </p:spTree>
    <p:extLst>
      <p:ext uri="{BB962C8B-B14F-4D97-AF65-F5344CB8AC3E}">
        <p14:creationId xmlns:p14="http://schemas.microsoft.com/office/powerpoint/2010/main" val="1664547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B66C9-BDA5-BED8-23F7-52DE9DD1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Virtual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416C9-D22D-BBDC-38A3-CC4BAD1CC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type of </a:t>
            </a:r>
            <a:r>
              <a:rPr lang="en-US" dirty="0">
                <a:solidFill>
                  <a:srgbClr val="0070C0"/>
                </a:solidFill>
              </a:rPr>
              <a:t>virtual machine (VM) </a:t>
            </a:r>
            <a:r>
              <a:rPr lang="en-US" dirty="0"/>
              <a:t>that provides a virtualized execution environment for a </a:t>
            </a:r>
            <a:r>
              <a:rPr lang="en-US" b="1" dirty="0"/>
              <a:t>single program/process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Virtualizes all layers</a:t>
            </a:r>
          </a:p>
          <a:p>
            <a:r>
              <a:rPr lang="en-US" dirty="0"/>
              <a:t>This abstraction allows a process to run on </a:t>
            </a:r>
            <a:r>
              <a:rPr lang="en-US" b="1" dirty="0"/>
              <a:t>any underlying hardware or operating system</a:t>
            </a:r>
            <a:r>
              <a:rPr lang="en-US" dirty="0"/>
              <a:t> that supports the VM, without needing modification.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Java Virtual Machine (JVM)</a:t>
            </a:r>
          </a:p>
          <a:p>
            <a:pPr lvl="2"/>
            <a:r>
              <a:rPr lang="en-US" dirty="0"/>
              <a:t>The JVM allows Java programs to run on any device and any OS that have a JVM installed. </a:t>
            </a:r>
          </a:p>
          <a:p>
            <a:pPr lvl="1"/>
            <a:r>
              <a:rPr lang="en-US" dirty="0"/>
              <a:t>.NET Framework Common Language Runtime (CLR)</a:t>
            </a:r>
          </a:p>
          <a:p>
            <a:pPr lvl="2"/>
            <a:r>
              <a:rPr lang="en-US" dirty="0"/>
              <a:t>Similar to JVM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860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F32FC-BFCD-2E7B-41F7-DC710B45B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Hosted Virtual Machine Monitor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9943D-C10B-AE6D-838F-D34302EC7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type 2 hypervisor </a:t>
            </a:r>
            <a:r>
              <a:rPr lang="en-US" dirty="0"/>
              <a:t>that replaces the interface of an </a:t>
            </a:r>
            <a:r>
              <a:rPr lang="en-US" b="1" dirty="0">
                <a:solidFill>
                  <a:srgbClr val="0070C0"/>
                </a:solidFill>
              </a:rPr>
              <a:t>existing host operating system (OS) </a:t>
            </a:r>
            <a:r>
              <a:rPr lang="en-US" dirty="0"/>
              <a:t>to manage and run guest operating systems.</a:t>
            </a:r>
          </a:p>
          <a:p>
            <a:pPr lvl="1"/>
            <a:r>
              <a:rPr lang="en-US" dirty="0"/>
              <a:t>Virtualizes the system call interface</a:t>
            </a:r>
          </a:p>
          <a:p>
            <a:pPr lvl="1"/>
            <a:r>
              <a:rPr lang="en-US" dirty="0"/>
              <a:t>Virtualizes the general hardware interface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VMWare Workstation</a:t>
            </a:r>
          </a:p>
          <a:p>
            <a:pPr lvl="1"/>
            <a:r>
              <a:rPr lang="en-US" dirty="0"/>
              <a:t>Oracle VM VirtualBox</a:t>
            </a:r>
          </a:p>
        </p:txBody>
      </p:sp>
    </p:spTree>
    <p:extLst>
      <p:ext uri="{BB962C8B-B14F-4D97-AF65-F5344CB8AC3E}">
        <p14:creationId xmlns:p14="http://schemas.microsoft.com/office/powerpoint/2010/main" val="365292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EC192-69EB-4F1E-A785-75381743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Hosted Virtual Machine Monitor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223DB-3415-4655-A2E3-8BCD8A1B3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7699"/>
            <a:ext cx="5029200" cy="51756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Type 2 Hypervisor</a:t>
            </a:r>
          </a:p>
          <a:p>
            <a:pPr lvl="1"/>
            <a:r>
              <a:rPr lang="en-US" sz="2400" dirty="0"/>
              <a:t>Virtualizes the </a:t>
            </a:r>
            <a:r>
              <a:rPr lang="en-US" sz="2400" dirty="0">
                <a:solidFill>
                  <a:srgbClr val="0070C0"/>
                </a:solidFill>
              </a:rPr>
              <a:t>system call interface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0070C0"/>
                </a:solidFill>
              </a:rPr>
              <a:t>general hardware interface</a:t>
            </a:r>
            <a:r>
              <a:rPr lang="en-US" sz="2400" dirty="0"/>
              <a:t>.</a:t>
            </a:r>
          </a:p>
          <a:p>
            <a:pPr lvl="2"/>
            <a:r>
              <a:rPr lang="en-US" sz="1800" dirty="0"/>
              <a:t>A system call interface A of operating system A is replaced with a new system call interface B with a new operating system. </a:t>
            </a:r>
          </a:p>
          <a:p>
            <a:pPr lvl="3"/>
            <a:r>
              <a:rPr lang="en-US" sz="1900" dirty="0"/>
              <a:t>Basically, providing a new OS platform to user applications.</a:t>
            </a:r>
          </a:p>
          <a:p>
            <a:pPr lvl="2"/>
            <a:r>
              <a:rPr lang="en-US" sz="1800" dirty="0"/>
              <a:t>Also, a general hardware interface A for Hardware A can be replaced with a new hardware interface B.</a:t>
            </a:r>
          </a:p>
        </p:txBody>
      </p:sp>
      <p:pic>
        <p:nvPicPr>
          <p:cNvPr id="5" name="Picture 4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22A5E379-D7EB-4417-8CCB-80FEA94FE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602646"/>
            <a:ext cx="2362200" cy="278576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6F291EA-788E-4E12-1207-0CDCBBF95177}"/>
              </a:ext>
            </a:extLst>
          </p:cNvPr>
          <p:cNvCxnSpPr>
            <a:cxnSpLocks/>
          </p:cNvCxnSpPr>
          <p:nvPr/>
        </p:nvCxnSpPr>
        <p:spPr>
          <a:xfrm>
            <a:off x="6019800" y="3995529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863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B286D-0D18-46F0-8E25-B90DBB1F6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Native Virtual Machine 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78023-E964-44C5-8EE8-30A8155F6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00200"/>
            <a:ext cx="5410200" cy="5476805"/>
          </a:xfrm>
        </p:spPr>
        <p:txBody>
          <a:bodyPr>
            <a:normAutofit/>
          </a:bodyPr>
          <a:lstStyle/>
          <a:p>
            <a:pPr lvl="1"/>
            <a:r>
              <a:rPr lang="en-US" sz="2400" dirty="0">
                <a:solidFill>
                  <a:srgbClr val="0070C0"/>
                </a:solidFill>
              </a:rPr>
              <a:t>Type 1 Hypervisor</a:t>
            </a:r>
          </a:p>
          <a:p>
            <a:pPr lvl="2"/>
            <a:r>
              <a:rPr lang="en-US" sz="2000" dirty="0"/>
              <a:t>Directly virtualizes the hardware interface</a:t>
            </a:r>
          </a:p>
          <a:p>
            <a:pPr lvl="3"/>
            <a:r>
              <a:rPr lang="en-US" sz="1600" dirty="0"/>
              <a:t>No need the support of a host OS</a:t>
            </a:r>
          </a:p>
          <a:p>
            <a:pPr lvl="2"/>
            <a:r>
              <a:rPr lang="en-US" sz="2000" dirty="0"/>
              <a:t>It is called </a:t>
            </a:r>
            <a:r>
              <a:rPr lang="en-US" sz="2000" dirty="0">
                <a:solidFill>
                  <a:srgbClr val="0070C0"/>
                </a:solidFill>
              </a:rPr>
              <a:t>native</a:t>
            </a:r>
            <a:r>
              <a:rPr lang="en-US" sz="2000" dirty="0"/>
              <a:t> because it is directly implemented on top of the underlying hardware</a:t>
            </a:r>
          </a:p>
          <a:p>
            <a:pPr lvl="2"/>
            <a:r>
              <a:rPr lang="en-US" sz="2000" dirty="0"/>
              <a:t>It is possible to have </a:t>
            </a:r>
            <a:r>
              <a:rPr lang="en-US" sz="2000" dirty="0">
                <a:solidFill>
                  <a:srgbClr val="0070C0"/>
                </a:solidFill>
              </a:rPr>
              <a:t>multiple guest operating systems </a:t>
            </a:r>
            <a:r>
              <a:rPr lang="en-US" sz="2000" dirty="0"/>
              <a:t>run independently and concurrently on the same platform.</a:t>
            </a:r>
          </a:p>
          <a:p>
            <a:pPr lvl="2"/>
            <a:r>
              <a:rPr lang="en-US" sz="2000" dirty="0"/>
              <a:t>Examples </a:t>
            </a:r>
          </a:p>
          <a:p>
            <a:pPr lvl="3"/>
            <a:r>
              <a:rPr lang="en-US" sz="1600" dirty="0"/>
              <a:t>VMWare </a:t>
            </a:r>
            <a:r>
              <a:rPr lang="en-US" sz="1600" dirty="0" err="1"/>
              <a:t>ESXi</a:t>
            </a:r>
            <a:endParaRPr lang="en-US" sz="1600" dirty="0"/>
          </a:p>
          <a:p>
            <a:pPr lvl="3"/>
            <a:r>
              <a:rPr lang="en-US" sz="1600" dirty="0"/>
              <a:t>Microsoft Hyper-V</a:t>
            </a:r>
          </a:p>
          <a:p>
            <a:pPr lvl="2"/>
            <a:endParaRPr lang="en-US" sz="20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E5281CFD-92D4-4B65-8834-DFDD57DCA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604" y="2286000"/>
            <a:ext cx="2836069" cy="270868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96C6810-3251-D3D6-C46E-03B31CED8B81}"/>
              </a:ext>
            </a:extLst>
          </p:cNvPr>
          <p:cNvCxnSpPr>
            <a:cxnSpLocks/>
          </p:cNvCxnSpPr>
          <p:nvPr/>
        </p:nvCxnSpPr>
        <p:spPr>
          <a:xfrm flipH="1">
            <a:off x="8552673" y="4038600"/>
            <a:ext cx="5913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701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3BFA3-10C1-4B19-B006-AE5AC9BA1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Applications of Virtualization for Distributed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D7E69-0DD1-40CF-B6BB-67220709B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One of the most widely adopted applications of virtualization is for </a:t>
            </a:r>
            <a:r>
              <a:rPr lang="en-US" dirty="0">
                <a:solidFill>
                  <a:srgbClr val="0070C0"/>
                </a:solidFill>
              </a:rPr>
              <a:t>cloud computing</a:t>
            </a:r>
          </a:p>
          <a:p>
            <a:r>
              <a:rPr lang="en-US" dirty="0"/>
              <a:t>One of the most important services provided by cloud computing systems is</a:t>
            </a:r>
          </a:p>
          <a:p>
            <a:pPr lvl="1"/>
            <a:r>
              <a:rPr lang="en-US" dirty="0"/>
              <a:t>Infrastructure-as-a-Service (IaaS)</a:t>
            </a:r>
          </a:p>
          <a:p>
            <a:pPr lvl="2"/>
            <a:r>
              <a:rPr lang="en-US" dirty="0"/>
              <a:t>Instead of renting out a physical machine, a cloud provider rents out a </a:t>
            </a:r>
            <a:r>
              <a:rPr lang="en-US" dirty="0">
                <a:solidFill>
                  <a:srgbClr val="0070C0"/>
                </a:solidFill>
              </a:rPr>
              <a:t>virtual machine</a:t>
            </a:r>
          </a:p>
          <a:p>
            <a:pPr lvl="3"/>
            <a:r>
              <a:rPr lang="en-US" sz="1600" dirty="0"/>
              <a:t>Thanks to the virtualization of the hardware interface, regardless of the different hardware/OS platform, the cloud user can access the system with a uniform interface.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027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Clients</a:t>
            </a:r>
          </a:p>
        </p:txBody>
      </p:sp>
    </p:spTree>
    <p:extLst>
      <p:ext uri="{BB962C8B-B14F-4D97-AF65-F5344CB8AC3E}">
        <p14:creationId xmlns:p14="http://schemas.microsoft.com/office/powerpoint/2010/main" val="2413185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92DD2-3DE7-4788-9BD1-BBD3345C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55" y="23018"/>
            <a:ext cx="8229600" cy="1143000"/>
          </a:xfrm>
        </p:spPr>
        <p:txBody>
          <a:bodyPr/>
          <a:lstStyle/>
          <a:p>
            <a:r>
              <a:rPr lang="en-US" dirty="0"/>
              <a:t>Networked User Interfaces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52990-821C-45AB-A43C-47B965462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045" y="920633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A major task of </a:t>
            </a:r>
            <a:r>
              <a:rPr lang="en-US" sz="2400" dirty="0">
                <a:solidFill>
                  <a:srgbClr val="0070C0"/>
                </a:solidFill>
              </a:rPr>
              <a:t>client</a:t>
            </a:r>
            <a:r>
              <a:rPr lang="en-US" sz="2400" dirty="0"/>
              <a:t> machines is to provide the means for users to interact with remote </a:t>
            </a:r>
            <a:r>
              <a:rPr lang="en-US" sz="2400" dirty="0">
                <a:solidFill>
                  <a:srgbClr val="0070C0"/>
                </a:solidFill>
              </a:rPr>
              <a:t>servers</a:t>
            </a:r>
          </a:p>
          <a:p>
            <a:r>
              <a:rPr lang="en-US" sz="2400" dirty="0"/>
              <a:t>Two ways for implementing interactions with servers</a:t>
            </a:r>
          </a:p>
          <a:p>
            <a:pPr lvl="1"/>
            <a:r>
              <a:rPr lang="en-US" sz="2000" dirty="0"/>
              <a:t>A client has a separate counterpart for each remote service</a:t>
            </a:r>
          </a:p>
          <a:p>
            <a:pPr lvl="2"/>
            <a:r>
              <a:rPr lang="en-US" sz="1600" dirty="0"/>
              <a:t>A separate application with its own functions, data, </a:t>
            </a:r>
            <a:r>
              <a:rPr lang="en-US" sz="1600" i="1" dirty="0"/>
              <a:t>etc. </a:t>
            </a:r>
            <a:r>
              <a:rPr lang="en-US" sz="1600" dirty="0"/>
              <a:t>corresponding to each service provided by the server.</a:t>
            </a:r>
          </a:p>
          <a:p>
            <a:pPr lvl="2"/>
            <a:r>
              <a:rPr lang="en-US" sz="1600" dirty="0"/>
              <a:t>An application-specific communication protocol is used to communicate with the server.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FA24C58A-D340-497D-9079-7881ED883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886200"/>
            <a:ext cx="4914900" cy="278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58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D9A7-6B5D-C1FE-F774-E66D5D8E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Networked User Interfaces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6391-BD88-BD24-F2A5-D1EC738D0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000" dirty="0"/>
              <a:t>A client is offered with </a:t>
            </a:r>
            <a:r>
              <a:rPr lang="en-US" sz="2000" dirty="0">
                <a:solidFill>
                  <a:srgbClr val="0070C0"/>
                </a:solidFill>
              </a:rPr>
              <a:t>only a user interface </a:t>
            </a:r>
            <a:r>
              <a:rPr lang="en-US" sz="2000" dirty="0"/>
              <a:t>for each service</a:t>
            </a:r>
          </a:p>
          <a:p>
            <a:pPr lvl="2"/>
            <a:r>
              <a:rPr lang="en-US" sz="1600" dirty="0"/>
              <a:t>Most of the data (functions, data, </a:t>
            </a:r>
            <a:r>
              <a:rPr lang="en-US" sz="1600" i="1" dirty="0"/>
              <a:t>etc.</a:t>
            </a:r>
            <a:r>
              <a:rPr lang="en-US" sz="1600" dirty="0"/>
              <a:t>) are stored and processed at the server</a:t>
            </a:r>
          </a:p>
          <a:p>
            <a:pPr lvl="2"/>
            <a:r>
              <a:rPr lang="en-US" sz="1600" dirty="0"/>
              <a:t>Called as </a:t>
            </a:r>
            <a:r>
              <a:rPr lang="en-US" sz="1600" b="1" dirty="0">
                <a:solidFill>
                  <a:srgbClr val="0070C0"/>
                </a:solidFill>
              </a:rPr>
              <a:t>networked user interfaces </a:t>
            </a:r>
            <a:r>
              <a:rPr lang="en-US" sz="1600" dirty="0"/>
              <a:t>or </a:t>
            </a:r>
            <a:r>
              <a:rPr lang="en-US" sz="1600" dirty="0">
                <a:solidFill>
                  <a:srgbClr val="0070C0"/>
                </a:solidFill>
              </a:rPr>
              <a:t>thin-client approach</a:t>
            </a:r>
          </a:p>
          <a:p>
            <a:pPr lvl="2"/>
            <a:r>
              <a:rPr lang="en-US" sz="1600" dirty="0"/>
              <a:t>A practical example is the Google’s Chrome OS. It is a browser-based thin client, where most computation is done at the server side.</a:t>
            </a:r>
          </a:p>
          <a:p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2EE04D38-DEC8-1210-14F6-C00276536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3491609"/>
            <a:ext cx="5105400" cy="29274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DF9061-D5B3-F333-9F4F-9E7097EE48DB}"/>
              </a:ext>
            </a:extLst>
          </p:cNvPr>
          <p:cNvSpPr txBox="1"/>
          <p:nvPr/>
        </p:nvSpPr>
        <p:spPr>
          <a:xfrm>
            <a:off x="152400" y="3863181"/>
            <a:ext cx="3200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generic communication protocol works with many different applications because it transfers generic user-interface information rather than application-specific commands or data.</a:t>
            </a:r>
          </a:p>
        </p:txBody>
      </p:sp>
    </p:spTree>
    <p:extLst>
      <p:ext uri="{BB962C8B-B14F-4D97-AF65-F5344CB8AC3E}">
        <p14:creationId xmlns:p14="http://schemas.microsoft.com/office/powerpoint/2010/main" val="7272326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CDBDE-AAB1-4D68-8F03-BC4DC4C4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Client-side Software for Distribution Transparency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CCB79-64AC-477B-9B38-D3FD88F9A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5626248"/>
          </a:xfrm>
        </p:spPr>
        <p:txBody>
          <a:bodyPr>
            <a:normAutofit/>
          </a:bodyPr>
          <a:lstStyle/>
          <a:p>
            <a:r>
              <a:rPr lang="en-US" sz="2000" dirty="0"/>
              <a:t>How does the client achieve </a:t>
            </a:r>
            <a:r>
              <a:rPr lang="en-US" sz="2000" b="1" u="sng" dirty="0">
                <a:solidFill>
                  <a:srgbClr val="0070C0"/>
                </a:solidFill>
              </a:rPr>
              <a:t>distribution transparency</a:t>
            </a:r>
            <a:r>
              <a:rPr lang="en-US" sz="2000" dirty="0"/>
              <a:t>.</a:t>
            </a:r>
          </a:p>
          <a:p>
            <a:pPr lvl="1"/>
            <a:r>
              <a:rPr lang="en-US" sz="1800" dirty="0"/>
              <a:t>Recall </a:t>
            </a:r>
            <a:r>
              <a:rPr lang="en-US" sz="1800" dirty="0">
                <a:solidFill>
                  <a:srgbClr val="0070C0"/>
                </a:solidFill>
              </a:rPr>
              <a:t>distribution transparency</a:t>
            </a:r>
          </a:p>
          <a:p>
            <a:pPr marL="914400" lvl="2" indent="0">
              <a:buNone/>
            </a:pPr>
            <a:endParaRPr lang="en-US" sz="1600" dirty="0"/>
          </a:p>
          <a:p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endParaRPr lang="en-US" sz="1800" dirty="0"/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6A8E0FDB-7AE0-4B8F-816A-FC10CFF23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080" y="2971800"/>
            <a:ext cx="662784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71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52C44-AB59-12C0-CD9F-FC2294830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2346-9F4D-52CF-6C21-0981E6ACE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Client-side Software for Distribution Transparency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1EEF8-6BBA-8513-D353-BC7559540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816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Access transparency </a:t>
            </a:r>
            <a:r>
              <a:rPr lang="en-US" sz="2000" dirty="0"/>
              <a:t>is generally handled through the generation of a </a:t>
            </a:r>
            <a:r>
              <a:rPr lang="en-US" sz="2000" b="1" u="sng" dirty="0">
                <a:solidFill>
                  <a:srgbClr val="0070C0"/>
                </a:solidFill>
              </a:rPr>
              <a:t>client stub (Proxy)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Proxy</a:t>
            </a:r>
            <a:r>
              <a:rPr lang="en-US" sz="1800" dirty="0"/>
              <a:t>: A piece of code that acts as an intermediary for requests from clients seeking resources from other servers (</a:t>
            </a:r>
            <a:r>
              <a:rPr lang="en-US" sz="1800" dirty="0">
                <a:solidFill>
                  <a:srgbClr val="0070C0"/>
                </a:solidFill>
              </a:rPr>
              <a:t>Skeleton</a:t>
            </a:r>
            <a:r>
              <a:rPr lang="en-US" sz="1800" dirty="0"/>
              <a:t> for servers).</a:t>
            </a:r>
          </a:p>
          <a:p>
            <a:pPr lvl="2"/>
            <a:r>
              <a:rPr lang="en-US" sz="1400" dirty="0"/>
              <a:t>Provides the same interface but hides the differences in machine architectures as well as actual communication</a:t>
            </a:r>
          </a:p>
          <a:p>
            <a:pPr lvl="2"/>
            <a:r>
              <a:rPr lang="en-US" sz="1400" dirty="0"/>
              <a:t>Transforms local calls to messages sent to the server</a:t>
            </a:r>
          </a:p>
          <a:p>
            <a:pPr lvl="2"/>
            <a:r>
              <a:rPr lang="en-US" sz="1400" dirty="0"/>
              <a:t>Transforms messages from the server to return values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69BB3F-81C6-33E8-FDEF-C2C6B3C66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4038600"/>
            <a:ext cx="5867400" cy="29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464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E0B57-D4B3-4C2B-947D-90556BE1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Client-side Software for Distribution Transparency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EEF95-3055-43C8-845F-912C665BD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Location, migration, and relocation transparency</a:t>
            </a:r>
          </a:p>
          <a:p>
            <a:pPr lvl="1"/>
            <a:r>
              <a:rPr lang="en-US" sz="1800" dirty="0"/>
              <a:t>The client’s </a:t>
            </a:r>
            <a:r>
              <a:rPr lang="en-US" sz="1800" b="1" u="sng" dirty="0">
                <a:solidFill>
                  <a:srgbClr val="0070C0"/>
                </a:solidFill>
              </a:rPr>
              <a:t>middleware</a:t>
            </a:r>
            <a:r>
              <a:rPr lang="en-US" sz="1800" dirty="0"/>
              <a:t> hides the server’s current network location from the user</a:t>
            </a:r>
          </a:p>
          <a:p>
            <a:pPr lvl="1"/>
            <a:r>
              <a:rPr lang="en-US" sz="1800" dirty="0"/>
              <a:t>Transparently </a:t>
            </a:r>
            <a:r>
              <a:rPr lang="en-US" sz="1800" dirty="0">
                <a:solidFill>
                  <a:srgbClr val="0070C0"/>
                </a:solidFill>
              </a:rPr>
              <a:t>rebinds</a:t>
            </a:r>
            <a:r>
              <a:rPr lang="en-US" sz="1800" dirty="0"/>
              <a:t> to a new server, if necessary</a:t>
            </a:r>
          </a:p>
          <a:p>
            <a:r>
              <a:rPr lang="en-US" sz="2000" dirty="0">
                <a:solidFill>
                  <a:srgbClr val="0070C0"/>
                </a:solidFill>
              </a:rPr>
              <a:t>Replication transparency</a:t>
            </a:r>
          </a:p>
          <a:p>
            <a:pPr lvl="1"/>
            <a:r>
              <a:rPr lang="en-US" sz="1800" dirty="0"/>
              <a:t>Consider a system with replicated servers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The client-side middleware (wrapper) </a:t>
            </a:r>
            <a:r>
              <a:rPr lang="en-US" sz="1800" dirty="0"/>
              <a:t>forwards a request to each replica (See Figure below)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The client-side middleware </a:t>
            </a:r>
            <a:r>
              <a:rPr lang="en-US" sz="1800" dirty="0"/>
              <a:t>transparently collects all responses and passes a single response to the client application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7181652-D3CB-43E4-B147-F613F48E7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4800600"/>
            <a:ext cx="5638800" cy="20802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E36948-7EC4-E968-9D08-C97A07344806}"/>
              </a:ext>
            </a:extLst>
          </p:cNvPr>
          <p:cNvSpPr txBox="1"/>
          <p:nvPr/>
        </p:nvSpPr>
        <p:spPr>
          <a:xfrm>
            <a:off x="990600" y="6126163"/>
            <a:ext cx="874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Wrapper:</a:t>
            </a:r>
          </a:p>
        </p:txBody>
      </p:sp>
    </p:spTree>
    <p:extLst>
      <p:ext uri="{BB962C8B-B14F-4D97-AF65-F5344CB8AC3E}">
        <p14:creationId xmlns:p14="http://schemas.microsoft.com/office/powerpoint/2010/main" val="18105970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B2079-E02B-4A80-8A90-30471926F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Client-side Software for Distribution Transparency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62398-C837-4751-9EDB-DD4351754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Failure transparency</a:t>
            </a:r>
          </a:p>
          <a:p>
            <a:pPr lvl="1"/>
            <a:r>
              <a:rPr lang="en-US" dirty="0"/>
              <a:t>Masking </a:t>
            </a:r>
            <a:r>
              <a:rPr lang="en-US" dirty="0">
                <a:solidFill>
                  <a:srgbClr val="0070C0"/>
                </a:solidFill>
              </a:rPr>
              <a:t>communication failures</a:t>
            </a:r>
            <a:r>
              <a:rPr lang="en-US" dirty="0"/>
              <a:t> with a server is typically done through the client middleware</a:t>
            </a:r>
          </a:p>
          <a:p>
            <a:pPr lvl="2"/>
            <a:r>
              <a:rPr lang="en-US" dirty="0"/>
              <a:t>Automatic retransmission</a:t>
            </a:r>
          </a:p>
          <a:p>
            <a:pPr lvl="2"/>
            <a:r>
              <a:rPr lang="en-US" dirty="0"/>
              <a:t>Hiding delay (</a:t>
            </a:r>
            <a:r>
              <a:rPr lang="en-US" i="1" dirty="0"/>
              <a:t>e.g., </a:t>
            </a:r>
            <a:r>
              <a:rPr lang="en-US" dirty="0"/>
              <a:t>using cached data for a frequent request)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Concurrency transparency</a:t>
            </a:r>
          </a:p>
          <a:p>
            <a:pPr lvl="1"/>
            <a:r>
              <a:rPr lang="en-US" dirty="0"/>
              <a:t>Concurrency transparency can be handled through </a:t>
            </a:r>
            <a:r>
              <a:rPr lang="en-US" dirty="0">
                <a:solidFill>
                  <a:srgbClr val="0070C0"/>
                </a:solidFill>
              </a:rPr>
              <a:t>transaction monitors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A transaction monitor is middleware for managing transactions across multiple software and hardware components.</a:t>
            </a:r>
          </a:p>
          <a:p>
            <a:pPr lvl="3"/>
            <a:r>
              <a:rPr lang="en-US" dirty="0"/>
              <a:t>Implements various </a:t>
            </a:r>
            <a:r>
              <a:rPr lang="en-US" dirty="0">
                <a:solidFill>
                  <a:srgbClr val="0070C0"/>
                </a:solidFill>
              </a:rPr>
              <a:t>concurrency control mechanisms </a:t>
            </a:r>
            <a:r>
              <a:rPr lang="en-US" dirty="0"/>
              <a:t>such as locking and timestamp ordering.</a:t>
            </a:r>
          </a:p>
        </p:txBody>
      </p:sp>
    </p:spTree>
    <p:extLst>
      <p:ext uri="{BB962C8B-B14F-4D97-AF65-F5344CB8AC3E}">
        <p14:creationId xmlns:p14="http://schemas.microsoft.com/office/powerpoint/2010/main" val="3822686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Servers</a:t>
            </a:r>
          </a:p>
        </p:txBody>
      </p:sp>
    </p:spTree>
    <p:extLst>
      <p:ext uri="{BB962C8B-B14F-4D97-AF65-F5344CB8AC3E}">
        <p14:creationId xmlns:p14="http://schemas.microsoft.com/office/powerpoint/2010/main" val="9007705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55AF6-AEEC-42DD-8179-F0A20CF60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Design Issues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072DA-D9C0-4A33-8A04-682964CC4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server is a </a:t>
            </a:r>
            <a:r>
              <a:rPr lang="en-US" dirty="0">
                <a:solidFill>
                  <a:srgbClr val="0070C0"/>
                </a:solidFill>
              </a:rPr>
              <a:t>process</a:t>
            </a:r>
            <a:r>
              <a:rPr lang="en-US" dirty="0"/>
              <a:t> implementing a </a:t>
            </a:r>
            <a:r>
              <a:rPr lang="en-US" dirty="0">
                <a:solidFill>
                  <a:srgbClr val="0070C0"/>
                </a:solidFill>
              </a:rPr>
              <a:t>specific service </a:t>
            </a:r>
            <a:r>
              <a:rPr lang="en-US" dirty="0"/>
              <a:t>on behalf of a collection of clients</a:t>
            </a:r>
          </a:p>
          <a:p>
            <a:r>
              <a:rPr lang="en-US" dirty="0"/>
              <a:t>Each server operates in the similar way</a:t>
            </a:r>
          </a:p>
          <a:p>
            <a:pPr lvl="1"/>
            <a:r>
              <a:rPr lang="en-US" dirty="0"/>
              <a:t>Waits for an incoming request from a client</a:t>
            </a:r>
          </a:p>
          <a:p>
            <a:pPr lvl="1"/>
            <a:r>
              <a:rPr lang="en-US" dirty="0"/>
              <a:t>Processes the client request</a:t>
            </a:r>
          </a:p>
          <a:p>
            <a:pPr lvl="1"/>
            <a:r>
              <a:rPr lang="en-US" dirty="0"/>
              <a:t>Waits for the next incoming request</a:t>
            </a:r>
          </a:p>
        </p:txBody>
      </p:sp>
    </p:spTree>
    <p:extLst>
      <p:ext uri="{BB962C8B-B14F-4D97-AF65-F5344CB8AC3E}">
        <p14:creationId xmlns:p14="http://schemas.microsoft.com/office/powerpoint/2010/main" val="3240773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D54C3-99B3-4558-9FBA-4420A58F3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Design Issues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7D644-17B0-4782-BAC1-3138FC8ED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Concurrent vs iterative servers</a:t>
            </a:r>
          </a:p>
          <a:p>
            <a:pPr lvl="1"/>
            <a:r>
              <a:rPr lang="en-US" dirty="0"/>
              <a:t>An</a:t>
            </a:r>
            <a:r>
              <a:rPr lang="en-US" dirty="0">
                <a:solidFill>
                  <a:srgbClr val="0070C0"/>
                </a:solidFill>
              </a:rPr>
              <a:t> iterative server </a:t>
            </a:r>
            <a:r>
              <a:rPr lang="en-US" dirty="0"/>
              <a:t>handles the request and returns a response to the requesting client, one after another.</a:t>
            </a:r>
          </a:p>
          <a:p>
            <a:pPr lvl="2"/>
            <a:r>
              <a:rPr lang="en-US" dirty="0"/>
              <a:t>Locked while dealing with a request from a client</a:t>
            </a:r>
          </a:p>
          <a:p>
            <a:pPr lvl="2"/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single-threaded</a:t>
            </a:r>
            <a:r>
              <a:rPr lang="en-US" dirty="0"/>
              <a:t> server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</a:t>
            </a:r>
            <a:r>
              <a:rPr lang="en-US" dirty="0">
                <a:solidFill>
                  <a:srgbClr val="0070C0"/>
                </a:solidFill>
              </a:rPr>
              <a:t> concurrent server </a:t>
            </a:r>
            <a:r>
              <a:rPr lang="en-US" dirty="0"/>
              <a:t>does not handle request itself but passes it to a </a:t>
            </a:r>
            <a:r>
              <a:rPr lang="en-US" dirty="0">
                <a:solidFill>
                  <a:srgbClr val="0070C0"/>
                </a:solidFill>
              </a:rPr>
              <a:t>separate thread </a:t>
            </a:r>
            <a:r>
              <a:rPr lang="en-US" dirty="0"/>
              <a:t>or another process, after which it immediately waits for the next incoming message.</a:t>
            </a:r>
          </a:p>
          <a:p>
            <a:pPr lvl="2"/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multi-threaded</a:t>
            </a:r>
            <a:r>
              <a:rPr lang="en-US" dirty="0"/>
              <a:t> server</a:t>
            </a:r>
          </a:p>
        </p:txBody>
      </p:sp>
    </p:spTree>
    <p:extLst>
      <p:ext uri="{BB962C8B-B14F-4D97-AF65-F5344CB8AC3E}">
        <p14:creationId xmlns:p14="http://schemas.microsoft.com/office/powerpoint/2010/main" val="1770108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4292-FCD4-4147-8E3A-E714B815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Design Issues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43A0D-5052-4096-B9C4-31D6AB03C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Contacting a server via the </a:t>
            </a:r>
            <a:r>
              <a:rPr lang="en-US" dirty="0">
                <a:solidFill>
                  <a:srgbClr val="0070C0"/>
                </a:solidFill>
              </a:rPr>
              <a:t>end points (ports)</a:t>
            </a:r>
          </a:p>
          <a:p>
            <a:pPr lvl="1"/>
            <a:r>
              <a:rPr lang="en-US" dirty="0"/>
              <a:t>Where do clients contact a server?</a:t>
            </a:r>
          </a:p>
          <a:p>
            <a:pPr lvl="1"/>
            <a:r>
              <a:rPr lang="en-US" dirty="0"/>
              <a:t>Clients send request to an </a:t>
            </a:r>
            <a:r>
              <a:rPr lang="en-US" dirty="0">
                <a:solidFill>
                  <a:srgbClr val="0070C0"/>
                </a:solidFill>
              </a:rPr>
              <a:t>end point </a:t>
            </a:r>
            <a:r>
              <a:rPr lang="en-US" dirty="0"/>
              <a:t>(also called as </a:t>
            </a:r>
            <a:r>
              <a:rPr lang="en-US" dirty="0">
                <a:solidFill>
                  <a:srgbClr val="0070C0"/>
                </a:solidFill>
              </a:rPr>
              <a:t>port</a:t>
            </a:r>
            <a:r>
              <a:rPr lang="en-US" dirty="0"/>
              <a:t>) at the machine where the server is running</a:t>
            </a:r>
          </a:p>
          <a:p>
            <a:pPr lvl="1"/>
            <a:r>
              <a:rPr lang="en-US" dirty="0"/>
              <a:t>Each server listens to a specific end point</a:t>
            </a:r>
          </a:p>
          <a:p>
            <a:pPr lvl="1"/>
            <a:r>
              <a:rPr lang="en-US" dirty="0"/>
              <a:t>How do clients know the end point of a service?</a:t>
            </a:r>
          </a:p>
          <a:p>
            <a:pPr lvl="2"/>
            <a:r>
              <a:rPr lang="en-US" dirty="0"/>
              <a:t>Globally assign end points for </a:t>
            </a:r>
            <a:r>
              <a:rPr lang="en-US" dirty="0">
                <a:solidFill>
                  <a:srgbClr val="0070C0"/>
                </a:solidFill>
              </a:rPr>
              <a:t>well-known services</a:t>
            </a:r>
            <a:r>
              <a:rPr lang="en-US" dirty="0"/>
              <a:t> (</a:t>
            </a:r>
            <a:r>
              <a:rPr lang="en-US" i="1" dirty="0"/>
              <a:t>e.g.</a:t>
            </a:r>
            <a:r>
              <a:rPr lang="en-US" dirty="0"/>
              <a:t>, for FTP service, a server listens to port 21)</a:t>
            </a:r>
          </a:p>
          <a:p>
            <a:pPr lvl="2"/>
            <a:r>
              <a:rPr lang="en-US" dirty="0"/>
              <a:t>These port numbers are assigned by the </a:t>
            </a:r>
            <a:r>
              <a:rPr lang="en-US" dirty="0">
                <a:solidFill>
                  <a:srgbClr val="0070C0"/>
                </a:solidFill>
              </a:rPr>
              <a:t>Internet Assigned Numbers Authority (IANA)</a:t>
            </a:r>
          </a:p>
        </p:txBody>
      </p:sp>
    </p:spTree>
    <p:extLst>
      <p:ext uri="{BB962C8B-B14F-4D97-AF65-F5344CB8AC3E}">
        <p14:creationId xmlns:p14="http://schemas.microsoft.com/office/powerpoint/2010/main" val="41513332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8D62-4ED4-47CF-9C08-B6A6BBAD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Design Issues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949F5-47B0-41FE-89D1-D2A284012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37516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Contacting a server via the end points (cont.)</a:t>
            </a:r>
          </a:p>
          <a:p>
            <a:pPr lvl="1"/>
            <a:r>
              <a:rPr lang="en-US" dirty="0"/>
              <a:t>Some services do not require pre-assigned end points</a:t>
            </a:r>
          </a:p>
          <a:p>
            <a:pPr lvl="2"/>
            <a:r>
              <a:rPr lang="en-US" i="1" dirty="0"/>
              <a:t>e.g., </a:t>
            </a:r>
            <a:r>
              <a:rPr lang="en-US" dirty="0"/>
              <a:t>a time-of-day server uses a dynamically assigned port number by its local OS</a:t>
            </a:r>
          </a:p>
          <a:p>
            <a:pPr lvl="2"/>
            <a:r>
              <a:rPr lang="en-US" dirty="0"/>
              <a:t>Thus, a client will first have to look up the end point.</a:t>
            </a:r>
          </a:p>
          <a:p>
            <a:pPr lvl="2"/>
            <a:r>
              <a:rPr lang="en-US" dirty="0"/>
              <a:t>Use a </a:t>
            </a:r>
            <a:r>
              <a:rPr lang="en-US" dirty="0">
                <a:solidFill>
                  <a:srgbClr val="0070C0"/>
                </a:solidFill>
              </a:rPr>
              <a:t>daemon server </a:t>
            </a:r>
            <a:r>
              <a:rPr lang="en-US" dirty="0"/>
              <a:t>which responses with a port number (Fig (a))</a:t>
            </a:r>
          </a:p>
          <a:p>
            <a:pPr lvl="1"/>
            <a:r>
              <a:rPr lang="en-US" dirty="0"/>
              <a:t>Keeping a server (</a:t>
            </a:r>
            <a:r>
              <a:rPr lang="en-US" i="1" dirty="0"/>
              <a:t>e.g., </a:t>
            </a:r>
            <a:r>
              <a:rPr lang="en-US" dirty="0"/>
              <a:t>a time-of-day server) running may be a waste of resources</a:t>
            </a:r>
          </a:p>
          <a:p>
            <a:pPr lvl="2"/>
            <a:r>
              <a:rPr lang="en-US" dirty="0"/>
              <a:t>A single </a:t>
            </a:r>
            <a:r>
              <a:rPr lang="en-US" dirty="0" err="1">
                <a:solidFill>
                  <a:srgbClr val="0070C0"/>
                </a:solidFill>
              </a:rPr>
              <a:t>superserver</a:t>
            </a:r>
            <a:r>
              <a:rPr lang="en-US" dirty="0"/>
              <a:t> listens to each end point and forks a server process when a request is received for a specific port number (Fig (b))</a:t>
            </a:r>
          </a:p>
        </p:txBody>
      </p:sp>
    </p:spTree>
    <p:extLst>
      <p:ext uri="{BB962C8B-B14F-4D97-AF65-F5344CB8AC3E}">
        <p14:creationId xmlns:p14="http://schemas.microsoft.com/office/powerpoint/2010/main" val="14464850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CAE7E9-847A-478B-8E2B-1EB0459C2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68" y="0"/>
            <a:ext cx="72116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262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F5BD-A06E-42D6-BCFB-57320D00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Interrupting a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0DCAD-0DD6-4028-876C-397723B21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 issue is whether and how a server can be interrupted (</a:t>
            </a:r>
            <a:r>
              <a:rPr lang="en-US" i="1" dirty="0"/>
              <a:t>i.e., </a:t>
            </a:r>
            <a:r>
              <a:rPr lang="en-US" dirty="0"/>
              <a:t>how and when the connection between client server is terminated). </a:t>
            </a:r>
          </a:p>
          <a:p>
            <a:pPr lvl="1"/>
            <a:r>
              <a:rPr lang="en-US" i="1" dirty="0"/>
              <a:t>e.g.,</a:t>
            </a:r>
            <a:r>
              <a:rPr lang="en-US" dirty="0"/>
              <a:t> an FTP server where a user uploads a big file and decides to cancel it</a:t>
            </a:r>
          </a:p>
          <a:p>
            <a:r>
              <a:rPr lang="en-US" dirty="0"/>
              <a:t>Approach 1: abruptly exit the client application – the server will tear down the connection assuming that the client has crashed (or the client has finished its operation such as a file transfer)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Is the client really crashed (or finished with its operation)? What if it was a temporary network issue?</a:t>
            </a:r>
          </a:p>
          <a:p>
            <a:r>
              <a:rPr lang="en-US" dirty="0"/>
              <a:t>Approach 2: A better approach is to allow to send </a:t>
            </a:r>
            <a:r>
              <a:rPr lang="en-US" dirty="0">
                <a:solidFill>
                  <a:srgbClr val="0070C0"/>
                </a:solidFill>
              </a:rPr>
              <a:t>out-of-band data </a:t>
            </a:r>
            <a:r>
              <a:rPr lang="en-US" dirty="0"/>
              <a:t>which is processed before any other data from the client; a server listens to </a:t>
            </a:r>
            <a:r>
              <a:rPr lang="en-US" dirty="0">
                <a:solidFill>
                  <a:srgbClr val="0070C0"/>
                </a:solidFill>
              </a:rPr>
              <a:t>a separate end point </a:t>
            </a:r>
            <a:r>
              <a:rPr lang="en-US" dirty="0"/>
              <a:t>where out-of-band data is received to terminate connection</a:t>
            </a:r>
          </a:p>
        </p:txBody>
      </p:sp>
    </p:spTree>
    <p:extLst>
      <p:ext uri="{BB962C8B-B14F-4D97-AF65-F5344CB8AC3E}">
        <p14:creationId xmlns:p14="http://schemas.microsoft.com/office/powerpoint/2010/main" val="39926599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901D-53AE-4C82-A28E-5A871FF0C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Stateless vs Stateful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42203-9149-4836-8D77-0E4C24C0D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stateless server </a:t>
            </a:r>
            <a:r>
              <a:rPr lang="en-US" dirty="0"/>
              <a:t>does not keep information on the state of its clients</a:t>
            </a:r>
          </a:p>
          <a:p>
            <a:pPr lvl="1"/>
            <a:r>
              <a:rPr lang="en-US" i="1" dirty="0"/>
              <a:t>e.g.</a:t>
            </a:r>
            <a:r>
              <a:rPr lang="en-US" dirty="0"/>
              <a:t>, a web server simply responses to incoming HTTP requests (without maintaining any state about clients)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Soft state</a:t>
            </a:r>
            <a:r>
              <a:rPr lang="en-US" dirty="0"/>
              <a:t>: the server maintains the state </a:t>
            </a:r>
            <a:r>
              <a:rPr lang="en-US" u="sng" dirty="0"/>
              <a:t>only for a limited time</a:t>
            </a:r>
          </a:p>
          <a:p>
            <a:pPr lvl="2"/>
            <a:r>
              <a:rPr lang="en-US" i="1" dirty="0"/>
              <a:t>e.g., </a:t>
            </a:r>
            <a:r>
              <a:rPr lang="en-US" dirty="0"/>
              <a:t>to inform a client of an update for a limited time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stateful server </a:t>
            </a:r>
            <a:r>
              <a:rPr lang="en-US" dirty="0"/>
              <a:t>maintains persistent information on its clients</a:t>
            </a:r>
          </a:p>
          <a:p>
            <a:pPr lvl="1"/>
            <a:r>
              <a:rPr lang="en-US" i="1" dirty="0"/>
              <a:t>e.g., </a:t>
            </a:r>
            <a:r>
              <a:rPr lang="en-US" dirty="0"/>
              <a:t>a file server keeps track of which client has the update permission on which file</a:t>
            </a:r>
          </a:p>
          <a:p>
            <a:pPr lvl="1"/>
            <a:r>
              <a:rPr lang="en-US" dirty="0"/>
              <a:t>A drawback is to recover the sate when the server crashes 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8135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6EF61-41C3-42D2-AF1A-CBF04B154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E5F97-A14E-4DAA-9704-6D6730CD7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In contrast to other traditional servers, an </a:t>
            </a:r>
            <a:r>
              <a:rPr lang="en-US" dirty="0">
                <a:solidFill>
                  <a:srgbClr val="0070C0"/>
                </a:solidFill>
              </a:rPr>
              <a:t>object server </a:t>
            </a:r>
            <a:r>
              <a:rPr lang="en-US" dirty="0"/>
              <a:t>by itself does not provide a specific service</a:t>
            </a:r>
          </a:p>
          <a:p>
            <a:pPr lvl="1"/>
            <a:r>
              <a:rPr lang="en-US" dirty="0"/>
              <a:t>Specific services are implemented by the </a:t>
            </a:r>
            <a:r>
              <a:rPr lang="en-US" dirty="0">
                <a:solidFill>
                  <a:srgbClr val="0070C0"/>
                </a:solidFill>
              </a:rPr>
              <a:t>objects</a:t>
            </a:r>
            <a:r>
              <a:rPr lang="en-US" dirty="0"/>
              <a:t> that reside in the object server</a:t>
            </a:r>
          </a:p>
          <a:p>
            <a:pPr lvl="1"/>
            <a:r>
              <a:rPr lang="en-US" dirty="0"/>
              <a:t>The object server provides only the means to invoke local objects based on requests from remote clients</a:t>
            </a:r>
          </a:p>
          <a:p>
            <a:pPr lvl="1"/>
            <a:r>
              <a:rPr lang="en-US" dirty="0"/>
              <a:t>Easy to change services by simply adding or removing objects</a:t>
            </a:r>
          </a:p>
        </p:txBody>
      </p:sp>
    </p:spTree>
    <p:extLst>
      <p:ext uri="{BB962C8B-B14F-4D97-AF65-F5344CB8AC3E}">
        <p14:creationId xmlns:p14="http://schemas.microsoft.com/office/powerpoint/2010/main" val="1302613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3845</TotalTime>
  <Words>2489</Words>
  <Application>Microsoft Macintosh PowerPoint</Application>
  <PresentationFormat>On-screen Show (4:3)</PresentationFormat>
  <Paragraphs>258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COMP 7212: Operating/Distributed Systems Chapter 3: Processes</vt:lpstr>
      <vt:lpstr>Overview</vt:lpstr>
      <vt:lpstr>Threads</vt:lpstr>
      <vt:lpstr>Introduction to Threads (1/4)</vt:lpstr>
      <vt:lpstr>Introduction to Threads (2/4)</vt:lpstr>
      <vt:lpstr>Introduction to Threads (3/4)</vt:lpstr>
      <vt:lpstr>Introduction to Threads (4/4)</vt:lpstr>
      <vt:lpstr>Thread Implementation (1/4)</vt:lpstr>
      <vt:lpstr>Thread Implementation (2/4)</vt:lpstr>
      <vt:lpstr>Thread Implementation (3/4)</vt:lpstr>
      <vt:lpstr>Thread Implementation (4/4)</vt:lpstr>
      <vt:lpstr>Threads in Distributed Systems (1/3)</vt:lpstr>
      <vt:lpstr>Threads in Distributed Systems (2/3)</vt:lpstr>
      <vt:lpstr>Threads in Distributed Systems (3/3)</vt:lpstr>
      <vt:lpstr>Virtualization  A key to running processes on heterogeneous nodes</vt:lpstr>
      <vt:lpstr>Principles of Virtualization (1/2)</vt:lpstr>
      <vt:lpstr>Principles of Virtualization (2/2)</vt:lpstr>
      <vt:lpstr>Types of Virtualization</vt:lpstr>
      <vt:lpstr>Process Virtual Machine</vt:lpstr>
      <vt:lpstr>Hosted Virtual Machine Monitor (1/2)</vt:lpstr>
      <vt:lpstr>Hosted Virtual Machine Monitor (2/2)</vt:lpstr>
      <vt:lpstr>Native Virtual Machine Monitor</vt:lpstr>
      <vt:lpstr>Applications of Virtualization for Distributed Systems</vt:lpstr>
      <vt:lpstr>Clients</vt:lpstr>
      <vt:lpstr>Networked User Interfaces (1/2)</vt:lpstr>
      <vt:lpstr>Networked User Interfaces (2/2)</vt:lpstr>
      <vt:lpstr>Client-side Software for Distribution Transparency (1/4)</vt:lpstr>
      <vt:lpstr>Client-side Software for Distribution Transparency (2/4)</vt:lpstr>
      <vt:lpstr>Client-side Software for Distribution Transparency (2/3)</vt:lpstr>
      <vt:lpstr>Client-side Software for Distribution Transparency (3/3)</vt:lpstr>
      <vt:lpstr>Servers</vt:lpstr>
      <vt:lpstr>General Design Issues (1/4)</vt:lpstr>
      <vt:lpstr>General Design Issues (2/4)</vt:lpstr>
      <vt:lpstr>General Design Issues (3/4)</vt:lpstr>
      <vt:lpstr>General Design Issues (4/4)</vt:lpstr>
      <vt:lpstr>PowerPoint Presentation</vt:lpstr>
      <vt:lpstr>Interrupting a Server</vt:lpstr>
      <vt:lpstr>Stateless vs Stateful Servers</vt:lpstr>
      <vt:lpstr>Object Servers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COSC 3360 Human Computer Interaction Introduction</dc:title>
  <dc:creator>Won, Myounggyu</dc:creator>
  <cp:lastModifiedBy>Myounggyu Won (mwon)</cp:lastModifiedBy>
  <cp:revision>628</cp:revision>
  <dcterms:created xsi:type="dcterms:W3CDTF">2006-08-16T00:00:00Z</dcterms:created>
  <dcterms:modified xsi:type="dcterms:W3CDTF">2026-09-15T18:32:50Z</dcterms:modified>
</cp:coreProperties>
</file>