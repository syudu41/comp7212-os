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76" r:id="rId3"/>
    <p:sldId id="257" r:id="rId4"/>
    <p:sldId id="277" r:id="rId5"/>
    <p:sldId id="278" r:id="rId6"/>
    <p:sldId id="279" r:id="rId7"/>
    <p:sldId id="280" r:id="rId8"/>
    <p:sldId id="305" r:id="rId9"/>
    <p:sldId id="281" r:id="rId10"/>
    <p:sldId id="306" r:id="rId11"/>
    <p:sldId id="307" r:id="rId12"/>
    <p:sldId id="286" r:id="rId13"/>
    <p:sldId id="287" r:id="rId14"/>
    <p:sldId id="312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9" r:id="rId31"/>
    <p:sldId id="308" r:id="rId32"/>
    <p:sldId id="310" r:id="rId33"/>
    <p:sldId id="311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 autoAdjust="0"/>
    <p:restoredTop sz="94444" autoAdjust="0"/>
  </p:normalViewPr>
  <p:slideViewPr>
    <p:cSldViewPr>
      <p:cViewPr varScale="1">
        <p:scale>
          <a:sx n="120" d="100"/>
          <a:sy n="120" d="100"/>
        </p:scale>
        <p:origin x="130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6019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499AA4-461E-492B-AC5F-BC73CAE80FB0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FBFEC2-D1D9-4572-96CC-11D7F7296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75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BFEC2-D1D9-4572-96CC-11D7F7296F3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964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14300" y="2133600"/>
            <a:ext cx="9372600" cy="1470025"/>
          </a:xfrm>
        </p:spPr>
        <p:txBody>
          <a:bodyPr>
            <a:normAutofit fontScale="90000"/>
          </a:bodyPr>
          <a:lstStyle/>
          <a:p>
            <a:r>
              <a:rPr lang="en-US" dirty="0"/>
              <a:t>COMP 7212: Operating/Distributed Systems</a:t>
            </a:r>
            <a:br>
              <a:rPr lang="en-US" dirty="0"/>
            </a:br>
            <a:r>
              <a:rPr lang="en-US" dirty="0"/>
              <a:t>Chapter 5: Naming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9144000" cy="1752600"/>
          </a:xfrm>
        </p:spPr>
        <p:txBody>
          <a:bodyPr>
            <a:normAutofit/>
          </a:bodyPr>
          <a:lstStyle/>
          <a:p>
            <a:r>
              <a:rPr lang="en-US" dirty="0"/>
              <a:t>Dr. Myounggyu Won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1776C6-D20E-45D7-81C1-CB6AEE533F90}"/>
              </a:ext>
            </a:extLst>
          </p:cNvPr>
          <p:cNvSpPr txBox="1"/>
          <p:nvPr/>
        </p:nvSpPr>
        <p:spPr>
          <a:xfrm>
            <a:off x="0" y="6450568"/>
            <a:ext cx="6699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Reference: Distributed Systems: Principles and Paradigms (3</a:t>
            </a:r>
            <a:r>
              <a:rPr lang="en-US" baseline="30000" dirty="0"/>
              <a:t>rd</a:t>
            </a:r>
            <a:r>
              <a:rPr lang="en-US" dirty="0"/>
              <a:t> Edition)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89D76E-5683-4533-A4E1-E1A1BC0DAA1D}"/>
              </a:ext>
            </a:extLst>
          </p:cNvPr>
          <p:cNvSpPr txBox="1"/>
          <p:nvPr/>
        </p:nvSpPr>
        <p:spPr>
          <a:xfrm>
            <a:off x="410091" y="4762500"/>
            <a:ext cx="8323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“Names are used to share resources, to uniquely identify entities, to refer to locations, </a:t>
            </a:r>
          </a:p>
          <a:p>
            <a:pPr algn="ctr"/>
            <a:r>
              <a:rPr lang="en-US" dirty="0"/>
              <a:t>and many more.”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5F0EE6-C49E-4DB5-89EE-8E2F28969BE6}"/>
              </a:ext>
            </a:extLst>
          </p:cNvPr>
          <p:cNvSpPr txBox="1"/>
          <p:nvPr/>
        </p:nvSpPr>
        <p:spPr>
          <a:xfrm>
            <a:off x="181406" y="5454134"/>
            <a:ext cx="8781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“Three different, important ways that names are used in distributed systems are discussed.”</a:t>
            </a:r>
          </a:p>
        </p:txBody>
      </p:sp>
    </p:spTree>
    <p:extLst>
      <p:ext uri="{BB962C8B-B14F-4D97-AF65-F5344CB8AC3E}">
        <p14:creationId xmlns:p14="http://schemas.microsoft.com/office/powerpoint/2010/main" val="540042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80278-C977-4723-AAE2-089A8FFF4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15E29-1EE8-47FD-8472-586F2A362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0070C0"/>
                </a:solidFill>
              </a:rPr>
              <a:t>name</a:t>
            </a:r>
            <a:r>
              <a:rPr lang="en-US" dirty="0"/>
              <a:t> in a distributed system is a string of bits or characters that is used to refer to virtually anything in distributed systems (</a:t>
            </a:r>
            <a:r>
              <a:rPr lang="en-US" i="1" dirty="0"/>
              <a:t>e.g., </a:t>
            </a:r>
            <a:r>
              <a:rPr lang="en-US" dirty="0"/>
              <a:t>hosts, printers, disks, files, processes, messages, network connections, </a:t>
            </a:r>
            <a:r>
              <a:rPr lang="en-US" i="1" dirty="0"/>
              <a:t>etc.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98704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5CDCB-6CD2-4E75-AB6F-9BEB229BC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7EEAC-1689-4FCA-B75D-F8413C4A9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5492"/>
            <a:ext cx="82296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Flat Naming</a:t>
            </a:r>
          </a:p>
          <a:p>
            <a:pPr lvl="1"/>
            <a:r>
              <a:rPr lang="en-US" dirty="0"/>
              <a:t>Simple solutions</a:t>
            </a:r>
          </a:p>
          <a:p>
            <a:pPr lvl="1"/>
            <a:r>
              <a:rPr lang="en-US" dirty="0"/>
              <a:t>Home-based approaches</a:t>
            </a:r>
          </a:p>
          <a:p>
            <a:pPr lvl="1"/>
            <a:r>
              <a:rPr lang="en-US" dirty="0"/>
              <a:t>Distributed hash tables</a:t>
            </a:r>
          </a:p>
          <a:p>
            <a:r>
              <a:rPr lang="en-US" dirty="0"/>
              <a:t>Structured Naming</a:t>
            </a:r>
          </a:p>
          <a:p>
            <a:pPr lvl="1"/>
            <a:r>
              <a:rPr lang="en-US" dirty="0"/>
              <a:t>Name spaces</a:t>
            </a:r>
          </a:p>
          <a:p>
            <a:pPr lvl="1"/>
            <a:r>
              <a:rPr lang="en-US" dirty="0"/>
              <a:t>Name resolution</a:t>
            </a:r>
          </a:p>
          <a:p>
            <a:pPr lvl="1"/>
            <a:r>
              <a:rPr lang="en-US" dirty="0"/>
              <a:t>Implementation of a name space</a:t>
            </a:r>
          </a:p>
          <a:p>
            <a:r>
              <a:rPr lang="en-US" dirty="0"/>
              <a:t>Attribute-Based Naming</a:t>
            </a:r>
          </a:p>
          <a:p>
            <a:pPr lvl="1"/>
            <a:r>
              <a:rPr lang="en-US" dirty="0"/>
              <a:t>Directory services</a:t>
            </a:r>
          </a:p>
          <a:p>
            <a:pPr lvl="1"/>
            <a:r>
              <a:rPr lang="en-US" dirty="0"/>
              <a:t>Hierarchical implementations</a:t>
            </a:r>
          </a:p>
          <a:p>
            <a:pPr lvl="1"/>
            <a:r>
              <a:rPr lang="en-US" dirty="0"/>
              <a:t>Decentralized implementations </a:t>
            </a:r>
          </a:p>
        </p:txBody>
      </p:sp>
    </p:spTree>
    <p:extLst>
      <p:ext uri="{BB962C8B-B14F-4D97-AF65-F5344CB8AC3E}">
        <p14:creationId xmlns:p14="http://schemas.microsoft.com/office/powerpoint/2010/main" val="897047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4D5A6-C76A-4E73-BF12-17B03D26E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Flat Naming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EFCA78-4AC7-489E-93A5-6876EC2480B9}"/>
              </a:ext>
            </a:extLst>
          </p:cNvPr>
          <p:cNvSpPr txBox="1"/>
          <p:nvPr/>
        </p:nvSpPr>
        <p:spPr>
          <a:xfrm>
            <a:off x="1061391" y="4114800"/>
            <a:ext cx="70212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“Identifiers (simple random bit strings) are </a:t>
            </a:r>
            <a:r>
              <a:rPr lang="en-US" b="1" u="sng" dirty="0"/>
              <a:t>unstructured</a:t>
            </a:r>
            <a:r>
              <a:rPr lang="en-US" dirty="0"/>
              <a:t> (or flat names). </a:t>
            </a:r>
          </a:p>
          <a:p>
            <a:pPr algn="ctr"/>
            <a:r>
              <a:rPr lang="en-US" dirty="0"/>
              <a:t>Take a look how flat names are resolved, </a:t>
            </a:r>
            <a:r>
              <a:rPr lang="en-US" i="1" dirty="0"/>
              <a:t>i.e.</a:t>
            </a:r>
            <a:r>
              <a:rPr lang="en-US" dirty="0"/>
              <a:t>, how do we locate an entity </a:t>
            </a:r>
          </a:p>
          <a:p>
            <a:pPr algn="ctr"/>
            <a:r>
              <a:rPr lang="en-US" dirty="0"/>
              <a:t>with an identifier.”</a:t>
            </a:r>
          </a:p>
        </p:txBody>
      </p:sp>
    </p:spTree>
    <p:extLst>
      <p:ext uri="{BB962C8B-B14F-4D97-AF65-F5344CB8AC3E}">
        <p14:creationId xmlns:p14="http://schemas.microsoft.com/office/powerpoint/2010/main" val="2963778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7695C-F549-4B7F-A6E8-AE6B620D0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Solutions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12C26-9085-4636-8DFA-7CBEA5A5E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Problem: how to locate an entity with flat names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Flat names do not contain any information that can be used to locate an entity!</a:t>
            </a:r>
          </a:p>
          <a:p>
            <a:r>
              <a:rPr lang="en-US" dirty="0"/>
              <a:t>Two simple solutions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>
                <a:solidFill>
                  <a:srgbClr val="0070C0"/>
                </a:solidFill>
              </a:rPr>
              <a:t>Broadcasting</a:t>
            </a:r>
          </a:p>
          <a:p>
            <a:pPr lvl="2"/>
            <a:r>
              <a:rPr lang="en-US" dirty="0"/>
              <a:t>A message containing the identifier of the entity is </a:t>
            </a:r>
            <a:r>
              <a:rPr lang="en-US" dirty="0">
                <a:solidFill>
                  <a:srgbClr val="0070C0"/>
                </a:solidFill>
              </a:rPr>
              <a:t>broadcast</a:t>
            </a:r>
            <a:r>
              <a:rPr lang="en-US" dirty="0"/>
              <a:t> to each machine and each machine is requested to check whether it has that entity</a:t>
            </a:r>
          </a:p>
          <a:p>
            <a:pPr lvl="2"/>
            <a:r>
              <a:rPr lang="en-US" dirty="0"/>
              <a:t>Becomes inefficient as the network size grows</a:t>
            </a:r>
          </a:p>
          <a:p>
            <a:pPr lvl="3"/>
            <a:r>
              <a:rPr lang="en-US" dirty="0"/>
              <a:t>A possible solution to address this problem is to use </a:t>
            </a:r>
            <a:r>
              <a:rPr lang="en-US" dirty="0">
                <a:solidFill>
                  <a:srgbClr val="0070C0"/>
                </a:solidFill>
              </a:rPr>
              <a:t>multicasting</a:t>
            </a:r>
          </a:p>
        </p:txBody>
      </p:sp>
    </p:spTree>
    <p:extLst>
      <p:ext uri="{BB962C8B-B14F-4D97-AF65-F5344CB8AC3E}">
        <p14:creationId xmlns:p14="http://schemas.microsoft.com/office/powerpoint/2010/main" val="1877752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D1E73-1DC4-4706-8C8B-73C361E5A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Solutions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42C50-71D7-476B-8068-2743B8565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Forwarding pointers</a:t>
            </a:r>
          </a:p>
          <a:p>
            <a:pPr lvl="1"/>
            <a:r>
              <a:rPr lang="en-US" dirty="0"/>
              <a:t>When an entity moves from A to B, it leaves behind at A a reference to its new location at B</a:t>
            </a:r>
          </a:p>
          <a:p>
            <a:pPr lvl="1"/>
            <a:r>
              <a:rPr lang="en-US" dirty="0"/>
              <a:t>The client can locate the current entity by following the pointer(s)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Drawbacks</a:t>
            </a:r>
          </a:p>
          <a:p>
            <a:pPr lvl="2"/>
            <a:r>
              <a:rPr lang="en-US" dirty="0"/>
              <a:t>The chain can be so long – high storage cost</a:t>
            </a:r>
          </a:p>
          <a:p>
            <a:pPr lvl="3"/>
            <a:r>
              <a:rPr lang="en-US" dirty="0"/>
              <a:t>All intermediate nodes have to maintain the information on the chain (pointers)</a:t>
            </a:r>
          </a:p>
          <a:p>
            <a:pPr lvl="2"/>
            <a:r>
              <a:rPr lang="en-US" dirty="0"/>
              <a:t>Vulnerability of broken links</a:t>
            </a:r>
          </a:p>
        </p:txBody>
      </p:sp>
    </p:spTree>
    <p:extLst>
      <p:ext uri="{BB962C8B-B14F-4D97-AF65-F5344CB8AC3E}">
        <p14:creationId xmlns:p14="http://schemas.microsoft.com/office/powerpoint/2010/main" val="275516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FA4E7-8E35-47AC-9200-98E48AA0B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Home-based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3EA84-8EA3-4789-BFEE-54E137985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 popular approach to support mobile entities in </a:t>
            </a:r>
            <a:r>
              <a:rPr lang="en-US" dirty="0">
                <a:solidFill>
                  <a:srgbClr val="0070C0"/>
                </a:solidFill>
              </a:rPr>
              <a:t>large-scale networks </a:t>
            </a:r>
            <a:r>
              <a:rPr lang="en-US" dirty="0"/>
              <a:t>is to use a </a:t>
            </a:r>
            <a:r>
              <a:rPr lang="en-US" dirty="0">
                <a:solidFill>
                  <a:srgbClr val="0070C0"/>
                </a:solidFill>
              </a:rPr>
              <a:t>home agent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0070C0"/>
                </a:solidFill>
              </a:rPr>
              <a:t>home agent </a:t>
            </a:r>
            <a:r>
              <a:rPr lang="en-US" dirty="0"/>
              <a:t>keeps track of the current location of an entity (even if it has moved to a different location).</a:t>
            </a:r>
          </a:p>
          <a:p>
            <a:r>
              <a:rPr lang="en-US" dirty="0"/>
              <a:t>Example: </a:t>
            </a:r>
            <a:r>
              <a:rPr lang="en-US" dirty="0">
                <a:solidFill>
                  <a:srgbClr val="0070C0"/>
                </a:solidFill>
              </a:rPr>
              <a:t>mobile IP</a:t>
            </a:r>
          </a:p>
          <a:p>
            <a:pPr lvl="1"/>
            <a:r>
              <a:rPr lang="en-US" dirty="0"/>
              <a:t>Each mobile host uses a fixed IP address</a:t>
            </a:r>
          </a:p>
          <a:p>
            <a:pPr lvl="1"/>
            <a:r>
              <a:rPr lang="en-US" dirty="0"/>
              <a:t>All communication to that IP address is initially directed to the mobile host’s </a:t>
            </a:r>
            <a:r>
              <a:rPr lang="en-US" dirty="0">
                <a:solidFill>
                  <a:srgbClr val="0070C0"/>
                </a:solidFill>
              </a:rPr>
              <a:t>home agent 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rgbClr val="0070C0"/>
                </a:solidFill>
              </a:rPr>
              <a:t>care-of address </a:t>
            </a:r>
            <a:r>
              <a:rPr lang="en-US" dirty="0"/>
              <a:t>(a temporary address of the mobile device when it moves to another network) is provided by the home agent</a:t>
            </a:r>
          </a:p>
          <a:p>
            <a:pPr lvl="1"/>
            <a:r>
              <a:rPr lang="en-US" dirty="0"/>
              <a:t>This whole mechanism is hidden for applications </a:t>
            </a:r>
          </a:p>
          <a:p>
            <a:r>
              <a:rPr lang="en-US" dirty="0">
                <a:solidFill>
                  <a:srgbClr val="C00000"/>
                </a:solidFill>
              </a:rPr>
              <a:t>Drawbacks </a:t>
            </a:r>
          </a:p>
          <a:p>
            <a:pPr lvl="1"/>
            <a:r>
              <a:rPr lang="en-US" dirty="0"/>
              <a:t>Overhead for sending a packet to home agent first</a:t>
            </a:r>
          </a:p>
          <a:p>
            <a:pPr lvl="1"/>
            <a:r>
              <a:rPr lang="en-US" dirty="0"/>
              <a:t>The home agent should always exist (</a:t>
            </a:r>
            <a:r>
              <a:rPr lang="en-US" dirty="0">
                <a:solidFill>
                  <a:srgbClr val="C00000"/>
                </a:solidFill>
              </a:rPr>
              <a:t>the single point of failure</a:t>
            </a:r>
            <a:r>
              <a:rPr lang="en-US" dirty="0"/>
              <a:t>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035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CACE64-43F8-4A58-9B13-10E57DAB0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3381"/>
            <a:ext cx="9144000" cy="561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501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3CB7D-729E-475E-930F-8C056B315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Hash Tables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5D2CB-CA45-4832-BEF5-C96D6ECC0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Distribute the address information to all nodes.</a:t>
            </a:r>
          </a:p>
          <a:p>
            <a:pPr lvl="1"/>
            <a:r>
              <a:rPr lang="en-US" dirty="0"/>
              <a:t>Each node knows how to reach the requested resource using a name (key)</a:t>
            </a:r>
          </a:p>
          <a:p>
            <a:r>
              <a:rPr lang="en-US" dirty="0"/>
              <a:t>m-bit identifier space is used to randomly assign </a:t>
            </a:r>
            <a:r>
              <a:rPr lang="en-US" dirty="0">
                <a:solidFill>
                  <a:srgbClr val="0070C0"/>
                </a:solidFill>
              </a:rPr>
              <a:t>identifiers</a:t>
            </a:r>
            <a:r>
              <a:rPr lang="en-US" dirty="0"/>
              <a:t> to </a:t>
            </a:r>
            <a:r>
              <a:rPr lang="en-US" dirty="0">
                <a:solidFill>
                  <a:srgbClr val="0070C0"/>
                </a:solidFill>
              </a:rPr>
              <a:t>nodes</a:t>
            </a:r>
            <a:r>
              <a:rPr lang="en-US" dirty="0"/>
              <a:t> as well as </a:t>
            </a:r>
            <a:r>
              <a:rPr lang="en-US" dirty="0">
                <a:solidFill>
                  <a:srgbClr val="0070C0"/>
                </a:solidFill>
              </a:rPr>
              <a:t>keys</a:t>
            </a:r>
            <a:r>
              <a:rPr lang="en-US" dirty="0"/>
              <a:t> to specific </a:t>
            </a:r>
            <a:r>
              <a:rPr lang="en-US" dirty="0">
                <a:solidFill>
                  <a:srgbClr val="0070C0"/>
                </a:solidFill>
              </a:rPr>
              <a:t>entities</a:t>
            </a:r>
            <a:r>
              <a:rPr lang="en-US" dirty="0"/>
              <a:t> (</a:t>
            </a:r>
            <a:r>
              <a:rPr lang="en-US" i="1" dirty="0"/>
              <a:t>e.g.</a:t>
            </a:r>
            <a:r>
              <a:rPr lang="en-US" dirty="0"/>
              <a:t>, virtually anything such as files, processes, </a:t>
            </a:r>
            <a:r>
              <a:rPr lang="en-US" i="1" dirty="0"/>
              <a:t>etc.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The key is the name; the identifier is the address</a:t>
            </a:r>
          </a:p>
          <a:p>
            <a:pPr lvl="1"/>
            <a:r>
              <a:rPr lang="en-US" dirty="0"/>
              <a:t>Q: given a key, find the address of the node having the entity.</a:t>
            </a:r>
          </a:p>
          <a:p>
            <a:r>
              <a:rPr lang="en-US" dirty="0"/>
              <a:t>Definition: successor of key k</a:t>
            </a:r>
          </a:p>
          <a:p>
            <a:pPr lvl="1"/>
            <a:r>
              <a:rPr lang="en-US" dirty="0"/>
              <a:t>The node with the smallest identifier id &gt;= k.</a:t>
            </a:r>
          </a:p>
          <a:p>
            <a:pPr lvl="1"/>
            <a:r>
              <a:rPr lang="en-US" dirty="0"/>
              <a:t>Denoted by </a:t>
            </a:r>
            <a:r>
              <a:rPr lang="en-US" dirty="0" err="1"/>
              <a:t>succ</a:t>
            </a:r>
            <a:r>
              <a:rPr lang="en-US" dirty="0"/>
              <a:t>(k).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878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9F5AF-5609-4A40-BE55-BE179B6C7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Distributed Hash Tables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CF7EC-1AF6-4A8F-A0D3-908521D38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20762"/>
            <a:ext cx="8229600" cy="6019800"/>
          </a:xfrm>
        </p:spPr>
        <p:txBody>
          <a:bodyPr>
            <a:normAutofit/>
          </a:bodyPr>
          <a:lstStyle/>
          <a:p>
            <a:r>
              <a:rPr lang="en-US" dirty="0"/>
              <a:t>Each node maintains a </a:t>
            </a:r>
            <a:r>
              <a:rPr lang="en-US" dirty="0">
                <a:solidFill>
                  <a:srgbClr val="0070C0"/>
                </a:solidFill>
              </a:rPr>
              <a:t>finger table </a:t>
            </a:r>
            <a:r>
              <a:rPr lang="en-US" dirty="0"/>
              <a:t>containing </a:t>
            </a:r>
            <a:r>
              <a:rPr lang="en-US" i="1" dirty="0"/>
              <a:t>s &lt;= m </a:t>
            </a:r>
            <a:r>
              <a:rPr lang="en-US" dirty="0"/>
              <a:t>entries.</a:t>
            </a:r>
          </a:p>
          <a:p>
            <a:r>
              <a:rPr lang="en-US" dirty="0"/>
              <a:t>Denote the </a:t>
            </a:r>
            <a:r>
              <a:rPr lang="en-US" i="1" dirty="0" err="1"/>
              <a:t>i</a:t>
            </a:r>
            <a:r>
              <a:rPr lang="en-US" dirty="0" err="1"/>
              <a:t>-th</a:t>
            </a:r>
            <a:r>
              <a:rPr lang="en-US" dirty="0"/>
              <a:t> entry of the finger table of node </a:t>
            </a:r>
            <a:r>
              <a:rPr lang="en-US" i="1" dirty="0"/>
              <a:t>p</a:t>
            </a:r>
            <a:r>
              <a:rPr lang="en-US" dirty="0"/>
              <a:t> by </a:t>
            </a:r>
            <a:r>
              <a:rPr lang="en-US" i="1" dirty="0" err="1"/>
              <a:t>FT</a:t>
            </a:r>
            <a:r>
              <a:rPr lang="en-US" i="1" baseline="-25000" dirty="0" err="1"/>
              <a:t>p</a:t>
            </a:r>
            <a:r>
              <a:rPr lang="en-US" i="1" dirty="0"/>
              <a:t>[</a:t>
            </a:r>
            <a:r>
              <a:rPr lang="en-US" i="1" dirty="0" err="1"/>
              <a:t>i</a:t>
            </a:r>
            <a:r>
              <a:rPr lang="en-US" i="1" dirty="0"/>
              <a:t>].</a:t>
            </a:r>
          </a:p>
          <a:p>
            <a:pPr lvl="1"/>
            <a:r>
              <a:rPr lang="en-US" dirty="0"/>
              <a:t> </a:t>
            </a:r>
            <a:r>
              <a:rPr lang="en-US" i="1" dirty="0" err="1"/>
              <a:t>FT</a:t>
            </a:r>
            <a:r>
              <a:rPr lang="en-US" i="1" baseline="-25000" dirty="0" err="1"/>
              <a:t>p</a:t>
            </a:r>
            <a:r>
              <a:rPr lang="en-US" i="1" dirty="0"/>
              <a:t>[</a:t>
            </a:r>
            <a:r>
              <a:rPr lang="en-US" i="1" dirty="0" err="1"/>
              <a:t>i</a:t>
            </a:r>
            <a:r>
              <a:rPr lang="en-US" i="1" dirty="0"/>
              <a:t>] = </a:t>
            </a:r>
            <a:r>
              <a:rPr lang="en-US" i="1" dirty="0" err="1"/>
              <a:t>succ</a:t>
            </a:r>
            <a:r>
              <a:rPr lang="en-US" i="1" dirty="0"/>
              <a:t>(p + 2</a:t>
            </a:r>
            <a:r>
              <a:rPr lang="en-US" i="1" baseline="30000" dirty="0"/>
              <a:t>i-1</a:t>
            </a:r>
            <a:r>
              <a:rPr lang="en-US" i="1" dirty="0"/>
              <a:t> % N). </a:t>
            </a:r>
          </a:p>
          <a:p>
            <a:r>
              <a:rPr lang="en-US" dirty="0"/>
              <a:t> To look up a key </a:t>
            </a:r>
            <a:r>
              <a:rPr lang="en-US" i="1" dirty="0"/>
              <a:t>k</a:t>
            </a:r>
            <a:r>
              <a:rPr lang="en-US" dirty="0"/>
              <a:t>, node </a:t>
            </a:r>
            <a:r>
              <a:rPr lang="en-US" i="1" dirty="0"/>
              <a:t>p</a:t>
            </a:r>
            <a:r>
              <a:rPr lang="en-US" dirty="0"/>
              <a:t> forwards the request to node </a:t>
            </a:r>
            <a:r>
              <a:rPr lang="en-US" i="1" dirty="0"/>
              <a:t>q</a:t>
            </a:r>
            <a:r>
              <a:rPr lang="en-US" dirty="0"/>
              <a:t> such that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If </a:t>
            </a:r>
            <a:r>
              <a:rPr lang="en-US" i="1" dirty="0">
                <a:solidFill>
                  <a:srgbClr val="FF0000"/>
                </a:solidFill>
              </a:rPr>
              <a:t>predecessor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&lt; k &lt; p, q = p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pPr lvl="1"/>
            <a:r>
              <a:rPr lang="en-US" dirty="0"/>
              <a:t>Else If                                       , </a:t>
            </a:r>
            <a:r>
              <a:rPr lang="en-US" i="1" dirty="0"/>
              <a:t>q = </a:t>
            </a:r>
            <a:r>
              <a:rPr lang="en-US" i="1" dirty="0" err="1"/>
              <a:t>FT</a:t>
            </a:r>
            <a:r>
              <a:rPr lang="en-US" i="1" baseline="-25000" dirty="0" err="1"/>
              <a:t>p</a:t>
            </a:r>
            <a:r>
              <a:rPr lang="en-US" i="1" dirty="0"/>
              <a:t>[j]. </a:t>
            </a:r>
            <a:r>
              <a:rPr lang="en-US" dirty="0"/>
              <a:t>(CASE 1)</a:t>
            </a:r>
          </a:p>
          <a:p>
            <a:pPr lvl="1"/>
            <a:r>
              <a:rPr lang="en-US" dirty="0"/>
              <a:t>Else if </a:t>
            </a:r>
            <a:r>
              <a:rPr lang="en-US" i="1" dirty="0"/>
              <a:t>k &gt;= </a:t>
            </a:r>
            <a:r>
              <a:rPr lang="en-US" i="1" dirty="0" err="1"/>
              <a:t>FT</a:t>
            </a:r>
            <a:r>
              <a:rPr lang="en-US" i="1" baseline="-25000" dirty="0" err="1"/>
              <a:t>p</a:t>
            </a:r>
            <a:r>
              <a:rPr lang="en-US" i="1" dirty="0"/>
              <a:t>[s], q = </a:t>
            </a:r>
            <a:r>
              <a:rPr lang="en-US" i="1" dirty="0" err="1"/>
              <a:t>FT</a:t>
            </a:r>
            <a:r>
              <a:rPr lang="en-US" i="1" baseline="-25000" dirty="0" err="1"/>
              <a:t>p</a:t>
            </a:r>
            <a:r>
              <a:rPr lang="en-US" i="1" dirty="0"/>
              <a:t>[s]</a:t>
            </a:r>
            <a:r>
              <a:rPr lang="en-US" dirty="0"/>
              <a:t>. (CASE 2)</a:t>
            </a:r>
          </a:p>
          <a:p>
            <a:pPr lvl="1"/>
            <a:r>
              <a:rPr lang="en-US" dirty="0"/>
              <a:t>Else if </a:t>
            </a:r>
            <a:r>
              <a:rPr lang="en-US" i="1" dirty="0"/>
              <a:t>p &lt; k &lt; </a:t>
            </a:r>
            <a:r>
              <a:rPr lang="en-US" i="1" dirty="0" err="1"/>
              <a:t>FT</a:t>
            </a:r>
            <a:r>
              <a:rPr lang="en-US" i="1" baseline="-25000" dirty="0" err="1"/>
              <a:t>p</a:t>
            </a:r>
            <a:r>
              <a:rPr lang="en-US" i="1" dirty="0"/>
              <a:t>[1], q = </a:t>
            </a:r>
            <a:r>
              <a:rPr lang="en-US" i="1" dirty="0" err="1"/>
              <a:t>FT</a:t>
            </a:r>
            <a:r>
              <a:rPr lang="en-US" i="1" baseline="-25000" dirty="0" err="1"/>
              <a:t>p</a:t>
            </a:r>
            <a:r>
              <a:rPr lang="en-US" i="1" dirty="0"/>
              <a:t>[1]</a:t>
            </a:r>
            <a:r>
              <a:rPr lang="en-US" dirty="0"/>
              <a:t>. (CASE 3)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F7899F-6CB2-4490-A20E-253643BE6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5275930"/>
            <a:ext cx="2971800" cy="46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060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77E363-9056-44F1-9800-BC187F11F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0"/>
            <a:ext cx="700548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B60CBD-9CDF-478F-820C-103FFBEE7389}"/>
              </a:ext>
            </a:extLst>
          </p:cNvPr>
          <p:cNvSpPr txBox="1"/>
          <p:nvPr/>
        </p:nvSpPr>
        <p:spPr>
          <a:xfrm>
            <a:off x="0" y="0"/>
            <a:ext cx="2893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Resolving k=26 from node 1.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B9A211-8478-4540-A573-54D18F9EB1A5}"/>
              </a:ext>
            </a:extLst>
          </p:cNvPr>
          <p:cNvSpPr txBox="1"/>
          <p:nvPr/>
        </p:nvSpPr>
        <p:spPr>
          <a:xfrm>
            <a:off x="2884755" y="337066"/>
            <a:ext cx="1673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(1) 26 &gt;= FT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[5]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34550D-8534-4230-9D48-962521CBE4BC}"/>
              </a:ext>
            </a:extLst>
          </p:cNvPr>
          <p:cNvSpPr txBox="1"/>
          <p:nvPr/>
        </p:nvSpPr>
        <p:spPr>
          <a:xfrm>
            <a:off x="1592720" y="609600"/>
            <a:ext cx="3926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(2) Forward request to node 18 = FT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[5]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C5C841-8CA7-4D65-A5C5-C7393393495B}"/>
              </a:ext>
            </a:extLst>
          </p:cNvPr>
          <p:cNvSpPr txBox="1"/>
          <p:nvPr/>
        </p:nvSpPr>
        <p:spPr>
          <a:xfrm>
            <a:off x="405334" y="6225209"/>
            <a:ext cx="3167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(3) Forward to node 20 because</a:t>
            </a:r>
          </a:p>
          <a:p>
            <a:r>
              <a:rPr lang="en-US" dirty="0">
                <a:solidFill>
                  <a:srgbClr val="FF0000"/>
                </a:solidFill>
              </a:rPr>
              <a:t>FT</a:t>
            </a:r>
            <a:r>
              <a:rPr lang="en-US" baseline="-25000" dirty="0">
                <a:solidFill>
                  <a:srgbClr val="FF0000"/>
                </a:solidFill>
              </a:rPr>
              <a:t>18</a:t>
            </a:r>
            <a:r>
              <a:rPr lang="en-US" dirty="0">
                <a:solidFill>
                  <a:srgbClr val="FF0000"/>
                </a:solidFill>
              </a:rPr>
              <a:t>[2] &lt;= k &lt; FT</a:t>
            </a:r>
            <a:r>
              <a:rPr lang="en-US" baseline="-25000" dirty="0">
                <a:solidFill>
                  <a:srgbClr val="FF0000"/>
                </a:solidFill>
              </a:rPr>
              <a:t>18</a:t>
            </a:r>
            <a:r>
              <a:rPr lang="en-US" dirty="0">
                <a:solidFill>
                  <a:srgbClr val="FF0000"/>
                </a:solidFill>
              </a:rPr>
              <a:t>[3].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BA703D-8E3C-49D6-8468-A62566BE2ABF}"/>
              </a:ext>
            </a:extLst>
          </p:cNvPr>
          <p:cNvSpPr txBox="1"/>
          <p:nvPr/>
        </p:nvSpPr>
        <p:spPr>
          <a:xfrm>
            <a:off x="76200" y="5430943"/>
            <a:ext cx="2343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(4) Forward to node 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7C7A27-8EED-4F75-9FCB-1C462327E0BC}"/>
              </a:ext>
            </a:extLst>
          </p:cNvPr>
          <p:cNvSpPr txBox="1"/>
          <p:nvPr/>
        </p:nvSpPr>
        <p:spPr>
          <a:xfrm>
            <a:off x="-31426" y="2346139"/>
            <a:ext cx="25589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(5) Address of node 28 is </a:t>
            </a:r>
          </a:p>
          <a:p>
            <a:r>
              <a:rPr lang="en-US" dirty="0">
                <a:solidFill>
                  <a:srgbClr val="FF0000"/>
                </a:solidFill>
              </a:rPr>
              <a:t>returned to node 1.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CD9E7C-1401-4529-442D-965200553CA9}"/>
              </a:ext>
            </a:extLst>
          </p:cNvPr>
          <p:cNvSpPr txBox="1"/>
          <p:nvPr/>
        </p:nvSpPr>
        <p:spPr>
          <a:xfrm>
            <a:off x="6571910" y="5855877"/>
            <a:ext cx="3610347" cy="1015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lvl="1"/>
            <a:r>
              <a:rPr lang="en-US" sz="1200" dirty="0">
                <a:solidFill>
                  <a:srgbClr val="FF0000"/>
                </a:solidFill>
              </a:rPr>
              <a:t>If predecessor &lt; k &lt; p, q = p.</a:t>
            </a:r>
          </a:p>
          <a:p>
            <a:pPr lvl="1"/>
            <a:r>
              <a:rPr lang="en-US" sz="1200" dirty="0"/>
              <a:t>Else If                                       , q = </a:t>
            </a:r>
            <a:r>
              <a:rPr lang="en-US" sz="1200" dirty="0" err="1"/>
              <a:t>FT</a:t>
            </a:r>
            <a:r>
              <a:rPr lang="en-US" sz="1200" baseline="-25000" dirty="0" err="1"/>
              <a:t>p</a:t>
            </a:r>
            <a:r>
              <a:rPr lang="en-US" sz="1200" dirty="0"/>
              <a:t>[j]. (CASE 1)</a:t>
            </a:r>
          </a:p>
          <a:p>
            <a:pPr lvl="1"/>
            <a:r>
              <a:rPr lang="en-US" sz="1200" dirty="0"/>
              <a:t>Else if k &gt;= </a:t>
            </a:r>
            <a:r>
              <a:rPr lang="en-US" sz="1200" dirty="0" err="1"/>
              <a:t>FT</a:t>
            </a:r>
            <a:r>
              <a:rPr lang="en-US" sz="1200" baseline="-25000" dirty="0" err="1"/>
              <a:t>p</a:t>
            </a:r>
            <a:r>
              <a:rPr lang="en-US" sz="1200" dirty="0"/>
              <a:t>[s], q = </a:t>
            </a:r>
            <a:r>
              <a:rPr lang="en-US" sz="1200" dirty="0" err="1"/>
              <a:t>FT</a:t>
            </a:r>
            <a:r>
              <a:rPr lang="en-US" sz="1200" baseline="-25000" dirty="0" err="1"/>
              <a:t>p</a:t>
            </a:r>
            <a:r>
              <a:rPr lang="en-US" sz="1200" dirty="0"/>
              <a:t>[s]. (CASE 2)</a:t>
            </a:r>
          </a:p>
          <a:p>
            <a:pPr lvl="1"/>
            <a:r>
              <a:rPr lang="en-US" sz="1200" dirty="0"/>
              <a:t>Else if p &lt; k &lt; </a:t>
            </a:r>
            <a:r>
              <a:rPr lang="en-US" sz="1200" dirty="0" err="1"/>
              <a:t>FT</a:t>
            </a:r>
            <a:r>
              <a:rPr lang="en-US" sz="1200" baseline="-25000" dirty="0" err="1"/>
              <a:t>p</a:t>
            </a:r>
            <a:r>
              <a:rPr lang="en-US" sz="1200" dirty="0"/>
              <a:t>[1], q = </a:t>
            </a:r>
            <a:r>
              <a:rPr lang="en-US" sz="1200" dirty="0" err="1"/>
              <a:t>FT</a:t>
            </a:r>
            <a:r>
              <a:rPr lang="en-US" sz="1200" baseline="-25000" dirty="0" err="1"/>
              <a:t>p</a:t>
            </a:r>
            <a:r>
              <a:rPr lang="en-US" sz="1200" dirty="0"/>
              <a:t>[1]. (CASE 3)</a:t>
            </a:r>
          </a:p>
          <a:p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73E1EB-D3F3-AE5D-A5E2-0E60EA3D3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6356" y="6096000"/>
            <a:ext cx="1181513" cy="186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690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4D5A6-C76A-4E73-BF12-17B03D26E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Structured Naming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EFCA78-4AC7-489E-93A5-6876EC2480B9}"/>
              </a:ext>
            </a:extLst>
          </p:cNvPr>
          <p:cNvSpPr txBox="1"/>
          <p:nvPr/>
        </p:nvSpPr>
        <p:spPr>
          <a:xfrm>
            <a:off x="1091047" y="4000500"/>
            <a:ext cx="69619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“Structured names are composed from simple, human-readable names. </a:t>
            </a:r>
          </a:p>
          <a:p>
            <a:pPr algn="ctr"/>
            <a:r>
              <a:rPr lang="en-US" dirty="0"/>
              <a:t>Examine how these names are resolved to addresses.”</a:t>
            </a:r>
          </a:p>
        </p:txBody>
      </p:sp>
    </p:spTree>
    <p:extLst>
      <p:ext uri="{BB962C8B-B14F-4D97-AF65-F5344CB8AC3E}">
        <p14:creationId xmlns:p14="http://schemas.microsoft.com/office/powerpoint/2010/main" val="2021981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35D70-B5BD-4C6B-9FDA-94288E945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Spaces (1/3)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A3389-0F86-481B-834B-EBBDB426F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lang="en-US" dirty="0"/>
              <a:t>Names are organized into what is called a </a:t>
            </a:r>
            <a:r>
              <a:rPr lang="en-US" dirty="0">
                <a:solidFill>
                  <a:srgbClr val="0070C0"/>
                </a:solidFill>
              </a:rPr>
              <a:t>name space</a:t>
            </a:r>
          </a:p>
          <a:p>
            <a:r>
              <a:rPr lang="en-US" dirty="0"/>
              <a:t>Name spaces for structured names are represented as </a:t>
            </a:r>
            <a:r>
              <a:rPr lang="en-US" dirty="0">
                <a:solidFill>
                  <a:srgbClr val="0070C0"/>
                </a:solidFill>
              </a:rPr>
              <a:t>a labeled, directed graph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1026" name="Picture 2" descr="Directed graph with its vertices are labeled with numbers and its edges...  | Download Scientific Diagram">
            <a:extLst>
              <a:ext uri="{FF2B5EF4-FFF2-40B4-BE49-F238E27FC236}">
                <a16:creationId xmlns:a16="http://schemas.microsoft.com/office/drawing/2014/main" id="{DCDAB68F-0011-DEF9-1BAE-EC1D9066A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4099746"/>
            <a:ext cx="4423931" cy="2316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C41F9C2-9596-85D8-20EB-E017AD02CB75}"/>
              </a:ext>
            </a:extLst>
          </p:cNvPr>
          <p:cNvSpPr/>
          <p:nvPr/>
        </p:nvSpPr>
        <p:spPr>
          <a:xfrm>
            <a:off x="4648200" y="4724400"/>
            <a:ext cx="1371600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70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3A8CF-0926-FA6B-F519-D14508C99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EFC06-D106-1EEB-CD4D-A102D1938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Spaces (2/3)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A3316-22BE-48F3-60E9-BE6D9E071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lang="en-US" dirty="0"/>
              <a:t>The labeled, directed graph of a name space consists of </a:t>
            </a:r>
            <a:r>
              <a:rPr lang="en-US" dirty="0">
                <a:solidFill>
                  <a:srgbClr val="0070C0"/>
                </a:solidFill>
              </a:rPr>
              <a:t>two types of nodes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rgbClr val="0070C0"/>
                </a:solidFill>
              </a:rPr>
              <a:t>leaf node </a:t>
            </a:r>
            <a:r>
              <a:rPr lang="en-US" dirty="0"/>
              <a:t>represents a named entity and has no outgoing edge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rgbClr val="0070C0"/>
                </a:solidFill>
              </a:rPr>
              <a:t>directory (source) node </a:t>
            </a:r>
            <a:r>
              <a:rPr lang="en-US" dirty="0"/>
              <a:t>has a number of outgoing edges; it stores a table called the </a:t>
            </a:r>
            <a:r>
              <a:rPr lang="en-US" dirty="0">
                <a:solidFill>
                  <a:srgbClr val="0070C0"/>
                </a:solidFill>
              </a:rPr>
              <a:t>directory table </a:t>
            </a:r>
            <a:r>
              <a:rPr lang="en-US" dirty="0"/>
              <a:t>consisting of a set of pairs (node identifier, edge label) for its target nodes.</a:t>
            </a:r>
          </a:p>
          <a:p>
            <a:pPr lvl="2"/>
            <a:r>
              <a:rPr lang="en-US" dirty="0"/>
              <a:t>The directory table indicates which edge is connected to which target node.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320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AE2EC-1BC2-4D89-8D25-8FB7BEB4F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Spaces (3/3)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A7E5E-723A-4EEB-8566-4C5E9C924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</a:t>
            </a:r>
            <a:r>
              <a:rPr lang="en-US" sz="2400" dirty="0">
                <a:solidFill>
                  <a:srgbClr val="0070C0"/>
                </a:solidFill>
              </a:rPr>
              <a:t>name</a:t>
            </a:r>
            <a:r>
              <a:rPr lang="en-US" sz="2400" dirty="0"/>
              <a:t> is represented as a path in a graph.</a:t>
            </a:r>
          </a:p>
          <a:p>
            <a:r>
              <a:rPr lang="en-US" sz="2400" dirty="0"/>
              <a:t>And each </a:t>
            </a:r>
            <a:r>
              <a:rPr lang="en-US" sz="2400" dirty="0">
                <a:solidFill>
                  <a:srgbClr val="0070C0"/>
                </a:solidFill>
              </a:rPr>
              <a:t>path</a:t>
            </a:r>
            <a:r>
              <a:rPr lang="en-US" sz="2400" dirty="0"/>
              <a:t> in a graph is referred to by a </a:t>
            </a:r>
            <a:r>
              <a:rPr lang="en-US" sz="2400" dirty="0">
                <a:solidFill>
                  <a:srgbClr val="0070C0"/>
                </a:solidFill>
              </a:rPr>
              <a:t>sequence of labels</a:t>
            </a:r>
            <a:r>
              <a:rPr lang="en-US" sz="2400" dirty="0"/>
              <a:t> corresponding to the edges on that path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8ECA44E2-874B-4DAA-BA48-40193B3EE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3012833"/>
            <a:ext cx="7848600" cy="355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7618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C3174-4D36-4A12-A9BC-527F7EA38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Resolution (1/4)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4C7ED-E979-4E02-9DA1-BD6C3F409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Name resolution</a:t>
            </a:r>
          </a:p>
          <a:p>
            <a:pPr lvl="1"/>
            <a:r>
              <a:rPr lang="en-US" dirty="0"/>
              <a:t>name (</a:t>
            </a:r>
            <a:r>
              <a:rPr lang="en-US" i="1" dirty="0"/>
              <a:t>i.e., </a:t>
            </a:r>
            <a:r>
              <a:rPr lang="en-US" dirty="0"/>
              <a:t>path) -&gt; address</a:t>
            </a:r>
          </a:p>
          <a:p>
            <a:r>
              <a:rPr lang="en-US" dirty="0"/>
              <a:t>Consider a path: N:[label</a:t>
            </a:r>
            <a:r>
              <a:rPr lang="en-US" baseline="-25000" dirty="0"/>
              <a:t>1</a:t>
            </a:r>
            <a:r>
              <a:rPr lang="en-US" dirty="0"/>
              <a:t>, label</a:t>
            </a:r>
            <a:r>
              <a:rPr lang="en-US" baseline="-25000" dirty="0"/>
              <a:t>2</a:t>
            </a:r>
            <a:r>
              <a:rPr lang="en-US" dirty="0"/>
              <a:t>, …, </a:t>
            </a:r>
            <a:r>
              <a:rPr lang="en-US" dirty="0" err="1"/>
              <a:t>label</a:t>
            </a:r>
            <a:r>
              <a:rPr lang="en-US" baseline="-25000" dirty="0" err="1"/>
              <a:t>n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Starting from node N (usually the root node) of the naming graph where label</a:t>
            </a:r>
            <a:r>
              <a:rPr lang="en-US" baseline="-25000" dirty="0"/>
              <a:t>1</a:t>
            </a:r>
            <a:r>
              <a:rPr lang="en-US" dirty="0"/>
              <a:t> is looked up in the directory table, which returns the node pointed by the outgoing edge labeled with label</a:t>
            </a:r>
            <a:r>
              <a:rPr lang="en-US" baseline="-25000" dirty="0"/>
              <a:t>1</a:t>
            </a:r>
            <a:r>
              <a:rPr lang="en-US" dirty="0"/>
              <a:t>, …</a:t>
            </a:r>
          </a:p>
          <a:p>
            <a:pPr lvl="1"/>
            <a:r>
              <a:rPr lang="en-US" dirty="0"/>
              <a:t>Resolution stops at the last node referred to by </a:t>
            </a:r>
            <a:r>
              <a:rPr lang="en-US" dirty="0" err="1"/>
              <a:t>label</a:t>
            </a:r>
            <a:r>
              <a:rPr lang="en-US" baseline="-25000" dirty="0" err="1"/>
              <a:t>n</a:t>
            </a:r>
            <a:r>
              <a:rPr lang="en-US" dirty="0"/>
              <a:t> by returning the node’s content</a:t>
            </a:r>
          </a:p>
          <a:p>
            <a:pPr lvl="2"/>
            <a:r>
              <a:rPr lang="en-US" dirty="0"/>
              <a:t>Here the content is typically an </a:t>
            </a:r>
            <a:r>
              <a:rPr lang="en-US" dirty="0">
                <a:solidFill>
                  <a:srgbClr val="0070C0"/>
                </a:solidFill>
              </a:rPr>
              <a:t>address</a:t>
            </a:r>
            <a:r>
              <a:rPr lang="en-US" dirty="0"/>
              <a:t> of the node so the client can access the node’s resources</a:t>
            </a:r>
          </a:p>
        </p:txBody>
      </p:sp>
    </p:spTree>
    <p:extLst>
      <p:ext uri="{BB962C8B-B14F-4D97-AF65-F5344CB8AC3E}">
        <p14:creationId xmlns:p14="http://schemas.microsoft.com/office/powerpoint/2010/main" val="3884696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C3174-4D36-4A12-A9BC-527F7EA38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Resolution (2/4)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4C7ED-E979-4E02-9DA1-BD6C3F409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28194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Closure mechanism</a:t>
            </a:r>
          </a:p>
          <a:p>
            <a:pPr lvl="1"/>
            <a:r>
              <a:rPr lang="en-US" dirty="0"/>
              <a:t>Name resolution can take place only if we know how  (a sequence of labels) and where to start (usually the root node)</a:t>
            </a:r>
          </a:p>
          <a:p>
            <a:pPr lvl="1"/>
            <a:r>
              <a:rPr lang="en-US" dirty="0"/>
              <a:t>Knowing how and where to start name resolution is generally referred to as a </a:t>
            </a:r>
            <a:r>
              <a:rPr lang="en-US" dirty="0">
                <a:solidFill>
                  <a:srgbClr val="0070C0"/>
                </a:solidFill>
              </a:rPr>
              <a:t>closure mechanism </a:t>
            </a:r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1535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F791C-2A5C-438E-9110-48F51D007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Linking</a:t>
            </a:r>
          </a:p>
          <a:p>
            <a:pPr lvl="1"/>
            <a:r>
              <a:rPr lang="en-US" sz="2000" dirty="0"/>
              <a:t>Using different names to access the same entity is called </a:t>
            </a:r>
            <a:r>
              <a:rPr lang="en-US" sz="2000" dirty="0">
                <a:solidFill>
                  <a:srgbClr val="0070C0"/>
                </a:solidFill>
              </a:rPr>
              <a:t>linking</a:t>
            </a:r>
            <a:r>
              <a:rPr lang="en-US" sz="2000" dirty="0"/>
              <a:t>; An </a:t>
            </a:r>
            <a:r>
              <a:rPr lang="en-US" sz="2000" dirty="0">
                <a:solidFill>
                  <a:srgbClr val="0070C0"/>
                </a:solidFill>
              </a:rPr>
              <a:t>alias</a:t>
            </a:r>
            <a:r>
              <a:rPr lang="en-US" sz="2000" dirty="0"/>
              <a:t> is another name for the same entity</a:t>
            </a:r>
          </a:p>
          <a:p>
            <a:pPr lvl="1"/>
            <a:r>
              <a:rPr lang="en-US" sz="2000" dirty="0"/>
              <a:t>Two different ways of implementing </a:t>
            </a:r>
            <a:r>
              <a:rPr lang="en-US" sz="2000" dirty="0">
                <a:solidFill>
                  <a:srgbClr val="0070C0"/>
                </a:solidFill>
              </a:rPr>
              <a:t>alias</a:t>
            </a:r>
          </a:p>
          <a:p>
            <a:pPr lvl="2"/>
            <a:r>
              <a:rPr lang="en-US" sz="1800" dirty="0"/>
              <a:t>Allow </a:t>
            </a:r>
            <a:r>
              <a:rPr lang="en-US" sz="1800" dirty="0">
                <a:solidFill>
                  <a:srgbClr val="0070C0"/>
                </a:solidFill>
              </a:rPr>
              <a:t>multiple absolute paths names </a:t>
            </a:r>
            <a:r>
              <a:rPr lang="en-US" sz="1800" dirty="0"/>
              <a:t>to refer to the same node</a:t>
            </a:r>
          </a:p>
          <a:p>
            <a:pPr lvl="2"/>
            <a:r>
              <a:rPr lang="en-US" sz="1800" dirty="0"/>
              <a:t>Instead of storing the address in a leaf node, the leaf node stores an absolute path name for a different node, resulting in accessing the same node with a different name.</a:t>
            </a:r>
          </a:p>
          <a:p>
            <a:pPr lvl="3"/>
            <a:endParaRPr lang="en-US" sz="1600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010699DE-EC4F-40F6-98E8-E3A8202E1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783" y="4038600"/>
            <a:ext cx="4724400" cy="2513592"/>
          </a:xfrm>
          <a:prstGeom prst="rect">
            <a:avLst/>
          </a:prstGeom>
        </p:spPr>
      </p:pic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EB210F8C-C6FA-4DEE-9058-C076ABFD1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7" y="4099719"/>
            <a:ext cx="4419600" cy="239135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1EF3B4FD-BA90-F06D-142F-1EC21C4E6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Name Resolution (3/4)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D9967-59FC-DF58-062D-B0D42D53A962}"/>
              </a:ext>
            </a:extLst>
          </p:cNvPr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584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1E5A0-E807-4951-B4E5-BEA18F271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Resolution (4/4)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1F300-38D1-4F36-BEB4-501C31FFD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Mounting</a:t>
            </a:r>
            <a:endParaRPr lang="en-US" dirty="0"/>
          </a:p>
          <a:p>
            <a:pPr lvl="1"/>
            <a:r>
              <a:rPr lang="en-US" dirty="0"/>
              <a:t>Name resolution can also be used to </a:t>
            </a:r>
            <a:r>
              <a:rPr lang="en-US" dirty="0">
                <a:solidFill>
                  <a:srgbClr val="0070C0"/>
                </a:solidFill>
              </a:rPr>
              <a:t>merge</a:t>
            </a:r>
            <a:r>
              <a:rPr lang="en-US" dirty="0"/>
              <a:t> different name spaces; this is called </a:t>
            </a:r>
            <a:r>
              <a:rPr lang="en-US" dirty="0">
                <a:solidFill>
                  <a:srgbClr val="0070C0"/>
                </a:solidFill>
              </a:rPr>
              <a:t>mounting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Let a directory node (called the </a:t>
            </a:r>
            <a:r>
              <a:rPr lang="en-US" dirty="0">
                <a:solidFill>
                  <a:srgbClr val="0070C0"/>
                </a:solidFill>
              </a:rPr>
              <a:t>mount point</a:t>
            </a:r>
            <a:r>
              <a:rPr lang="en-US" dirty="0"/>
              <a:t>)  store the identifier of a directory node (called </a:t>
            </a:r>
            <a:r>
              <a:rPr lang="en-US" dirty="0">
                <a:solidFill>
                  <a:srgbClr val="0070C0"/>
                </a:solidFill>
              </a:rPr>
              <a:t>mounting point</a:t>
            </a:r>
            <a:r>
              <a:rPr lang="en-US" dirty="0"/>
              <a:t>) from a different name space.</a:t>
            </a:r>
          </a:p>
          <a:p>
            <a:pPr lvl="1"/>
            <a:endParaRPr lang="en-US" dirty="0"/>
          </a:p>
        </p:txBody>
      </p:sp>
      <p:pic>
        <p:nvPicPr>
          <p:cNvPr id="1026" name="Picture 2" descr="Mounting Overview">
            <a:extLst>
              <a:ext uri="{FF2B5EF4-FFF2-40B4-BE49-F238E27FC236}">
                <a16:creationId xmlns:a16="http://schemas.microsoft.com/office/drawing/2014/main" id="{852A94F3-091B-4318-A4F7-2F29E858B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2" y="4391954"/>
            <a:ext cx="5857875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8640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19428-7C69-41EB-B395-7ACBE2E9E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Implementation of a Name Space (1/3)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DBAF0-FF3C-480C-92FE-A217F2F9A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 naming service is implemented by </a:t>
            </a:r>
            <a:r>
              <a:rPr lang="en-US" dirty="0">
                <a:solidFill>
                  <a:srgbClr val="0070C0"/>
                </a:solidFill>
              </a:rPr>
              <a:t>name servers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Name servers perform name resolution, </a:t>
            </a:r>
            <a:r>
              <a:rPr lang="en-US" i="1" dirty="0">
                <a:solidFill>
                  <a:srgbClr val="0070C0"/>
                </a:solidFill>
              </a:rPr>
              <a:t>i.e.</a:t>
            </a:r>
            <a:r>
              <a:rPr lang="en-US" dirty="0">
                <a:solidFill>
                  <a:srgbClr val="0070C0"/>
                </a:solidFill>
              </a:rPr>
              <a:t>, name -&gt; address</a:t>
            </a:r>
          </a:p>
          <a:p>
            <a:r>
              <a:rPr lang="en-US" dirty="0"/>
              <a:t>In large-scale distributed systems with many entities spread across a large geographical area, it is necessary to employ </a:t>
            </a:r>
            <a:r>
              <a:rPr lang="en-US" dirty="0">
                <a:solidFill>
                  <a:srgbClr val="0070C0"/>
                </a:solidFill>
              </a:rPr>
              <a:t>multiple name servers</a:t>
            </a:r>
          </a:p>
          <a:p>
            <a:pPr lvl="1"/>
            <a:r>
              <a:rPr lang="en-US" dirty="0"/>
              <a:t>Each name server is responsible for name resolution at a specific level of a graph.</a:t>
            </a:r>
          </a:p>
        </p:txBody>
      </p:sp>
    </p:spTree>
    <p:extLst>
      <p:ext uri="{BB962C8B-B14F-4D97-AF65-F5344CB8AC3E}">
        <p14:creationId xmlns:p14="http://schemas.microsoft.com/office/powerpoint/2010/main" val="8411737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3BAE7-C2FD-43A2-888D-F74CA8780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Implementation of a Name Space (2/3)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C0DC3-8B79-4F1D-94DE-E122F6D5E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257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Name space distribution</a:t>
            </a:r>
          </a:p>
          <a:p>
            <a:pPr lvl="1"/>
            <a:r>
              <a:rPr lang="en-US" dirty="0"/>
              <a:t>A name space for a large-scale system is partitioned into logical layers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Global layer </a:t>
            </a:r>
            <a:r>
              <a:rPr lang="en-US" dirty="0"/>
              <a:t>is formed by highest-level nodes (</a:t>
            </a:r>
            <a:r>
              <a:rPr lang="en-US" i="1" dirty="0"/>
              <a:t>e.g., </a:t>
            </a:r>
            <a:r>
              <a:rPr lang="en-US" dirty="0"/>
              <a:t>the root node or its children)</a:t>
            </a:r>
          </a:p>
          <a:p>
            <a:pPr lvl="3"/>
            <a:r>
              <a:rPr lang="en-US" dirty="0"/>
              <a:t>Characterized by </a:t>
            </a:r>
            <a:r>
              <a:rPr lang="en-US" dirty="0">
                <a:solidFill>
                  <a:srgbClr val="0070C0"/>
                </a:solidFill>
              </a:rPr>
              <a:t>stability</a:t>
            </a:r>
            <a:r>
              <a:rPr lang="en-US" dirty="0"/>
              <a:t> in the sense that directory tables are rarely changed.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Administrational layer </a:t>
            </a:r>
            <a:r>
              <a:rPr lang="en-US" dirty="0"/>
              <a:t>is formed by directory nodes that together are managed within a single organization</a:t>
            </a:r>
          </a:p>
          <a:p>
            <a:pPr lvl="3"/>
            <a:r>
              <a:rPr lang="en-US" dirty="0"/>
              <a:t>Nodes belonging to the same organization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Managerial layer</a:t>
            </a:r>
            <a:r>
              <a:rPr lang="en-US" dirty="0"/>
              <a:t> consists of nodes that may typically change (the directory tables) regularly (</a:t>
            </a:r>
            <a:r>
              <a:rPr lang="en-US" i="1" dirty="0"/>
              <a:t>e.g., </a:t>
            </a:r>
            <a:r>
              <a:rPr lang="en-US" dirty="0"/>
              <a:t>nodes in the local network)</a:t>
            </a:r>
          </a:p>
        </p:txBody>
      </p:sp>
    </p:spTree>
    <p:extLst>
      <p:ext uri="{BB962C8B-B14F-4D97-AF65-F5344CB8AC3E}">
        <p14:creationId xmlns:p14="http://schemas.microsoft.com/office/powerpoint/2010/main" val="5993613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003B3-CBB6-44D3-B469-C1B1E9D48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Implementation of a Name Space (3/3)</a:t>
            </a:r>
          </a:p>
        </p:txBody>
      </p:sp>
      <p:pic>
        <p:nvPicPr>
          <p:cNvPr id="5" name="Picture 4" descr="Diagram, engineering drawing&#10;&#10;Description automatically generated">
            <a:extLst>
              <a:ext uri="{FF2B5EF4-FFF2-40B4-BE49-F238E27FC236}">
                <a16:creationId xmlns:a16="http://schemas.microsoft.com/office/drawing/2014/main" id="{D527417A-2B50-4DE6-81F0-8DA355CC2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676400"/>
            <a:ext cx="7162800" cy="47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8022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257E7-5245-44B1-A802-C9438C9FE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Implementation of Name Resolution (1/3)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EED48-60B9-42CE-997C-CE9E4338C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Each client has access to a local </a:t>
            </a:r>
            <a:r>
              <a:rPr lang="en-US" dirty="0">
                <a:solidFill>
                  <a:srgbClr val="0070C0"/>
                </a:solidFill>
              </a:rPr>
              <a:t>name resolver</a:t>
            </a:r>
          </a:p>
          <a:p>
            <a:r>
              <a:rPr lang="en-US" dirty="0"/>
              <a:t>Two ways of implementation</a:t>
            </a:r>
          </a:p>
          <a:p>
            <a:pPr lvl="1"/>
            <a:r>
              <a:rPr lang="en-US" dirty="0"/>
              <a:t>In </a:t>
            </a:r>
            <a:r>
              <a:rPr lang="en-US" dirty="0">
                <a:solidFill>
                  <a:srgbClr val="0070C0"/>
                </a:solidFill>
              </a:rPr>
              <a:t>iterative name resolution</a:t>
            </a:r>
            <a:r>
              <a:rPr lang="en-US" dirty="0"/>
              <a:t>, a name resolver hands over the complete name to </a:t>
            </a:r>
            <a:r>
              <a:rPr lang="en-US" dirty="0">
                <a:solidFill>
                  <a:srgbClr val="0070C0"/>
                </a:solidFill>
              </a:rPr>
              <a:t>the root name server</a:t>
            </a:r>
          </a:p>
          <a:p>
            <a:pPr lvl="1"/>
            <a:r>
              <a:rPr lang="en-US" dirty="0"/>
              <a:t>The root server will resolve the name as far as it can (as many labels as possible) and return the result (</a:t>
            </a:r>
            <a:r>
              <a:rPr lang="en-US" i="1" dirty="0"/>
              <a:t>i.e., </a:t>
            </a:r>
            <a:r>
              <a:rPr lang="en-US" dirty="0"/>
              <a:t>the address of the subsequent name server) to the client</a:t>
            </a:r>
          </a:p>
          <a:p>
            <a:pPr lvl="1"/>
            <a:r>
              <a:rPr lang="en-US" dirty="0"/>
              <a:t>The client passes the remaining path name to that subsequent name server (which was returned by the previous name server)</a:t>
            </a:r>
          </a:p>
          <a:p>
            <a:pPr lvl="1"/>
            <a:r>
              <a:rPr lang="en-US" dirty="0"/>
              <a:t>That name server will resolve the name as far as it can and return the result (the address of another subsequent name server) to the client</a:t>
            </a:r>
          </a:p>
          <a:p>
            <a:pPr lvl="1"/>
            <a:r>
              <a:rPr lang="en-US" dirty="0"/>
              <a:t>And so on…</a:t>
            </a:r>
          </a:p>
        </p:txBody>
      </p:sp>
    </p:spTree>
    <p:extLst>
      <p:ext uri="{BB962C8B-B14F-4D97-AF65-F5344CB8AC3E}">
        <p14:creationId xmlns:p14="http://schemas.microsoft.com/office/powerpoint/2010/main" val="20755850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FD308-BD58-4623-9C93-297A6AAAD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Implementation of Name Resolution (2/3)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6703444A-7933-4BB9-8114-C0F9804EA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5400"/>
            <a:ext cx="9144000" cy="508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6827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28E2E-7227-437B-80FC-AD7EE1825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Implementation of Name Resolution (3/3)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375C6-8FFF-495B-843D-7A3D79963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>
            <a:normAutofit/>
          </a:bodyPr>
          <a:lstStyle/>
          <a:p>
            <a:r>
              <a:rPr lang="en-US" sz="2800" dirty="0"/>
              <a:t>Two ways of implementation cont.</a:t>
            </a:r>
          </a:p>
          <a:p>
            <a:pPr lvl="1"/>
            <a:r>
              <a:rPr lang="en-US" sz="2400" dirty="0"/>
              <a:t>Instead of returning each intermediate result back to the client’s name resolver, with </a:t>
            </a:r>
            <a:r>
              <a:rPr lang="en-US" sz="2400" dirty="0">
                <a:solidFill>
                  <a:srgbClr val="0070C0"/>
                </a:solidFill>
              </a:rPr>
              <a:t>recursive name resolution</a:t>
            </a:r>
            <a:r>
              <a:rPr lang="en-US" sz="2400" dirty="0"/>
              <a:t>, a name server passes the result directly to the next name server it finds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8CD5E45C-51DB-4411-A673-3D8842EC3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295475"/>
            <a:ext cx="6934200" cy="35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0109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4D5A6-C76A-4E73-BF12-17B03D26E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Attribute-Based Naming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21CE68-62B1-417F-AC27-218CEDD68C40}"/>
              </a:ext>
            </a:extLst>
          </p:cNvPr>
          <p:cNvSpPr txBox="1"/>
          <p:nvPr/>
        </p:nvSpPr>
        <p:spPr>
          <a:xfrm>
            <a:off x="0" y="3981915"/>
            <a:ext cx="92032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“Looking up an entity with descriptions of an entity in terms of (attribute, value) is referred to as</a:t>
            </a:r>
          </a:p>
          <a:p>
            <a:pPr algn="ctr"/>
            <a:r>
              <a:rPr lang="en-US" dirty="0"/>
              <a:t>attribute-based naming.”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2C849D-432B-4990-A947-8D377F9FBCA6}"/>
              </a:ext>
            </a:extLst>
          </p:cNvPr>
          <p:cNvSpPr txBox="1"/>
          <p:nvPr/>
        </p:nvSpPr>
        <p:spPr>
          <a:xfrm>
            <a:off x="2057400" y="4765224"/>
            <a:ext cx="5943599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1081405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The name of an entity is a set of attribute-value pairs. </a:t>
            </a:r>
          </a:p>
        </p:txBody>
      </p:sp>
    </p:spTree>
    <p:extLst>
      <p:ext uri="{BB962C8B-B14F-4D97-AF65-F5344CB8AC3E}">
        <p14:creationId xmlns:p14="http://schemas.microsoft.com/office/powerpoint/2010/main" val="35755810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4811F-9F12-4A8D-98CF-F944214C7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Directory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A7A82-6CBC-45D7-B522-48C50D726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/>
              <a:t>Attribute-based naming systems are also known as </a:t>
            </a:r>
            <a:r>
              <a:rPr lang="en-US" dirty="0">
                <a:solidFill>
                  <a:srgbClr val="0070C0"/>
                </a:solidFill>
              </a:rPr>
              <a:t>directory services</a:t>
            </a:r>
          </a:p>
          <a:p>
            <a:pPr lvl="1"/>
            <a:r>
              <a:rPr lang="en-US" dirty="0"/>
              <a:t>Entities have a set of associated attributes</a:t>
            </a:r>
          </a:p>
          <a:p>
            <a:r>
              <a:rPr lang="en-US" dirty="0"/>
              <a:t>An entity is assumed to have an associated collection of attributes. </a:t>
            </a:r>
          </a:p>
          <a:p>
            <a:pPr lvl="1"/>
            <a:r>
              <a:rPr lang="en-US" dirty="0"/>
              <a:t>A sequence of attributes represents a </a:t>
            </a:r>
            <a:r>
              <a:rPr lang="en-US" dirty="0">
                <a:solidFill>
                  <a:srgbClr val="0070C0"/>
                </a:solidFill>
              </a:rPr>
              <a:t>name</a:t>
            </a:r>
            <a:endParaRPr lang="en-US" dirty="0"/>
          </a:p>
          <a:p>
            <a:pPr lvl="1"/>
            <a:r>
              <a:rPr lang="en-US" dirty="0"/>
              <a:t>A user provides specific </a:t>
            </a:r>
            <a:r>
              <a:rPr lang="en-US" dirty="0">
                <a:solidFill>
                  <a:srgbClr val="0070C0"/>
                </a:solidFill>
              </a:rPr>
              <a:t>attributes </a:t>
            </a:r>
            <a:r>
              <a:rPr lang="en-US" dirty="0"/>
              <a:t>to search for an entities matching the attributes.</a:t>
            </a:r>
          </a:p>
          <a:p>
            <a:pPr lvl="1"/>
            <a:r>
              <a:rPr lang="en-US" dirty="0"/>
              <a:t>The naming system returns entities that the user is interested in.</a:t>
            </a:r>
          </a:p>
        </p:txBody>
      </p:sp>
    </p:spTree>
    <p:extLst>
      <p:ext uri="{BB962C8B-B14F-4D97-AF65-F5344CB8AC3E}">
        <p14:creationId xmlns:p14="http://schemas.microsoft.com/office/powerpoint/2010/main" val="4958073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CDB44-31E4-455D-AF7B-045617B20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37832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dirty="0"/>
              <a:t>Hierarchical Implementation: LDAP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9FDE6-557C-457F-A7AE-4A9D9B6B6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55637"/>
            <a:ext cx="8229600" cy="4525963"/>
          </a:xfrm>
        </p:spPr>
        <p:txBody>
          <a:bodyPr>
            <a:normAutofit/>
          </a:bodyPr>
          <a:lstStyle/>
          <a:p>
            <a:r>
              <a:rPr lang="en-US" sz="2000" dirty="0"/>
              <a:t>A common approach to implement distributed directory services is to combine </a:t>
            </a:r>
            <a:r>
              <a:rPr lang="en-US" sz="2000" dirty="0">
                <a:solidFill>
                  <a:srgbClr val="0070C0"/>
                </a:solidFill>
              </a:rPr>
              <a:t>structured naming with attribute-based naming</a:t>
            </a:r>
          </a:p>
          <a:p>
            <a:pPr lvl="1"/>
            <a:r>
              <a:rPr lang="en-US" sz="1800" dirty="0"/>
              <a:t>The attribute-based name space is represented as a labeled, directed tree (no cycle).</a:t>
            </a:r>
          </a:p>
          <a:p>
            <a:pPr lvl="1"/>
            <a:r>
              <a:rPr lang="en-US" sz="1800" dirty="0"/>
              <a:t>A (directory) node in a directed tree represents an attribute.</a:t>
            </a:r>
          </a:p>
          <a:p>
            <a:pPr lvl="1"/>
            <a:r>
              <a:rPr lang="en-US" sz="1800" dirty="0"/>
              <a:t>A label of an outgoing edge represents the value of an attribute</a:t>
            </a:r>
          </a:p>
          <a:p>
            <a:pPr lvl="1"/>
            <a:r>
              <a:rPr lang="en-US" sz="1800" dirty="0"/>
              <a:t>Many of these systems rely on the </a:t>
            </a:r>
            <a:r>
              <a:rPr lang="en-US" sz="1800" dirty="0">
                <a:solidFill>
                  <a:srgbClr val="0070C0"/>
                </a:solidFill>
              </a:rPr>
              <a:t>lightweight directory access protocol (LDAP) </a:t>
            </a:r>
          </a:p>
          <a:p>
            <a:r>
              <a:rPr lang="en-US" sz="2000" dirty="0"/>
              <a:t>LDAP</a:t>
            </a:r>
          </a:p>
          <a:p>
            <a:pPr lvl="1"/>
            <a:r>
              <a:rPr lang="en-US" sz="1800" dirty="0"/>
              <a:t>An LDAP directory service consists of a number of </a:t>
            </a:r>
            <a:r>
              <a:rPr lang="en-US" sz="1800" dirty="0">
                <a:solidFill>
                  <a:srgbClr val="0070C0"/>
                </a:solidFill>
              </a:rPr>
              <a:t>records</a:t>
            </a:r>
            <a:r>
              <a:rPr lang="en-US" sz="1800" dirty="0"/>
              <a:t> referred to as </a:t>
            </a:r>
            <a:r>
              <a:rPr lang="en-US" sz="1800" dirty="0">
                <a:solidFill>
                  <a:srgbClr val="0070C0"/>
                </a:solidFill>
              </a:rPr>
              <a:t>directory entries </a:t>
            </a:r>
          </a:p>
          <a:p>
            <a:pPr lvl="1"/>
            <a:r>
              <a:rPr lang="en-US" sz="1800" dirty="0"/>
              <a:t>Each record is made up of a collection of (attribute, value) pairs</a:t>
            </a: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D1484B6E-CF62-4D09-85C6-87FD874D1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599214"/>
            <a:ext cx="5486400" cy="19841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C8129B-3356-4294-A8B7-316AC8AA215D}"/>
              </a:ext>
            </a:extLst>
          </p:cNvPr>
          <p:cNvSpPr txBox="1"/>
          <p:nvPr/>
        </p:nvSpPr>
        <p:spPr>
          <a:xfrm>
            <a:off x="2743200" y="6488668"/>
            <a:ext cx="2777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 example directory entry.</a:t>
            </a:r>
          </a:p>
        </p:txBody>
      </p:sp>
    </p:spTree>
    <p:extLst>
      <p:ext uri="{BB962C8B-B14F-4D97-AF65-F5344CB8AC3E}">
        <p14:creationId xmlns:p14="http://schemas.microsoft.com/office/powerpoint/2010/main" val="39503868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A1B70-B130-47B1-9D99-0AADEF585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Hierarchical Implementation: LDAP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44C10-B493-4D1F-A62D-96DA5B7E7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009" y="1143000"/>
            <a:ext cx="8229600" cy="4525963"/>
          </a:xfrm>
        </p:spPr>
        <p:txBody>
          <a:bodyPr>
            <a:normAutofit/>
          </a:bodyPr>
          <a:lstStyle/>
          <a:p>
            <a:r>
              <a:rPr lang="en-US" sz="2000" dirty="0"/>
              <a:t>Each record (directory entry) is uniquely named</a:t>
            </a:r>
          </a:p>
          <a:p>
            <a:pPr lvl="1"/>
            <a:r>
              <a:rPr lang="en-US" sz="1600" dirty="0"/>
              <a:t>A sequence of </a:t>
            </a:r>
            <a:r>
              <a:rPr lang="en-US" sz="1600" dirty="0">
                <a:solidFill>
                  <a:srgbClr val="0070C0"/>
                </a:solidFill>
              </a:rPr>
              <a:t>attributes </a:t>
            </a:r>
            <a:r>
              <a:rPr lang="en-US" sz="1600" dirty="0"/>
              <a:t>is used as a unique name.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/>
              <a:t>The globally unique names of records can be represented as a tree called the </a:t>
            </a:r>
            <a:r>
              <a:rPr lang="en-US" sz="2000" dirty="0">
                <a:solidFill>
                  <a:srgbClr val="0070C0"/>
                </a:solidFill>
              </a:rPr>
              <a:t>directory information tree (DIT)</a:t>
            </a:r>
          </a:p>
        </p:txBody>
      </p:sp>
      <p:pic>
        <p:nvPicPr>
          <p:cNvPr id="5" name="Picture 4" descr="Diagram, schematic&#10;&#10;Description automatically generated">
            <a:extLst>
              <a:ext uri="{FF2B5EF4-FFF2-40B4-BE49-F238E27FC236}">
                <a16:creationId xmlns:a16="http://schemas.microsoft.com/office/drawing/2014/main" id="{72947942-5E41-4FF4-A396-70B05D52D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798003"/>
            <a:ext cx="5943600" cy="28709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F125C3-3353-40B1-A204-04CAFC119925}"/>
              </a:ext>
            </a:extLst>
          </p:cNvPr>
          <p:cNvSpPr txBox="1"/>
          <p:nvPr/>
        </p:nvSpPr>
        <p:spPr>
          <a:xfrm>
            <a:off x="1013791" y="5735433"/>
            <a:ext cx="7445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 of a directory information tree representing two records (star and zephyr)</a:t>
            </a:r>
          </a:p>
        </p:txBody>
      </p:sp>
    </p:spTree>
    <p:extLst>
      <p:ext uri="{BB962C8B-B14F-4D97-AF65-F5344CB8AC3E}">
        <p14:creationId xmlns:p14="http://schemas.microsoft.com/office/powerpoint/2010/main" val="39255206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B498-E93F-4555-938E-17FE88EF4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Decentralized Implementations (1/4)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579D3-0540-4157-8B7A-95731A962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centralized implementation method (</a:t>
            </a:r>
            <a:r>
              <a:rPr lang="en-US" i="1" dirty="0"/>
              <a:t>i.e.</a:t>
            </a:r>
            <a:r>
              <a:rPr lang="en-US" dirty="0"/>
              <a:t>, maintaining the directory information tree at a centralized server) suffers from the </a:t>
            </a:r>
            <a:r>
              <a:rPr lang="en-US" dirty="0">
                <a:solidFill>
                  <a:srgbClr val="C00000"/>
                </a:solidFill>
              </a:rPr>
              <a:t>single-point-of-failure</a:t>
            </a:r>
            <a:r>
              <a:rPr lang="en-US" dirty="0"/>
              <a:t> problem and the </a:t>
            </a:r>
            <a:r>
              <a:rPr lang="en-US" dirty="0">
                <a:solidFill>
                  <a:srgbClr val="C00000"/>
                </a:solidFill>
              </a:rPr>
              <a:t>scalability</a:t>
            </a:r>
            <a:r>
              <a:rPr lang="en-US" dirty="0"/>
              <a:t> problem.</a:t>
            </a:r>
          </a:p>
          <a:p>
            <a:r>
              <a:rPr lang="en-US" dirty="0"/>
              <a:t>The idea is to distribute (part) of directory information tree to multiple nodes.</a:t>
            </a:r>
          </a:p>
          <a:p>
            <a:r>
              <a:rPr lang="en-US" dirty="0"/>
              <a:t>Name resolution for decentralized name server</a:t>
            </a:r>
          </a:p>
          <a:p>
            <a:pPr lvl="1"/>
            <a:r>
              <a:rPr lang="en-US" dirty="0"/>
              <a:t>A simple solution for name resolution</a:t>
            </a:r>
          </a:p>
          <a:p>
            <a:pPr lvl="2"/>
            <a:r>
              <a:rPr lang="en-US" dirty="0"/>
              <a:t>Querying every node to see if it contains an entity matching one or more of (attribute, value) pairs</a:t>
            </a:r>
          </a:p>
          <a:p>
            <a:pPr lvl="2"/>
            <a:r>
              <a:rPr lang="en-US" dirty="0">
                <a:solidFill>
                  <a:srgbClr val="C00000"/>
                </a:solidFill>
              </a:rPr>
              <a:t>Inefficient</a:t>
            </a:r>
            <a:r>
              <a:rPr lang="en-US" dirty="0"/>
              <a:t>!</a:t>
            </a:r>
          </a:p>
          <a:p>
            <a:pPr lvl="1"/>
            <a:r>
              <a:rPr lang="en-US" dirty="0"/>
              <a:t>More </a:t>
            </a:r>
            <a:r>
              <a:rPr lang="en-US" dirty="0">
                <a:solidFill>
                  <a:srgbClr val="0070C0"/>
                </a:solidFill>
              </a:rPr>
              <a:t>efficient</a:t>
            </a:r>
            <a:r>
              <a:rPr lang="en-US" dirty="0"/>
              <a:t> solution</a:t>
            </a:r>
          </a:p>
          <a:p>
            <a:pPr lvl="2"/>
            <a:r>
              <a:rPr lang="en-US" dirty="0"/>
              <a:t>Use a small number of designated nodes as </a:t>
            </a:r>
            <a:r>
              <a:rPr lang="en-US" dirty="0">
                <a:solidFill>
                  <a:srgbClr val="0070C0"/>
                </a:solidFill>
              </a:rPr>
              <a:t>index servers </a:t>
            </a:r>
            <a:r>
              <a:rPr lang="en-US" dirty="0"/>
              <a:t>which point to entities matching those pairs. </a:t>
            </a:r>
          </a:p>
        </p:txBody>
      </p:sp>
    </p:spTree>
    <p:extLst>
      <p:ext uri="{BB962C8B-B14F-4D97-AF65-F5344CB8AC3E}">
        <p14:creationId xmlns:p14="http://schemas.microsoft.com/office/powerpoint/2010/main" val="2255961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3855B-0ED7-4140-9F55-AA5DB8BB7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Decentralized Implementations (2/4)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F9881-43D7-4CB0-B00E-049DBBC0E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5105400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Assume there are </a:t>
            </a:r>
            <a:r>
              <a:rPr lang="en-US" sz="2800" i="1" dirty="0"/>
              <a:t>d</a:t>
            </a:r>
            <a:r>
              <a:rPr lang="en-US" sz="2800" dirty="0"/>
              <a:t> different attributes. </a:t>
            </a:r>
          </a:p>
          <a:p>
            <a:r>
              <a:rPr lang="en-US" sz="2800" dirty="0"/>
              <a:t>We can deploy an </a:t>
            </a:r>
            <a:r>
              <a:rPr lang="en-US" sz="2800" dirty="0">
                <a:solidFill>
                  <a:srgbClr val="0070C0"/>
                </a:solidFill>
              </a:rPr>
              <a:t>index server </a:t>
            </a:r>
            <a:r>
              <a:rPr lang="en-US" sz="2800" dirty="0"/>
              <a:t>for each of the </a:t>
            </a:r>
            <a:r>
              <a:rPr lang="en-US" sz="2800" i="1" dirty="0"/>
              <a:t>d</a:t>
            </a:r>
            <a:r>
              <a:rPr lang="en-US" sz="2800" dirty="0"/>
              <a:t> attributes.</a:t>
            </a:r>
          </a:p>
          <a:p>
            <a:r>
              <a:rPr lang="en-US" sz="2800" dirty="0"/>
              <a:t>For example, a </a:t>
            </a:r>
            <a:r>
              <a:rPr lang="en-US" sz="2800" dirty="0">
                <a:solidFill>
                  <a:srgbClr val="0070C0"/>
                </a:solidFill>
              </a:rPr>
              <a:t>search query </a:t>
            </a:r>
          </a:p>
          <a:p>
            <a:endParaRPr lang="en-US" sz="2800" dirty="0"/>
          </a:p>
          <a:p>
            <a:pPr marL="0" indent="0">
              <a:buNone/>
            </a:pPr>
            <a:r>
              <a:rPr lang="en-US" sz="2800" dirty="0"/>
              <a:t>   </a:t>
            </a:r>
          </a:p>
          <a:p>
            <a:pPr marL="0" indent="0">
              <a:buNone/>
            </a:pPr>
            <a:r>
              <a:rPr lang="en-US" sz="2800" dirty="0"/>
              <a:t>    would be sent to the </a:t>
            </a:r>
            <a:r>
              <a:rPr lang="en-US" sz="2800" dirty="0">
                <a:solidFill>
                  <a:srgbClr val="0070C0"/>
                </a:solidFill>
              </a:rPr>
              <a:t>index servers </a:t>
            </a:r>
            <a:r>
              <a:rPr lang="en-US" sz="2800" dirty="0"/>
              <a:t>for Country,</a:t>
            </a:r>
          </a:p>
          <a:p>
            <a:pPr marL="0" indent="0">
              <a:buNone/>
            </a:pPr>
            <a:r>
              <a:rPr lang="en-US" sz="2800" dirty="0"/>
              <a:t>    Organization, Organizational Unit, and </a:t>
            </a:r>
            <a:r>
              <a:rPr lang="en-US" sz="2800" dirty="0" err="1"/>
              <a:t>CommonName</a:t>
            </a:r>
            <a:r>
              <a:rPr lang="en-US" sz="2800" dirty="0"/>
              <a:t>, </a:t>
            </a:r>
          </a:p>
          <a:p>
            <a:pPr marL="0" indent="0">
              <a:buNone/>
            </a:pPr>
            <a:r>
              <a:rPr lang="en-US" sz="2800" dirty="0"/>
              <a:t>    respectively.</a:t>
            </a:r>
          </a:p>
          <a:p>
            <a:r>
              <a:rPr lang="en-US" sz="2800" dirty="0"/>
              <a:t>And then, the client can find which entity </a:t>
            </a:r>
            <a:r>
              <a:rPr lang="en-US" sz="2800" u="sng" dirty="0"/>
              <a:t>occurs in all four sets</a:t>
            </a:r>
            <a:r>
              <a:rPr lang="en-US" sz="2800" dirty="0"/>
              <a:t> returned by the servers.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467A1C-CE15-4896-BA2B-5DF8BF1EB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57600"/>
            <a:ext cx="7772400" cy="76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4288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A4C3E-84CD-42E3-A98D-A1D4614C5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Decentralized Implementations (3/4)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F7F48-4EC7-4B4D-B137-CE386F30F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Drawbacks</a:t>
            </a:r>
            <a:r>
              <a:rPr lang="en-US" dirty="0"/>
              <a:t> of the multiple index server-based implementation method</a:t>
            </a:r>
          </a:p>
          <a:p>
            <a:pPr lvl="1"/>
            <a:r>
              <a:rPr lang="en-US" dirty="0"/>
              <a:t>Need to contact </a:t>
            </a:r>
            <a:r>
              <a:rPr lang="en-US" i="1" dirty="0"/>
              <a:t>k</a:t>
            </a:r>
            <a:r>
              <a:rPr lang="en-US" dirty="0"/>
              <a:t> index servers -&gt; </a:t>
            </a:r>
            <a:r>
              <a:rPr lang="en-US" dirty="0">
                <a:solidFill>
                  <a:srgbClr val="C00000"/>
                </a:solidFill>
              </a:rPr>
              <a:t>high communication overhead</a:t>
            </a:r>
          </a:p>
          <a:p>
            <a:pPr lvl="1"/>
            <a:r>
              <a:rPr lang="en-US" dirty="0"/>
              <a:t>The client needs to process the sets returned by the index servers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297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7846B-A0B8-4877-83F4-8574F72CD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Decentralized Implementations (4/4)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080EB-AE33-4979-BB6F-F1A4DAB13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</a:rPr>
              <a:t>Space-filling curves</a:t>
            </a:r>
          </a:p>
          <a:p>
            <a:pPr lvl="1"/>
            <a:r>
              <a:rPr lang="en-US" sz="3200" dirty="0"/>
              <a:t>The idea is to map the </a:t>
            </a:r>
            <a:r>
              <a:rPr lang="en-US" sz="3200" i="1" dirty="0"/>
              <a:t>N</a:t>
            </a:r>
            <a:r>
              <a:rPr lang="en-US" sz="3200" dirty="0"/>
              <a:t>-dimensional space for the </a:t>
            </a:r>
            <a:r>
              <a:rPr lang="en-US" sz="3200" i="1" dirty="0"/>
              <a:t>N</a:t>
            </a:r>
            <a:r>
              <a:rPr lang="en-US" sz="3200" dirty="0"/>
              <a:t> attributes </a:t>
            </a:r>
            <a:r>
              <a:rPr lang="en-US" sz="3200" i="1" dirty="0"/>
              <a:t>{a</a:t>
            </a:r>
            <a:r>
              <a:rPr lang="en-US" sz="3200" i="1" baseline="30000" dirty="0"/>
              <a:t>1</a:t>
            </a:r>
            <a:r>
              <a:rPr lang="en-US" sz="3200" i="1" dirty="0"/>
              <a:t>, …, </a:t>
            </a:r>
            <a:r>
              <a:rPr lang="en-US" sz="3200" i="1" dirty="0" err="1"/>
              <a:t>a</a:t>
            </a:r>
            <a:r>
              <a:rPr lang="en-US" sz="3200" i="1" baseline="30000" dirty="0" err="1"/>
              <a:t>N</a:t>
            </a:r>
            <a:r>
              <a:rPr lang="en-US" sz="3200" i="1" dirty="0"/>
              <a:t>} </a:t>
            </a:r>
            <a:r>
              <a:rPr lang="en-US" sz="3200" dirty="0"/>
              <a:t>into a single dimension, and use a simple hashing technique to distribute the resultant space (</a:t>
            </a:r>
            <a:r>
              <a:rPr lang="en-US" sz="3200" i="1" dirty="0"/>
              <a:t>i.e., </a:t>
            </a:r>
            <a:r>
              <a:rPr lang="en-US" sz="3200" dirty="0"/>
              <a:t>the address information) among index servers.</a:t>
            </a:r>
          </a:p>
          <a:p>
            <a:pPr lvl="2"/>
            <a:r>
              <a:rPr lang="en-US" sz="2800" dirty="0"/>
              <a:t>Only need to contact a single index server!</a:t>
            </a:r>
          </a:p>
        </p:txBody>
      </p:sp>
    </p:spTree>
    <p:extLst>
      <p:ext uri="{BB962C8B-B14F-4D97-AF65-F5344CB8AC3E}">
        <p14:creationId xmlns:p14="http://schemas.microsoft.com/office/powerpoint/2010/main" val="686653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5137</TotalTime>
  <Words>2182</Words>
  <Application>Microsoft Macintosh PowerPoint</Application>
  <PresentationFormat>On-screen Show (4:3)</PresentationFormat>
  <Paragraphs>197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COMP 7212: Operating/Distributed Systems Chapter 5: Naming</vt:lpstr>
      <vt:lpstr>Basic</vt:lpstr>
      <vt:lpstr>Outline</vt:lpstr>
      <vt:lpstr>Flat Naming</vt:lpstr>
      <vt:lpstr>Simple Solutions (1/2)</vt:lpstr>
      <vt:lpstr>Simple Solutions (2/2)</vt:lpstr>
      <vt:lpstr>Home-based Approaches</vt:lpstr>
      <vt:lpstr>PowerPoint Presentation</vt:lpstr>
      <vt:lpstr>Distributed Hash Tables (1/2)</vt:lpstr>
      <vt:lpstr>Distributed Hash Tables (2/2)</vt:lpstr>
      <vt:lpstr>PowerPoint Presentation</vt:lpstr>
      <vt:lpstr>Structured Naming</vt:lpstr>
      <vt:lpstr>Name Spaces (1/3)</vt:lpstr>
      <vt:lpstr>Name Spaces (2/3)</vt:lpstr>
      <vt:lpstr>Name Spaces (3/3)</vt:lpstr>
      <vt:lpstr>Name Resolution (1/4)</vt:lpstr>
      <vt:lpstr>Name Resolution (2/4)</vt:lpstr>
      <vt:lpstr>Name Resolution (3/4)</vt:lpstr>
      <vt:lpstr>Name Resolution (4/4)</vt:lpstr>
      <vt:lpstr>Implementation of a Name Space (1/3)</vt:lpstr>
      <vt:lpstr>Implementation of a Name Space (2/3)</vt:lpstr>
      <vt:lpstr>Implementation of a Name Space (3/3)</vt:lpstr>
      <vt:lpstr>Implementation of Name Resolution (1/3)</vt:lpstr>
      <vt:lpstr>Implementation of Name Resolution (2/3)</vt:lpstr>
      <vt:lpstr>Implementation of Name Resolution (3/3)</vt:lpstr>
      <vt:lpstr>Attribute-Based Naming</vt:lpstr>
      <vt:lpstr>Directory Services</vt:lpstr>
      <vt:lpstr>Hierarchical Implementation: LDAP (1/2)</vt:lpstr>
      <vt:lpstr>Hierarchical Implementation: LDAP (2/2)</vt:lpstr>
      <vt:lpstr>Decentralized Implementations (1/4)</vt:lpstr>
      <vt:lpstr>Decentralized Implementations (2/4)</vt:lpstr>
      <vt:lpstr>Decentralized Implementations (3/4)</vt:lpstr>
      <vt:lpstr>Decentralized Implementations (4/4)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COSC 3360 Human Computer Interaction Introduction</dc:title>
  <dc:creator>Won, Myounggyu</dc:creator>
  <cp:lastModifiedBy>Myounggyu Won (mwon)</cp:lastModifiedBy>
  <cp:revision>746</cp:revision>
  <dcterms:created xsi:type="dcterms:W3CDTF">2006-08-16T00:00:00Z</dcterms:created>
  <dcterms:modified xsi:type="dcterms:W3CDTF">2026-10-06T18:30:16Z</dcterms:modified>
</cp:coreProperties>
</file>