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01" r:id="rId3"/>
    <p:sldId id="277" r:id="rId4"/>
    <p:sldId id="278" r:id="rId5"/>
    <p:sldId id="279" r:id="rId6"/>
    <p:sldId id="281" r:id="rId7"/>
    <p:sldId id="280" r:id="rId8"/>
    <p:sldId id="282" r:id="rId9"/>
    <p:sldId id="283" r:id="rId10"/>
    <p:sldId id="290" r:id="rId11"/>
    <p:sldId id="307" r:id="rId12"/>
    <p:sldId id="304" r:id="rId13"/>
    <p:sldId id="291" r:id="rId14"/>
    <p:sldId id="284" r:id="rId15"/>
    <p:sldId id="292" r:id="rId16"/>
    <p:sldId id="293" r:id="rId17"/>
    <p:sldId id="294" r:id="rId18"/>
    <p:sldId id="295" r:id="rId19"/>
    <p:sldId id="296" r:id="rId20"/>
    <p:sldId id="287" r:id="rId21"/>
    <p:sldId id="288" r:id="rId22"/>
    <p:sldId id="305" r:id="rId23"/>
    <p:sldId id="306" r:id="rId24"/>
    <p:sldId id="297" r:id="rId25"/>
    <p:sldId id="298" r:id="rId26"/>
    <p:sldId id="299" r:id="rId27"/>
    <p:sldId id="30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4" autoAdjust="0"/>
    <p:restoredTop sz="94444" autoAdjust="0"/>
  </p:normalViewPr>
  <p:slideViewPr>
    <p:cSldViewPr>
      <p:cViewPr>
        <p:scale>
          <a:sx n="111" d="100"/>
          <a:sy n="111" d="100"/>
        </p:scale>
        <p:origin x="1672" y="384"/>
      </p:cViewPr>
      <p:guideLst>
        <p:guide orient="horz" pos="2160"/>
        <p:guide pos="2880"/>
      </p:guideLst>
    </p:cSldViewPr>
  </p:slideViewPr>
  <p:outlineViewPr>
    <p:cViewPr>
      <p:scale>
        <a:sx n="33" d="100"/>
        <a:sy n="33" d="100"/>
      </p:scale>
      <p:origin x="0" y="-56019"/>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499AA4-461E-492B-AC5F-BC73CAE80FB0}" type="datetimeFigureOut">
              <a:rPr lang="en-US" smtClean="0"/>
              <a:t>10/27/26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FBFEC2-D1D9-4572-96CC-11D7F7296F39}" type="slidenum">
              <a:rPr lang="en-US" smtClean="0"/>
              <a:t>‹#›</a:t>
            </a:fld>
            <a:endParaRPr lang="en-US"/>
          </a:p>
        </p:txBody>
      </p:sp>
    </p:spTree>
    <p:extLst>
      <p:ext uri="{BB962C8B-B14F-4D97-AF65-F5344CB8AC3E}">
        <p14:creationId xmlns:p14="http://schemas.microsoft.com/office/powerpoint/2010/main" val="67847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 y="2133600"/>
            <a:ext cx="9372600" cy="1470025"/>
          </a:xfrm>
        </p:spPr>
        <p:txBody>
          <a:bodyPr>
            <a:normAutofit fontScale="90000"/>
          </a:bodyPr>
          <a:lstStyle/>
          <a:p>
            <a:r>
              <a:rPr lang="en-US" dirty="0"/>
              <a:t>COMP 7212: Operating/Distributed Systems</a:t>
            </a:r>
            <a:br>
              <a:rPr lang="en-US" dirty="0"/>
            </a:br>
            <a:r>
              <a:rPr lang="en-US" dirty="0"/>
              <a:t>Chapter 7: Consistency and Replication</a:t>
            </a:r>
          </a:p>
        </p:txBody>
      </p:sp>
      <p:sp>
        <p:nvSpPr>
          <p:cNvPr id="3" name="Subtitle 2"/>
          <p:cNvSpPr>
            <a:spLocks noGrp="1"/>
          </p:cNvSpPr>
          <p:nvPr>
            <p:ph type="subTitle" idx="1"/>
          </p:nvPr>
        </p:nvSpPr>
        <p:spPr>
          <a:xfrm>
            <a:off x="0" y="3886200"/>
            <a:ext cx="9144000" cy="1752600"/>
          </a:xfrm>
        </p:spPr>
        <p:txBody>
          <a:bodyPr>
            <a:normAutofit/>
          </a:bodyPr>
          <a:lstStyle/>
          <a:p>
            <a:r>
              <a:rPr lang="en-US" dirty="0"/>
              <a:t>Dr. Myounggyu Won</a:t>
            </a:r>
          </a:p>
        </p:txBody>
      </p:sp>
      <p:sp>
        <p:nvSpPr>
          <p:cNvPr id="4" name="TextBox 3">
            <a:extLst>
              <a:ext uri="{FF2B5EF4-FFF2-40B4-BE49-F238E27FC236}">
                <a16:creationId xmlns:a16="http://schemas.microsoft.com/office/drawing/2014/main" id="{AD1776C6-D20E-45D7-81C1-CB6AEE533F90}"/>
              </a:ext>
            </a:extLst>
          </p:cNvPr>
          <p:cNvSpPr txBox="1"/>
          <p:nvPr/>
        </p:nvSpPr>
        <p:spPr>
          <a:xfrm>
            <a:off x="0" y="6450568"/>
            <a:ext cx="6699013" cy="369332"/>
          </a:xfrm>
          <a:prstGeom prst="rect">
            <a:avLst/>
          </a:prstGeom>
          <a:noFill/>
        </p:spPr>
        <p:txBody>
          <a:bodyPr wrap="none" rtlCol="0">
            <a:spAutoFit/>
          </a:bodyPr>
          <a:lstStyle/>
          <a:p>
            <a:r>
              <a:rPr lang="en-US" dirty="0"/>
              <a:t>Reference: Distributed Systems: Principles and Paradigms (3</a:t>
            </a:r>
            <a:r>
              <a:rPr lang="en-US" baseline="30000" dirty="0"/>
              <a:t>rd</a:t>
            </a:r>
            <a:r>
              <a:rPr lang="en-US" dirty="0"/>
              <a:t> Edition)</a:t>
            </a:r>
          </a:p>
        </p:txBody>
      </p:sp>
    </p:spTree>
    <p:extLst>
      <p:ext uri="{BB962C8B-B14F-4D97-AF65-F5344CB8AC3E}">
        <p14:creationId xmlns:p14="http://schemas.microsoft.com/office/powerpoint/2010/main" val="54004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F2E0C-259A-0FA0-C45A-D82854101FB0}"/>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50225BB-8665-3AB4-00E2-2F0CF084B16B}"/>
              </a:ext>
            </a:extLst>
          </p:cNvPr>
          <p:cNvSpPr>
            <a:spLocks noGrp="1"/>
          </p:cNvSpPr>
          <p:nvPr>
            <p:ph idx="1"/>
          </p:nvPr>
        </p:nvSpPr>
        <p:spPr/>
        <p:txBody>
          <a:bodyPr/>
          <a:lstStyle/>
          <a:p>
            <a:r>
              <a:rPr lang="en-US" dirty="0"/>
              <a:t>Basic Concepts</a:t>
            </a:r>
          </a:p>
          <a:p>
            <a:pPr lvl="1"/>
            <a:r>
              <a:rPr lang="en-US" dirty="0"/>
              <a:t>Replication</a:t>
            </a:r>
          </a:p>
          <a:p>
            <a:pPr lvl="1"/>
            <a:r>
              <a:rPr lang="en-US" dirty="0"/>
              <a:t>Consistency</a:t>
            </a:r>
          </a:p>
          <a:p>
            <a:r>
              <a:rPr lang="en-US" dirty="0"/>
              <a:t>Data-centric consistency models</a:t>
            </a:r>
          </a:p>
          <a:p>
            <a:r>
              <a:rPr lang="en-US" dirty="0"/>
              <a:t>Client-centric consistency models</a:t>
            </a:r>
          </a:p>
        </p:txBody>
      </p:sp>
    </p:spTree>
    <p:extLst>
      <p:ext uri="{BB962C8B-B14F-4D97-AF65-F5344CB8AC3E}">
        <p14:creationId xmlns:p14="http://schemas.microsoft.com/office/powerpoint/2010/main" val="4055257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D5A6-C76A-4E73-BF12-17B03D26EEED}"/>
              </a:ext>
            </a:extLst>
          </p:cNvPr>
          <p:cNvSpPr>
            <a:spLocks noGrp="1"/>
          </p:cNvSpPr>
          <p:nvPr>
            <p:ph type="title"/>
          </p:nvPr>
        </p:nvSpPr>
        <p:spPr>
          <a:xfrm>
            <a:off x="457200" y="2857500"/>
            <a:ext cx="8229600" cy="1143000"/>
          </a:xfrm>
        </p:spPr>
        <p:txBody>
          <a:bodyPr>
            <a:normAutofit/>
          </a:bodyPr>
          <a:lstStyle/>
          <a:p>
            <a:r>
              <a:rPr lang="en-US" dirty="0"/>
              <a:t>Basic Concepts</a:t>
            </a:r>
          </a:p>
        </p:txBody>
      </p:sp>
    </p:spTree>
    <p:extLst>
      <p:ext uri="{BB962C8B-B14F-4D97-AF65-F5344CB8AC3E}">
        <p14:creationId xmlns:p14="http://schemas.microsoft.com/office/powerpoint/2010/main" val="2963778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40C77-3D04-4655-B2ED-0DD2581E93C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5770E6E-FA42-4BBA-A0D3-58C2B4767DE5}"/>
              </a:ext>
            </a:extLst>
          </p:cNvPr>
          <p:cNvSpPr>
            <a:spLocks noGrp="1"/>
          </p:cNvSpPr>
          <p:nvPr>
            <p:ph idx="1"/>
          </p:nvPr>
        </p:nvSpPr>
        <p:spPr/>
        <p:txBody>
          <a:bodyPr>
            <a:normAutofit fontScale="92500" lnSpcReduction="20000"/>
          </a:bodyPr>
          <a:lstStyle/>
          <a:p>
            <a:r>
              <a:rPr lang="en-US" dirty="0"/>
              <a:t>The </a:t>
            </a:r>
            <a:r>
              <a:rPr lang="en-US" dirty="0">
                <a:solidFill>
                  <a:srgbClr val="0070C0"/>
                </a:solidFill>
              </a:rPr>
              <a:t>replication</a:t>
            </a:r>
            <a:r>
              <a:rPr lang="en-US" dirty="0"/>
              <a:t> of data is important for distributed systems.	</a:t>
            </a:r>
          </a:p>
          <a:p>
            <a:pPr lvl="1"/>
            <a:r>
              <a:rPr lang="en-US" dirty="0"/>
              <a:t>Enhance </a:t>
            </a:r>
            <a:r>
              <a:rPr lang="en-US" dirty="0">
                <a:solidFill>
                  <a:srgbClr val="0070C0"/>
                </a:solidFill>
              </a:rPr>
              <a:t>reliability</a:t>
            </a:r>
          </a:p>
          <a:p>
            <a:pPr lvl="2"/>
            <a:r>
              <a:rPr lang="en-US" dirty="0"/>
              <a:t>If one node fails, there is a replica of the node</a:t>
            </a:r>
          </a:p>
          <a:p>
            <a:pPr lvl="1"/>
            <a:r>
              <a:rPr lang="en-US" dirty="0"/>
              <a:t>Improve </a:t>
            </a:r>
            <a:r>
              <a:rPr lang="en-US" dirty="0">
                <a:solidFill>
                  <a:srgbClr val="0070C0"/>
                </a:solidFill>
              </a:rPr>
              <a:t>performance</a:t>
            </a:r>
          </a:p>
          <a:p>
            <a:pPr lvl="2"/>
            <a:r>
              <a:rPr lang="en-US" dirty="0"/>
              <a:t>Replication allows data to be stored closer to where it is needed</a:t>
            </a:r>
          </a:p>
          <a:p>
            <a:r>
              <a:rPr lang="en-US" dirty="0"/>
              <a:t>A </a:t>
            </a:r>
            <a:r>
              <a:rPr lang="en-US" dirty="0">
                <a:solidFill>
                  <a:srgbClr val="C00000"/>
                </a:solidFill>
              </a:rPr>
              <a:t>major issue </a:t>
            </a:r>
            <a:r>
              <a:rPr lang="en-US" dirty="0"/>
              <a:t>is to keep replicas </a:t>
            </a:r>
            <a:r>
              <a:rPr lang="en-US" dirty="0">
                <a:solidFill>
                  <a:srgbClr val="C00000"/>
                </a:solidFill>
              </a:rPr>
              <a:t>consistent</a:t>
            </a:r>
          </a:p>
          <a:p>
            <a:pPr lvl="1"/>
            <a:r>
              <a:rPr lang="en-US" dirty="0"/>
              <a:t>When one copy is updated, make sure the other copies are updated as well</a:t>
            </a:r>
          </a:p>
          <a:p>
            <a:pPr lvl="1"/>
            <a:r>
              <a:rPr lang="en-US" dirty="0"/>
              <a:t>How to implement consistency more efficiently?</a:t>
            </a:r>
          </a:p>
          <a:p>
            <a:endParaRPr lang="en-US" dirty="0"/>
          </a:p>
        </p:txBody>
      </p:sp>
    </p:spTree>
    <p:extLst>
      <p:ext uri="{BB962C8B-B14F-4D97-AF65-F5344CB8AC3E}">
        <p14:creationId xmlns:p14="http://schemas.microsoft.com/office/powerpoint/2010/main" val="2814699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1C123-1E7D-44A1-883F-31B4C9A4D7AE}"/>
              </a:ext>
            </a:extLst>
          </p:cNvPr>
          <p:cNvSpPr>
            <a:spLocks noGrp="1"/>
          </p:cNvSpPr>
          <p:nvPr>
            <p:ph type="title"/>
          </p:nvPr>
        </p:nvSpPr>
        <p:spPr/>
        <p:txBody>
          <a:bodyPr/>
          <a:lstStyle/>
          <a:p>
            <a:r>
              <a:rPr lang="en-US" dirty="0"/>
              <a:t>Replication as Scaling Technique</a:t>
            </a:r>
          </a:p>
        </p:txBody>
      </p:sp>
      <p:sp>
        <p:nvSpPr>
          <p:cNvPr id="3" name="Content Placeholder 2">
            <a:extLst>
              <a:ext uri="{FF2B5EF4-FFF2-40B4-BE49-F238E27FC236}">
                <a16:creationId xmlns:a16="http://schemas.microsoft.com/office/drawing/2014/main" id="{2D140AD2-4638-4C3F-998F-2F9C9E042310}"/>
              </a:ext>
            </a:extLst>
          </p:cNvPr>
          <p:cNvSpPr>
            <a:spLocks noGrp="1"/>
          </p:cNvSpPr>
          <p:nvPr>
            <p:ph idx="1"/>
          </p:nvPr>
        </p:nvSpPr>
        <p:spPr>
          <a:xfrm>
            <a:off x="457200" y="1600200"/>
            <a:ext cx="8229600" cy="5181600"/>
          </a:xfrm>
        </p:spPr>
        <p:txBody>
          <a:bodyPr>
            <a:normAutofit fontScale="92500" lnSpcReduction="10000"/>
          </a:bodyPr>
          <a:lstStyle/>
          <a:p>
            <a:r>
              <a:rPr lang="en-US" dirty="0"/>
              <a:t>Placing copies of data close to processes improves performance</a:t>
            </a:r>
          </a:p>
          <a:p>
            <a:pPr lvl="1"/>
            <a:r>
              <a:rPr lang="en-US" dirty="0"/>
              <a:t>Helps address the </a:t>
            </a:r>
            <a:r>
              <a:rPr lang="en-US" dirty="0">
                <a:solidFill>
                  <a:srgbClr val="C00000"/>
                </a:solidFill>
              </a:rPr>
              <a:t>scalability problem</a:t>
            </a:r>
            <a:endParaRPr lang="en-US" dirty="0"/>
          </a:p>
          <a:p>
            <a:r>
              <a:rPr lang="en-US" dirty="0"/>
              <a:t>Yet, there is an issue: Keeping multiple copies </a:t>
            </a:r>
            <a:r>
              <a:rPr lang="en-US" dirty="0">
                <a:solidFill>
                  <a:srgbClr val="C00000"/>
                </a:solidFill>
              </a:rPr>
              <a:t>consistent</a:t>
            </a:r>
          </a:p>
          <a:p>
            <a:pPr lvl="1"/>
            <a:r>
              <a:rPr lang="en-US" dirty="0"/>
              <a:t>Updating copies dispersed over a large-scale network is a very challenging problem</a:t>
            </a:r>
          </a:p>
          <a:p>
            <a:pPr lvl="2"/>
            <a:r>
              <a:rPr lang="en-US" dirty="0">
                <a:solidFill>
                  <a:srgbClr val="C00000"/>
                </a:solidFill>
              </a:rPr>
              <a:t>High network bandwidth</a:t>
            </a:r>
            <a:r>
              <a:rPr lang="en-US" dirty="0"/>
              <a:t> is needed to keep copies up-to-date</a:t>
            </a:r>
          </a:p>
          <a:p>
            <a:pPr lvl="2"/>
            <a:r>
              <a:rPr lang="en-US" dirty="0">
                <a:solidFill>
                  <a:srgbClr val="C00000"/>
                </a:solidFill>
              </a:rPr>
              <a:t>Global synchronization</a:t>
            </a:r>
            <a:r>
              <a:rPr lang="en-US" dirty="0">
                <a:solidFill>
                  <a:srgbClr val="0070C0"/>
                </a:solidFill>
              </a:rPr>
              <a:t> </a:t>
            </a:r>
            <a:r>
              <a:rPr lang="en-US" dirty="0"/>
              <a:t>is required, which is costly for a large-scale network</a:t>
            </a:r>
          </a:p>
          <a:p>
            <a:pPr lvl="3"/>
            <a:r>
              <a:rPr lang="en-US" dirty="0"/>
              <a:t>Frequent communication among nodes to ensure that they maintain the same replicas</a:t>
            </a:r>
          </a:p>
          <a:p>
            <a:endParaRPr lang="en-US" dirty="0"/>
          </a:p>
        </p:txBody>
      </p:sp>
    </p:spTree>
    <p:extLst>
      <p:ext uri="{BB962C8B-B14F-4D97-AF65-F5344CB8AC3E}">
        <p14:creationId xmlns:p14="http://schemas.microsoft.com/office/powerpoint/2010/main" val="4017383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D5A6-C76A-4E73-BF12-17B03D26EEED}"/>
              </a:ext>
            </a:extLst>
          </p:cNvPr>
          <p:cNvSpPr>
            <a:spLocks noGrp="1"/>
          </p:cNvSpPr>
          <p:nvPr>
            <p:ph type="title"/>
          </p:nvPr>
        </p:nvSpPr>
        <p:spPr>
          <a:xfrm>
            <a:off x="457200" y="2857500"/>
            <a:ext cx="8229600" cy="1143000"/>
          </a:xfrm>
        </p:spPr>
        <p:txBody>
          <a:bodyPr>
            <a:normAutofit/>
          </a:bodyPr>
          <a:lstStyle/>
          <a:p>
            <a:r>
              <a:rPr lang="en-US" dirty="0"/>
              <a:t>Data-Centric Consistency Models</a:t>
            </a:r>
          </a:p>
        </p:txBody>
      </p:sp>
      <p:sp>
        <p:nvSpPr>
          <p:cNvPr id="3" name="Rectangle 2">
            <a:extLst>
              <a:ext uri="{FF2B5EF4-FFF2-40B4-BE49-F238E27FC236}">
                <a16:creationId xmlns:a16="http://schemas.microsoft.com/office/drawing/2014/main" id="{A54F0C50-AC69-F24A-AF86-5BF7C0C5B593}"/>
              </a:ext>
            </a:extLst>
          </p:cNvPr>
          <p:cNvSpPr/>
          <p:nvPr/>
        </p:nvSpPr>
        <p:spPr>
          <a:xfrm>
            <a:off x="533400" y="4267200"/>
            <a:ext cx="8077200" cy="369332"/>
          </a:xfrm>
          <a:prstGeom prst="rect">
            <a:avLst/>
          </a:prstGeom>
        </p:spPr>
        <p:txBody>
          <a:bodyPr wrap="square">
            <a:spAutoFit/>
          </a:bodyPr>
          <a:lstStyle/>
          <a:p>
            <a:pPr algn="ctr"/>
            <a:r>
              <a:rPr lang="en-US" dirty="0"/>
              <a:t>“Data-centric consistency models aim at providing a consistent view on a data store.“</a:t>
            </a:r>
          </a:p>
        </p:txBody>
      </p:sp>
    </p:spTree>
    <p:extLst>
      <p:ext uri="{BB962C8B-B14F-4D97-AF65-F5344CB8AC3E}">
        <p14:creationId xmlns:p14="http://schemas.microsoft.com/office/powerpoint/2010/main" val="208515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25330-FD8E-473D-81A0-CCCF3EBAB1B4}"/>
              </a:ext>
            </a:extLst>
          </p:cNvPr>
          <p:cNvSpPr>
            <a:spLocks noGrp="1"/>
          </p:cNvSpPr>
          <p:nvPr>
            <p:ph type="title"/>
          </p:nvPr>
        </p:nvSpPr>
        <p:spPr/>
        <p:txBody>
          <a:bodyPr/>
          <a:lstStyle/>
          <a:p>
            <a:r>
              <a:rPr lang="en-US" dirty="0"/>
              <a:t>Basic Concepts (1/2)</a:t>
            </a:r>
          </a:p>
        </p:txBody>
      </p:sp>
      <p:sp>
        <p:nvSpPr>
          <p:cNvPr id="3" name="Content Placeholder 2">
            <a:extLst>
              <a:ext uri="{FF2B5EF4-FFF2-40B4-BE49-F238E27FC236}">
                <a16:creationId xmlns:a16="http://schemas.microsoft.com/office/drawing/2014/main" id="{685365A3-7A6B-479B-93B1-D18732F02758}"/>
              </a:ext>
            </a:extLst>
          </p:cNvPr>
          <p:cNvSpPr>
            <a:spLocks noGrp="1"/>
          </p:cNvSpPr>
          <p:nvPr>
            <p:ph idx="1"/>
          </p:nvPr>
        </p:nvSpPr>
        <p:spPr>
          <a:xfrm>
            <a:off x="457200" y="1600200"/>
            <a:ext cx="8229600" cy="4983162"/>
          </a:xfrm>
        </p:spPr>
        <p:txBody>
          <a:bodyPr>
            <a:normAutofit fontScale="85000" lnSpcReduction="20000"/>
          </a:bodyPr>
          <a:lstStyle/>
          <a:p>
            <a:r>
              <a:rPr lang="en-US" dirty="0"/>
              <a:t>A </a:t>
            </a:r>
            <a:r>
              <a:rPr lang="en-US" dirty="0">
                <a:solidFill>
                  <a:srgbClr val="0070C0"/>
                </a:solidFill>
              </a:rPr>
              <a:t>data store</a:t>
            </a:r>
            <a:r>
              <a:rPr lang="en-US" dirty="0"/>
              <a:t>: shared data, shared database, shared memory, </a:t>
            </a:r>
            <a:r>
              <a:rPr lang="en-US" i="1" dirty="0"/>
              <a:t>etc.</a:t>
            </a:r>
          </a:p>
          <a:p>
            <a:r>
              <a:rPr lang="en-US" dirty="0"/>
              <a:t>A data store is physically distributed across multiple machines</a:t>
            </a:r>
          </a:p>
          <a:p>
            <a:r>
              <a:rPr lang="en-US" dirty="0"/>
              <a:t>Each machine/process that accesses a data store is assumed to have a local copy (or nearby) of the data store</a:t>
            </a:r>
          </a:p>
          <a:p>
            <a:r>
              <a:rPr lang="en-US" dirty="0"/>
              <a:t>A data operation is classified into write and read operations</a:t>
            </a:r>
          </a:p>
          <a:p>
            <a:r>
              <a:rPr lang="en-US" dirty="0"/>
              <a:t>A </a:t>
            </a:r>
            <a:r>
              <a:rPr lang="en-US" dirty="0">
                <a:solidFill>
                  <a:srgbClr val="0070C0"/>
                </a:solidFill>
              </a:rPr>
              <a:t>consistency model </a:t>
            </a:r>
            <a:r>
              <a:rPr lang="en-US" dirty="0"/>
              <a:t>is a contract between processes and a data store for implementing consistency</a:t>
            </a:r>
          </a:p>
          <a:p>
            <a:pPr lvl="1"/>
            <a:r>
              <a:rPr lang="en-US" dirty="0"/>
              <a:t>If processes agree to obey certain rules, consistency is ensured.</a:t>
            </a:r>
          </a:p>
        </p:txBody>
      </p:sp>
    </p:spTree>
    <p:extLst>
      <p:ext uri="{BB962C8B-B14F-4D97-AF65-F5344CB8AC3E}">
        <p14:creationId xmlns:p14="http://schemas.microsoft.com/office/powerpoint/2010/main" val="295883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4D84-6229-4B11-8C8E-72C958FB4794}"/>
              </a:ext>
            </a:extLst>
          </p:cNvPr>
          <p:cNvSpPr>
            <a:spLocks noGrp="1"/>
          </p:cNvSpPr>
          <p:nvPr>
            <p:ph type="title"/>
          </p:nvPr>
        </p:nvSpPr>
        <p:spPr/>
        <p:txBody>
          <a:bodyPr/>
          <a:lstStyle/>
          <a:p>
            <a:r>
              <a:rPr lang="en-US" dirty="0"/>
              <a:t>Basic Concepts (2/2)</a:t>
            </a:r>
          </a:p>
        </p:txBody>
      </p:sp>
      <p:sp>
        <p:nvSpPr>
          <p:cNvPr id="3" name="Content Placeholder 2">
            <a:extLst>
              <a:ext uri="{FF2B5EF4-FFF2-40B4-BE49-F238E27FC236}">
                <a16:creationId xmlns:a16="http://schemas.microsoft.com/office/drawing/2014/main" id="{A0C0BFB0-7765-4E1A-B1B4-A569D5EDBF7B}"/>
              </a:ext>
            </a:extLst>
          </p:cNvPr>
          <p:cNvSpPr>
            <a:spLocks noGrp="1"/>
          </p:cNvSpPr>
          <p:nvPr>
            <p:ph idx="1"/>
          </p:nvPr>
        </p:nvSpPr>
        <p:spPr/>
        <p:txBody>
          <a:bodyPr>
            <a:normAutofit/>
          </a:bodyPr>
          <a:lstStyle/>
          <a:p>
            <a:r>
              <a:rPr lang="en-US" dirty="0"/>
              <a:t>The overhead for achieving consistency can be reduced by </a:t>
            </a:r>
            <a:r>
              <a:rPr lang="en-US" dirty="0">
                <a:solidFill>
                  <a:srgbClr val="0070C0"/>
                </a:solidFill>
              </a:rPr>
              <a:t>loosening consistency </a:t>
            </a:r>
            <a:r>
              <a:rPr lang="en-US" dirty="0"/>
              <a:t>(</a:t>
            </a:r>
            <a:r>
              <a:rPr lang="en-US" i="1" dirty="0"/>
              <a:t>i.e.</a:t>
            </a:r>
            <a:r>
              <a:rPr lang="en-US" dirty="0"/>
              <a:t>, tolerating a certain level of inconsistency)</a:t>
            </a:r>
          </a:p>
          <a:p>
            <a:pPr lvl="1"/>
            <a:r>
              <a:rPr lang="en-US" dirty="0"/>
              <a:t>Deviation in </a:t>
            </a:r>
            <a:r>
              <a:rPr lang="en-US" dirty="0">
                <a:solidFill>
                  <a:srgbClr val="0070C0"/>
                </a:solidFill>
              </a:rPr>
              <a:t>numerical values </a:t>
            </a:r>
            <a:r>
              <a:rPr lang="en-US" dirty="0"/>
              <a:t>to some degree between replicas</a:t>
            </a:r>
          </a:p>
          <a:p>
            <a:pPr lvl="1"/>
            <a:r>
              <a:rPr lang="en-US" dirty="0"/>
              <a:t>Deviation in </a:t>
            </a:r>
            <a:r>
              <a:rPr lang="en-US" dirty="0">
                <a:solidFill>
                  <a:srgbClr val="0070C0"/>
                </a:solidFill>
              </a:rPr>
              <a:t>staleness</a:t>
            </a:r>
            <a:r>
              <a:rPr lang="en-US" dirty="0"/>
              <a:t> (in terms of the time a replica was last updated) between replicas</a:t>
            </a:r>
          </a:p>
          <a:p>
            <a:pPr lvl="1"/>
            <a:r>
              <a:rPr lang="en-US" dirty="0"/>
              <a:t>Deviation with respect to the </a:t>
            </a:r>
            <a:r>
              <a:rPr lang="en-US" dirty="0">
                <a:solidFill>
                  <a:srgbClr val="0070C0"/>
                </a:solidFill>
              </a:rPr>
              <a:t>ordering of update</a:t>
            </a:r>
            <a:r>
              <a:rPr lang="en-US" dirty="0"/>
              <a:t> </a:t>
            </a:r>
            <a:r>
              <a:rPr lang="en-US" dirty="0">
                <a:solidFill>
                  <a:srgbClr val="0070C0"/>
                </a:solidFill>
              </a:rPr>
              <a:t>operations</a:t>
            </a:r>
          </a:p>
        </p:txBody>
      </p:sp>
    </p:spTree>
    <p:extLst>
      <p:ext uri="{BB962C8B-B14F-4D97-AF65-F5344CB8AC3E}">
        <p14:creationId xmlns:p14="http://schemas.microsoft.com/office/powerpoint/2010/main" val="1738755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BE350-62EC-48C1-99D7-DF0146D7335C}"/>
              </a:ext>
            </a:extLst>
          </p:cNvPr>
          <p:cNvSpPr>
            <a:spLocks noGrp="1"/>
          </p:cNvSpPr>
          <p:nvPr>
            <p:ph type="title"/>
          </p:nvPr>
        </p:nvSpPr>
        <p:spPr/>
        <p:txBody>
          <a:bodyPr/>
          <a:lstStyle/>
          <a:p>
            <a:r>
              <a:rPr lang="en-US" dirty="0" err="1"/>
              <a:t>Conit</a:t>
            </a:r>
            <a:r>
              <a:rPr lang="en-US" dirty="0"/>
              <a:t> (1/2)</a:t>
            </a:r>
          </a:p>
        </p:txBody>
      </p:sp>
      <p:sp>
        <p:nvSpPr>
          <p:cNvPr id="3" name="Content Placeholder 2">
            <a:extLst>
              <a:ext uri="{FF2B5EF4-FFF2-40B4-BE49-F238E27FC236}">
                <a16:creationId xmlns:a16="http://schemas.microsoft.com/office/drawing/2014/main" id="{E979C303-43C4-4C13-828B-9F9E0C3B17A1}"/>
              </a:ext>
            </a:extLst>
          </p:cNvPr>
          <p:cNvSpPr>
            <a:spLocks noGrp="1"/>
          </p:cNvSpPr>
          <p:nvPr>
            <p:ph idx="1"/>
          </p:nvPr>
        </p:nvSpPr>
        <p:spPr>
          <a:xfrm>
            <a:off x="457200" y="1600200"/>
            <a:ext cx="8229600" cy="5181600"/>
          </a:xfrm>
        </p:spPr>
        <p:txBody>
          <a:bodyPr>
            <a:normAutofit fontScale="92500" lnSpcReduction="20000"/>
          </a:bodyPr>
          <a:lstStyle/>
          <a:p>
            <a:r>
              <a:rPr lang="en-US" dirty="0"/>
              <a:t>Yu and Vahdat introduced the concept of a </a:t>
            </a:r>
            <a:r>
              <a:rPr lang="en-US" dirty="0">
                <a:solidFill>
                  <a:srgbClr val="0070C0"/>
                </a:solidFill>
              </a:rPr>
              <a:t>consistency unit (</a:t>
            </a:r>
            <a:r>
              <a:rPr lang="en-US" dirty="0" err="1">
                <a:solidFill>
                  <a:srgbClr val="0070C0"/>
                </a:solidFill>
              </a:rPr>
              <a:t>conit</a:t>
            </a:r>
            <a:r>
              <a:rPr lang="en-US" dirty="0">
                <a:solidFill>
                  <a:srgbClr val="0070C0"/>
                </a:solidFill>
              </a:rPr>
              <a:t>)</a:t>
            </a:r>
            <a:r>
              <a:rPr lang="en-US" dirty="0"/>
              <a:t> to measure inconsistency in distributed systems.</a:t>
            </a:r>
          </a:p>
          <a:p>
            <a:pPr lvl="1">
              <a:buFont typeface="Arial" panose="020B0604020202020204" pitchFamily="34" charset="0"/>
              <a:buChar char="•"/>
            </a:pPr>
            <a:r>
              <a:rPr lang="en-US" dirty="0"/>
              <a:t>A </a:t>
            </a:r>
            <a:r>
              <a:rPr lang="en-US" dirty="0" err="1">
                <a:solidFill>
                  <a:srgbClr val="0070C0"/>
                </a:solidFill>
              </a:rPr>
              <a:t>conit</a:t>
            </a:r>
            <a:r>
              <a:rPr lang="en-US" dirty="0"/>
              <a:t> defines which data or group of data items is considered when measuring inconsistency among replicas.</a:t>
            </a:r>
          </a:p>
          <a:p>
            <a:r>
              <a:rPr lang="en-US" dirty="0"/>
              <a:t>Example: Keeping track of a fleet of cars</a:t>
            </a:r>
          </a:p>
          <a:p>
            <a:pPr lvl="1"/>
            <a:r>
              <a:rPr lang="en-US" dirty="0"/>
              <a:t>In this application, the owner of cars is interested in knowing how much he pays for gas on average.</a:t>
            </a:r>
          </a:p>
          <a:p>
            <a:pPr lvl="1"/>
            <a:r>
              <a:rPr lang="en-US" dirty="0"/>
              <a:t>When a driver/employee tanks gas, he reports the amount of gas tanked (</a:t>
            </a:r>
            <a:r>
              <a:rPr lang="en-US" i="1" dirty="0"/>
              <a:t>g</a:t>
            </a:r>
            <a:r>
              <a:rPr lang="en-US" dirty="0"/>
              <a:t>), the price paid (</a:t>
            </a:r>
            <a:r>
              <a:rPr lang="en-US" i="1" dirty="0"/>
              <a:t>p</a:t>
            </a:r>
            <a:r>
              <a:rPr lang="en-US" dirty="0"/>
              <a:t>), the total distance moved since he tanked (</a:t>
            </a:r>
            <a:r>
              <a:rPr lang="en-US" i="1" dirty="0"/>
              <a:t>d</a:t>
            </a:r>
            <a:r>
              <a:rPr lang="en-US" dirty="0"/>
              <a:t>).</a:t>
            </a:r>
          </a:p>
          <a:p>
            <a:pPr lvl="2"/>
            <a:r>
              <a:rPr lang="en-US" dirty="0"/>
              <a:t>These data items may be stored in different replicas.</a:t>
            </a:r>
          </a:p>
          <a:p>
            <a:pPr lvl="1"/>
            <a:r>
              <a:rPr lang="en-US" dirty="0"/>
              <a:t>These data items </a:t>
            </a:r>
            <a:r>
              <a:rPr lang="en-US" i="1" dirty="0"/>
              <a:t>g, p</a:t>
            </a:r>
            <a:r>
              <a:rPr lang="en-US" dirty="0"/>
              <a:t>, and </a:t>
            </a:r>
            <a:r>
              <a:rPr lang="en-US" i="1" dirty="0"/>
              <a:t>d</a:t>
            </a:r>
            <a:r>
              <a:rPr lang="en-US" dirty="0"/>
              <a:t> form a </a:t>
            </a:r>
            <a:r>
              <a:rPr lang="en-US" dirty="0" err="1">
                <a:solidFill>
                  <a:srgbClr val="0070C0"/>
                </a:solidFill>
              </a:rPr>
              <a:t>conit</a:t>
            </a:r>
            <a:r>
              <a:rPr lang="en-US" dirty="0"/>
              <a:t>.</a:t>
            </a:r>
          </a:p>
          <a:p>
            <a:pPr marL="457200" lvl="1" indent="0">
              <a:buNone/>
            </a:pPr>
            <a:endParaRPr lang="en-US" dirty="0"/>
          </a:p>
        </p:txBody>
      </p:sp>
    </p:spTree>
    <p:extLst>
      <p:ext uri="{BB962C8B-B14F-4D97-AF65-F5344CB8AC3E}">
        <p14:creationId xmlns:p14="http://schemas.microsoft.com/office/powerpoint/2010/main" val="1851425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32240-BE45-4364-B953-86C8A1F49B9D}"/>
              </a:ext>
            </a:extLst>
          </p:cNvPr>
          <p:cNvSpPr>
            <a:spLocks noGrp="1"/>
          </p:cNvSpPr>
          <p:nvPr>
            <p:ph type="title"/>
          </p:nvPr>
        </p:nvSpPr>
        <p:spPr>
          <a:xfrm>
            <a:off x="457200" y="152400"/>
            <a:ext cx="8229600" cy="1143000"/>
          </a:xfrm>
        </p:spPr>
        <p:txBody>
          <a:bodyPr/>
          <a:lstStyle/>
          <a:p>
            <a:r>
              <a:rPr lang="en-US" dirty="0" err="1"/>
              <a:t>Conit</a:t>
            </a:r>
            <a:r>
              <a:rPr lang="en-US" dirty="0"/>
              <a:t> (2/2)</a:t>
            </a:r>
          </a:p>
        </p:txBody>
      </p:sp>
      <p:sp>
        <p:nvSpPr>
          <p:cNvPr id="3" name="Content Placeholder 2">
            <a:extLst>
              <a:ext uri="{FF2B5EF4-FFF2-40B4-BE49-F238E27FC236}">
                <a16:creationId xmlns:a16="http://schemas.microsoft.com/office/drawing/2014/main" id="{FA64E9E9-69CC-4308-BAFC-2DCDF3159D6E}"/>
              </a:ext>
            </a:extLst>
          </p:cNvPr>
          <p:cNvSpPr>
            <a:spLocks noGrp="1"/>
          </p:cNvSpPr>
          <p:nvPr>
            <p:ph idx="1"/>
          </p:nvPr>
        </p:nvSpPr>
        <p:spPr>
          <a:xfrm>
            <a:off x="457200" y="1295400"/>
            <a:ext cx="8229600" cy="4525963"/>
          </a:xfrm>
        </p:spPr>
        <p:txBody>
          <a:bodyPr>
            <a:normAutofit/>
          </a:bodyPr>
          <a:lstStyle/>
          <a:p>
            <a:r>
              <a:rPr lang="en-US" sz="2800" dirty="0"/>
              <a:t>Assume this </a:t>
            </a:r>
            <a:r>
              <a:rPr lang="en-US" sz="2800" dirty="0" err="1">
                <a:solidFill>
                  <a:srgbClr val="0070C0"/>
                </a:solidFill>
              </a:rPr>
              <a:t>conit</a:t>
            </a:r>
            <a:r>
              <a:rPr lang="en-US" sz="2800" dirty="0"/>
              <a:t> is replicated across two servers. </a:t>
            </a:r>
          </a:p>
          <a:p>
            <a:r>
              <a:rPr lang="en-US" sz="2800" dirty="0"/>
              <a:t>The task of the servers is to keep the </a:t>
            </a:r>
            <a:r>
              <a:rPr lang="en-US" sz="2800" dirty="0" err="1"/>
              <a:t>conit</a:t>
            </a:r>
            <a:r>
              <a:rPr lang="en-US" sz="2800" dirty="0"/>
              <a:t> </a:t>
            </a:r>
            <a:r>
              <a:rPr lang="en-US" sz="2800" dirty="0">
                <a:solidFill>
                  <a:srgbClr val="0070C0"/>
                </a:solidFill>
              </a:rPr>
              <a:t>consistently</a:t>
            </a:r>
            <a:r>
              <a:rPr lang="en-US" sz="2800" dirty="0"/>
              <a:t> replicated when operations are performed</a:t>
            </a:r>
          </a:p>
          <a:p>
            <a:pPr lvl="1"/>
            <a:r>
              <a:rPr lang="en-US" sz="2400" dirty="0"/>
              <a:t>Here, an operation is denoted by </a:t>
            </a:r>
            <a:r>
              <a:rPr lang="en-US" sz="2400" i="1" dirty="0"/>
              <a:t>&lt;T,R&gt;</a:t>
            </a:r>
            <a:r>
              <a:rPr lang="en-US" sz="2400" dirty="0"/>
              <a:t>, where R is the replica and T is the local time of operation.</a:t>
            </a:r>
          </a:p>
        </p:txBody>
      </p:sp>
    </p:spTree>
    <p:extLst>
      <p:ext uri="{BB962C8B-B14F-4D97-AF65-F5344CB8AC3E}">
        <p14:creationId xmlns:p14="http://schemas.microsoft.com/office/powerpoint/2010/main" val="1779926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5B54-06D3-F6BE-07B2-025E0C76F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A4123-39CE-07BC-E73E-D6C36741C7AD}"/>
              </a:ext>
            </a:extLst>
          </p:cNvPr>
          <p:cNvSpPr>
            <a:spLocks noGrp="1"/>
          </p:cNvSpPr>
          <p:nvPr>
            <p:ph type="title"/>
          </p:nvPr>
        </p:nvSpPr>
        <p:spPr>
          <a:xfrm>
            <a:off x="457200" y="-152400"/>
            <a:ext cx="8229600" cy="1143000"/>
          </a:xfrm>
        </p:spPr>
        <p:txBody>
          <a:bodyPr>
            <a:normAutofit/>
          </a:bodyPr>
          <a:lstStyle/>
          <a:p>
            <a:r>
              <a:rPr lang="en-US" dirty="0" err="1"/>
              <a:t>Conit</a:t>
            </a:r>
            <a:r>
              <a:rPr lang="en-US" dirty="0"/>
              <a:t>: Example (1/2)</a:t>
            </a:r>
          </a:p>
        </p:txBody>
      </p:sp>
      <p:sp>
        <p:nvSpPr>
          <p:cNvPr id="3" name="Content Placeholder 2">
            <a:extLst>
              <a:ext uri="{FF2B5EF4-FFF2-40B4-BE49-F238E27FC236}">
                <a16:creationId xmlns:a16="http://schemas.microsoft.com/office/drawing/2014/main" id="{844DC45E-EDA7-71CA-126A-B788ACA9AB38}"/>
              </a:ext>
            </a:extLst>
          </p:cNvPr>
          <p:cNvSpPr>
            <a:spLocks noGrp="1"/>
          </p:cNvSpPr>
          <p:nvPr>
            <p:ph idx="1"/>
          </p:nvPr>
        </p:nvSpPr>
        <p:spPr>
          <a:xfrm>
            <a:off x="457200" y="806921"/>
            <a:ext cx="8229600" cy="4525963"/>
          </a:xfrm>
        </p:spPr>
        <p:txBody>
          <a:bodyPr>
            <a:normAutofit/>
          </a:bodyPr>
          <a:lstStyle/>
          <a:p>
            <a:r>
              <a:rPr lang="en-US" sz="1800" dirty="0"/>
              <a:t>Replica A receives one operation from replica B and performs three local operations.</a:t>
            </a:r>
          </a:p>
          <a:p>
            <a:r>
              <a:rPr lang="en-US" sz="1800" dirty="0"/>
              <a:t>Replica A has one committed operation. </a:t>
            </a:r>
          </a:p>
          <a:p>
            <a:pPr lvl="1"/>
            <a:r>
              <a:rPr lang="en-US" sz="1400" dirty="0">
                <a:solidFill>
                  <a:srgbClr val="0070C0"/>
                </a:solidFill>
              </a:rPr>
              <a:t>Committed</a:t>
            </a:r>
            <a:r>
              <a:rPr lang="en-US" sz="1400" dirty="0"/>
              <a:t> operations: Their ordering is stable and will not change.</a:t>
            </a:r>
          </a:p>
          <a:p>
            <a:pPr lvl="1"/>
            <a:r>
              <a:rPr lang="en-US" sz="1400" dirty="0">
                <a:solidFill>
                  <a:srgbClr val="0070C0"/>
                </a:solidFill>
              </a:rPr>
              <a:t>Uncommitted</a:t>
            </a:r>
            <a:r>
              <a:rPr lang="en-US" sz="1400" dirty="0"/>
              <a:t> operations: Their ordering may still change when Replica B synchronizes with other replicas.</a:t>
            </a:r>
            <a:endParaRPr lang="en-US" sz="1800" dirty="0"/>
          </a:p>
          <a:p>
            <a:r>
              <a:rPr lang="en-US" sz="1800" dirty="0"/>
              <a:t>Replica A maintains its </a:t>
            </a:r>
            <a:r>
              <a:rPr lang="en-US" sz="1800" dirty="0" err="1"/>
              <a:t>conit</a:t>
            </a:r>
            <a:r>
              <a:rPr lang="en-US" sz="1800" dirty="0"/>
              <a:t> that reflects the four local operations (regardless of whether the operations are committed or not). </a:t>
            </a:r>
          </a:p>
        </p:txBody>
      </p:sp>
      <p:pic>
        <p:nvPicPr>
          <p:cNvPr id="5" name="Picture 4">
            <a:extLst>
              <a:ext uri="{FF2B5EF4-FFF2-40B4-BE49-F238E27FC236}">
                <a16:creationId xmlns:a16="http://schemas.microsoft.com/office/drawing/2014/main" id="{37C0DBE4-19F3-49CD-CE99-1D0056B76AAB}"/>
              </a:ext>
            </a:extLst>
          </p:cNvPr>
          <p:cNvPicPr>
            <a:picLocks noChangeAspect="1"/>
          </p:cNvPicPr>
          <p:nvPr/>
        </p:nvPicPr>
        <p:blipFill>
          <a:blip r:embed="rId2"/>
          <a:stretch>
            <a:fillRect/>
          </a:stretch>
        </p:blipFill>
        <p:spPr>
          <a:xfrm>
            <a:off x="1676400" y="3069902"/>
            <a:ext cx="5791200" cy="3587051"/>
          </a:xfrm>
          <a:prstGeom prst="rect">
            <a:avLst/>
          </a:prstGeom>
        </p:spPr>
      </p:pic>
    </p:spTree>
    <p:extLst>
      <p:ext uri="{BB962C8B-B14F-4D97-AF65-F5344CB8AC3E}">
        <p14:creationId xmlns:p14="http://schemas.microsoft.com/office/powerpoint/2010/main" val="109400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32240-BE45-4364-B953-86C8A1F49B9D}"/>
              </a:ext>
            </a:extLst>
          </p:cNvPr>
          <p:cNvSpPr>
            <a:spLocks noGrp="1"/>
          </p:cNvSpPr>
          <p:nvPr>
            <p:ph type="title"/>
          </p:nvPr>
        </p:nvSpPr>
        <p:spPr>
          <a:xfrm>
            <a:off x="457200" y="-152400"/>
            <a:ext cx="8229600" cy="1143000"/>
          </a:xfrm>
        </p:spPr>
        <p:txBody>
          <a:bodyPr>
            <a:normAutofit/>
          </a:bodyPr>
          <a:lstStyle/>
          <a:p>
            <a:r>
              <a:rPr lang="en-US" dirty="0" err="1"/>
              <a:t>Conit</a:t>
            </a:r>
            <a:r>
              <a:rPr lang="en-US" dirty="0"/>
              <a:t>: Example (2/2)</a:t>
            </a:r>
          </a:p>
        </p:txBody>
      </p:sp>
      <p:sp>
        <p:nvSpPr>
          <p:cNvPr id="3" name="Content Placeholder 2">
            <a:extLst>
              <a:ext uri="{FF2B5EF4-FFF2-40B4-BE49-F238E27FC236}">
                <a16:creationId xmlns:a16="http://schemas.microsoft.com/office/drawing/2014/main" id="{FA64E9E9-69CC-4308-BAFC-2DCDF3159D6E}"/>
              </a:ext>
            </a:extLst>
          </p:cNvPr>
          <p:cNvSpPr>
            <a:spLocks noGrp="1"/>
          </p:cNvSpPr>
          <p:nvPr>
            <p:ph idx="1"/>
          </p:nvPr>
        </p:nvSpPr>
        <p:spPr>
          <a:xfrm>
            <a:off x="457200" y="841645"/>
            <a:ext cx="8229600" cy="4525963"/>
          </a:xfrm>
        </p:spPr>
        <p:txBody>
          <a:bodyPr>
            <a:normAutofit/>
          </a:bodyPr>
          <a:lstStyle/>
          <a:p>
            <a:r>
              <a:rPr lang="en-US" sz="1800" dirty="0"/>
              <a:t>Replica A’s </a:t>
            </a:r>
            <a:r>
              <a:rPr lang="en-US" sz="1800" dirty="0">
                <a:solidFill>
                  <a:srgbClr val="0070C0"/>
                </a:solidFill>
              </a:rPr>
              <a:t>vector clock </a:t>
            </a:r>
            <a:r>
              <a:rPr lang="en-US" sz="1800" dirty="0"/>
              <a:t>is (11,5)</a:t>
            </a:r>
          </a:p>
          <a:p>
            <a:pPr lvl="1"/>
            <a:r>
              <a:rPr lang="en-US" sz="1400" dirty="0"/>
              <a:t>The latest local operation was performed at 10. And the local clock was advanced by 1 due to that operation.</a:t>
            </a:r>
          </a:p>
          <a:p>
            <a:pPr lvl="1"/>
            <a:r>
              <a:rPr lang="en-US" sz="1400" dirty="0"/>
              <a:t>And received the B’s operation at B’s local time 5. </a:t>
            </a:r>
          </a:p>
          <a:p>
            <a:r>
              <a:rPr lang="en-US" sz="1800" dirty="0"/>
              <a:t>Replica A’s </a:t>
            </a:r>
            <a:r>
              <a:rPr lang="en-US" sz="1800" dirty="0">
                <a:solidFill>
                  <a:srgbClr val="0070C0"/>
                </a:solidFill>
              </a:rPr>
              <a:t>order deviation </a:t>
            </a:r>
            <a:r>
              <a:rPr lang="en-US" sz="1800" dirty="0"/>
              <a:t>is 3 (</a:t>
            </a:r>
            <a:r>
              <a:rPr lang="en-US" sz="1800" i="1" dirty="0"/>
              <a:t>i.e., </a:t>
            </a:r>
            <a:r>
              <a:rPr lang="en-US" sz="1800" dirty="0"/>
              <a:t>three operations are not committed).</a:t>
            </a:r>
          </a:p>
          <a:p>
            <a:r>
              <a:rPr lang="en-US" sz="1800" dirty="0"/>
              <a:t>Replica A’s </a:t>
            </a:r>
            <a:r>
              <a:rPr lang="en-US" sz="1800" dirty="0">
                <a:solidFill>
                  <a:srgbClr val="0070C0"/>
                </a:solidFill>
              </a:rPr>
              <a:t>numerical deviation</a:t>
            </a:r>
            <a:r>
              <a:rPr lang="en-US" sz="1800" dirty="0"/>
              <a:t> is (2,482) since it has not seen the two operations of B with a total units of 70+412=482.</a:t>
            </a:r>
          </a:p>
        </p:txBody>
      </p:sp>
      <p:pic>
        <p:nvPicPr>
          <p:cNvPr id="5" name="Picture 4">
            <a:extLst>
              <a:ext uri="{FF2B5EF4-FFF2-40B4-BE49-F238E27FC236}">
                <a16:creationId xmlns:a16="http://schemas.microsoft.com/office/drawing/2014/main" id="{70930470-607A-488D-AD22-8A0002946527}"/>
              </a:ext>
            </a:extLst>
          </p:cNvPr>
          <p:cNvPicPr>
            <a:picLocks noChangeAspect="1"/>
          </p:cNvPicPr>
          <p:nvPr/>
        </p:nvPicPr>
        <p:blipFill>
          <a:blip r:embed="rId2"/>
          <a:stretch>
            <a:fillRect/>
          </a:stretch>
        </p:blipFill>
        <p:spPr>
          <a:xfrm>
            <a:off x="1676400" y="2819400"/>
            <a:ext cx="5791200" cy="3587051"/>
          </a:xfrm>
          <a:prstGeom prst="rect">
            <a:avLst/>
          </a:prstGeom>
        </p:spPr>
      </p:pic>
    </p:spTree>
    <p:extLst>
      <p:ext uri="{BB962C8B-B14F-4D97-AF65-F5344CB8AC3E}">
        <p14:creationId xmlns:p14="http://schemas.microsoft.com/office/powerpoint/2010/main" val="3699632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6FCF-0979-45C5-ADD1-89704311DAE6}"/>
              </a:ext>
            </a:extLst>
          </p:cNvPr>
          <p:cNvSpPr>
            <a:spLocks noGrp="1"/>
          </p:cNvSpPr>
          <p:nvPr>
            <p:ph type="title"/>
          </p:nvPr>
        </p:nvSpPr>
        <p:spPr/>
        <p:txBody>
          <a:bodyPr/>
          <a:lstStyle/>
          <a:p>
            <a:r>
              <a:rPr lang="en-US" dirty="0"/>
              <a:t>Consistency Contract</a:t>
            </a:r>
          </a:p>
        </p:txBody>
      </p:sp>
      <p:sp>
        <p:nvSpPr>
          <p:cNvPr id="3" name="Content Placeholder 2">
            <a:extLst>
              <a:ext uri="{FF2B5EF4-FFF2-40B4-BE49-F238E27FC236}">
                <a16:creationId xmlns:a16="http://schemas.microsoft.com/office/drawing/2014/main" id="{DB614A32-82D8-4351-AA77-55D5F2EEA6B1}"/>
              </a:ext>
            </a:extLst>
          </p:cNvPr>
          <p:cNvSpPr>
            <a:spLocks noGrp="1"/>
          </p:cNvSpPr>
          <p:nvPr>
            <p:ph idx="1"/>
          </p:nvPr>
        </p:nvSpPr>
        <p:spPr>
          <a:xfrm>
            <a:off x="457200" y="1486643"/>
            <a:ext cx="8229600" cy="5105400"/>
          </a:xfrm>
        </p:spPr>
        <p:txBody>
          <a:bodyPr>
            <a:normAutofit/>
          </a:bodyPr>
          <a:lstStyle/>
          <a:p>
            <a:r>
              <a:rPr lang="en-US" dirty="0"/>
              <a:t>We can specify a </a:t>
            </a:r>
            <a:r>
              <a:rPr lang="en-US" dirty="0">
                <a:solidFill>
                  <a:srgbClr val="0070C0"/>
                </a:solidFill>
              </a:rPr>
              <a:t>consistency scheme </a:t>
            </a:r>
            <a:r>
              <a:rPr lang="en-US" dirty="0"/>
              <a:t>by varying the inconsistency levels using these notations (</a:t>
            </a:r>
            <a:r>
              <a:rPr lang="en-US" i="1" dirty="0"/>
              <a:t>i.e., </a:t>
            </a:r>
            <a:r>
              <a:rPr lang="en-US" dirty="0">
                <a:solidFill>
                  <a:srgbClr val="0070C0"/>
                </a:solidFill>
              </a:rPr>
              <a:t>order deviation, time deviation, and numerical deviation</a:t>
            </a:r>
            <a:r>
              <a:rPr lang="en-US" dirty="0"/>
              <a:t>)</a:t>
            </a:r>
          </a:p>
          <a:p>
            <a:pPr lvl="1"/>
            <a:r>
              <a:rPr lang="en-US" i="1" dirty="0"/>
              <a:t>e.g.</a:t>
            </a:r>
            <a:r>
              <a:rPr lang="en-US" dirty="0"/>
              <a:t>, restrict the order derivation by a certain value.  </a:t>
            </a:r>
          </a:p>
          <a:p>
            <a:pPr lvl="1"/>
            <a:r>
              <a:rPr lang="en-US" i="1" dirty="0"/>
              <a:t>e.g., </a:t>
            </a:r>
            <a:r>
              <a:rPr lang="en-US" dirty="0"/>
              <a:t>specify that two replicas never numerically deviate by more than 1000 units.  </a:t>
            </a:r>
          </a:p>
        </p:txBody>
      </p:sp>
    </p:spTree>
    <p:extLst>
      <p:ext uri="{BB962C8B-B14F-4D97-AF65-F5344CB8AC3E}">
        <p14:creationId xmlns:p14="http://schemas.microsoft.com/office/powerpoint/2010/main" val="2136909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05DD-2F7D-4362-B330-6E25830A52BB}"/>
              </a:ext>
            </a:extLst>
          </p:cNvPr>
          <p:cNvSpPr>
            <a:spLocks noGrp="1"/>
          </p:cNvSpPr>
          <p:nvPr>
            <p:ph type="title"/>
          </p:nvPr>
        </p:nvSpPr>
        <p:spPr/>
        <p:txBody>
          <a:bodyPr>
            <a:noAutofit/>
          </a:bodyPr>
          <a:lstStyle/>
          <a:p>
            <a:r>
              <a:rPr lang="en-US" sz="3600" dirty="0"/>
              <a:t>Consistent Ordering of Operations (1/5)</a:t>
            </a:r>
          </a:p>
        </p:txBody>
      </p:sp>
      <p:sp>
        <p:nvSpPr>
          <p:cNvPr id="3" name="Content Placeholder 2">
            <a:extLst>
              <a:ext uri="{FF2B5EF4-FFF2-40B4-BE49-F238E27FC236}">
                <a16:creationId xmlns:a16="http://schemas.microsoft.com/office/drawing/2014/main" id="{E119A844-F17E-44AA-A589-5CC0438C9AB7}"/>
              </a:ext>
            </a:extLst>
          </p:cNvPr>
          <p:cNvSpPr>
            <a:spLocks noGrp="1"/>
          </p:cNvSpPr>
          <p:nvPr>
            <p:ph idx="1"/>
          </p:nvPr>
        </p:nvSpPr>
        <p:spPr>
          <a:xfrm>
            <a:off x="457199" y="1255157"/>
            <a:ext cx="8229600" cy="4525963"/>
          </a:xfrm>
        </p:spPr>
        <p:txBody>
          <a:bodyPr>
            <a:normAutofit/>
          </a:bodyPr>
          <a:lstStyle/>
          <a:p>
            <a:r>
              <a:rPr lang="en-US" sz="2400" dirty="0"/>
              <a:t>Now, based on the </a:t>
            </a:r>
            <a:r>
              <a:rPr lang="en-US" sz="2400" dirty="0" err="1"/>
              <a:t>conit</a:t>
            </a:r>
            <a:r>
              <a:rPr lang="en-US" sz="2400" dirty="0"/>
              <a:t>, let us discuss different kinds of </a:t>
            </a:r>
            <a:r>
              <a:rPr lang="en-US" sz="2400" dirty="0">
                <a:solidFill>
                  <a:srgbClr val="0070C0"/>
                </a:solidFill>
              </a:rPr>
              <a:t>consistency models/schemes</a:t>
            </a:r>
            <a:r>
              <a:rPr lang="en-US" sz="2400" dirty="0"/>
              <a:t>.</a:t>
            </a:r>
          </a:p>
          <a:p>
            <a:pPr lvl="1"/>
            <a:r>
              <a:rPr lang="en-US" sz="2000" dirty="0">
                <a:solidFill>
                  <a:srgbClr val="0070C0"/>
                </a:solidFill>
              </a:rPr>
              <a:t>Sequential, causal, and eventual consistency models</a:t>
            </a:r>
          </a:p>
          <a:p>
            <a:r>
              <a:rPr lang="en-US" sz="2400" dirty="0">
                <a:solidFill>
                  <a:srgbClr val="0070C0"/>
                </a:solidFill>
              </a:rPr>
              <a:t>Notations</a:t>
            </a:r>
          </a:p>
          <a:p>
            <a:pPr lvl="2"/>
            <a:r>
              <a:rPr lang="en-US" sz="1800" i="1" dirty="0"/>
              <a:t>W</a:t>
            </a:r>
            <a:r>
              <a:rPr lang="en-US" sz="1800" i="1" baseline="-25000" dirty="0"/>
              <a:t>i</a:t>
            </a:r>
            <a:r>
              <a:rPr lang="en-US" sz="1800" i="1" dirty="0"/>
              <a:t>(x)a</a:t>
            </a:r>
            <a:r>
              <a:rPr lang="en-US" sz="1800" dirty="0"/>
              <a:t>: process </a:t>
            </a:r>
            <a:r>
              <a:rPr lang="en-US" sz="1800" i="1" dirty="0"/>
              <a:t>P</a:t>
            </a:r>
            <a:r>
              <a:rPr lang="en-US" sz="1800" i="1" baseline="-25000" dirty="0"/>
              <a:t>i</a:t>
            </a:r>
            <a:r>
              <a:rPr lang="en-US" sz="1800" i="1" dirty="0"/>
              <a:t> </a:t>
            </a:r>
            <a:r>
              <a:rPr lang="en-US" sz="1800" dirty="0"/>
              <a:t>writes value </a:t>
            </a:r>
            <a:r>
              <a:rPr lang="en-US" sz="1800" i="1" dirty="0"/>
              <a:t>a</a:t>
            </a:r>
            <a:r>
              <a:rPr lang="en-US" sz="1800" dirty="0"/>
              <a:t> to data item </a:t>
            </a:r>
            <a:r>
              <a:rPr lang="en-US" sz="1800" i="1" dirty="0"/>
              <a:t>x</a:t>
            </a:r>
            <a:r>
              <a:rPr lang="en-US" sz="1800" dirty="0"/>
              <a:t>.</a:t>
            </a:r>
          </a:p>
          <a:p>
            <a:pPr lvl="2"/>
            <a:r>
              <a:rPr lang="en-US" sz="1800" i="1" dirty="0"/>
              <a:t>R</a:t>
            </a:r>
            <a:r>
              <a:rPr lang="en-US" sz="1800" i="1" baseline="-25000" dirty="0"/>
              <a:t>i</a:t>
            </a:r>
            <a:r>
              <a:rPr lang="en-US" sz="1800" i="1" dirty="0"/>
              <a:t>(x)b</a:t>
            </a:r>
            <a:r>
              <a:rPr lang="en-US" sz="1800" dirty="0"/>
              <a:t>: process </a:t>
            </a:r>
            <a:r>
              <a:rPr lang="en-US" sz="1800" i="1" dirty="0"/>
              <a:t>P</a:t>
            </a:r>
            <a:r>
              <a:rPr lang="en-US" sz="1800" i="1" baseline="-25000" dirty="0"/>
              <a:t>i</a:t>
            </a:r>
            <a:r>
              <a:rPr lang="en-US" sz="1800" dirty="0"/>
              <a:t> reads </a:t>
            </a:r>
            <a:r>
              <a:rPr lang="en-US" sz="1800" i="1" dirty="0"/>
              <a:t>x</a:t>
            </a:r>
            <a:r>
              <a:rPr lang="en-US" sz="1800" dirty="0"/>
              <a:t> and returns value </a:t>
            </a:r>
            <a:r>
              <a:rPr lang="en-US" sz="1800" i="1" dirty="0"/>
              <a:t>b</a:t>
            </a:r>
            <a:r>
              <a:rPr lang="en-US" sz="1800" dirty="0"/>
              <a:t>.</a:t>
            </a:r>
          </a:p>
          <a:p>
            <a:pPr lvl="2"/>
            <a:r>
              <a:rPr lang="en-US" sz="1800" dirty="0"/>
              <a:t>The process index </a:t>
            </a:r>
            <a:r>
              <a:rPr lang="en-US" sz="1800" i="1" dirty="0" err="1"/>
              <a:t>i</a:t>
            </a:r>
            <a:r>
              <a:rPr lang="en-US" sz="1800" dirty="0"/>
              <a:t> can be omitted if it is clear from the context.</a:t>
            </a:r>
          </a:p>
          <a:p>
            <a:pPr lvl="1"/>
            <a:r>
              <a:rPr lang="en-US" sz="2000" dirty="0"/>
              <a:t>Each data item has the initial value </a:t>
            </a:r>
            <a:r>
              <a:rPr lang="en-US" sz="2000" i="1" dirty="0"/>
              <a:t>NIL</a:t>
            </a:r>
            <a:r>
              <a:rPr lang="en-US" sz="2000" dirty="0"/>
              <a:t>.</a:t>
            </a:r>
          </a:p>
          <a:p>
            <a:endParaRPr lang="en-US" sz="2400" dirty="0"/>
          </a:p>
        </p:txBody>
      </p:sp>
      <p:pic>
        <p:nvPicPr>
          <p:cNvPr id="6" name="Picture 5">
            <a:extLst>
              <a:ext uri="{FF2B5EF4-FFF2-40B4-BE49-F238E27FC236}">
                <a16:creationId xmlns:a16="http://schemas.microsoft.com/office/drawing/2014/main" id="{39CE7AF9-95E4-4FFD-A88C-A203367DDD39}"/>
              </a:ext>
            </a:extLst>
          </p:cNvPr>
          <p:cNvPicPr>
            <a:picLocks noChangeAspect="1"/>
          </p:cNvPicPr>
          <p:nvPr/>
        </p:nvPicPr>
        <p:blipFill>
          <a:blip r:embed="rId2"/>
          <a:stretch>
            <a:fillRect/>
          </a:stretch>
        </p:blipFill>
        <p:spPr>
          <a:xfrm>
            <a:off x="990600" y="4507468"/>
            <a:ext cx="5972175" cy="1095375"/>
          </a:xfrm>
          <a:prstGeom prst="rect">
            <a:avLst/>
          </a:prstGeom>
        </p:spPr>
      </p:pic>
      <p:sp>
        <p:nvSpPr>
          <p:cNvPr id="7" name="TextBox 6">
            <a:extLst>
              <a:ext uri="{FF2B5EF4-FFF2-40B4-BE49-F238E27FC236}">
                <a16:creationId xmlns:a16="http://schemas.microsoft.com/office/drawing/2014/main" id="{9528EB43-BDE6-41A8-AE78-647CF088D893}"/>
              </a:ext>
            </a:extLst>
          </p:cNvPr>
          <p:cNvSpPr txBox="1"/>
          <p:nvPr/>
        </p:nvSpPr>
        <p:spPr>
          <a:xfrm>
            <a:off x="1538288" y="5879068"/>
            <a:ext cx="6657143" cy="369332"/>
          </a:xfrm>
          <a:prstGeom prst="rect">
            <a:avLst/>
          </a:prstGeom>
          <a:noFill/>
        </p:spPr>
        <p:txBody>
          <a:bodyPr wrap="none" rtlCol="0">
            <a:spAutoFit/>
          </a:bodyPr>
          <a:lstStyle/>
          <a:p>
            <a:r>
              <a:rPr lang="en-US" dirty="0"/>
              <a:t>It took some time to propagate the update (</a:t>
            </a:r>
            <a:r>
              <a:rPr lang="en-US" i="1" dirty="0"/>
              <a:t>i.e., </a:t>
            </a:r>
            <a:r>
              <a:rPr lang="en-US" dirty="0"/>
              <a:t>‘</a:t>
            </a:r>
            <a:r>
              <a:rPr lang="en-US" i="1" dirty="0"/>
              <a:t>a</a:t>
            </a:r>
            <a:r>
              <a:rPr lang="en-US" dirty="0"/>
              <a:t>’ written to x by</a:t>
            </a:r>
            <a:r>
              <a:rPr lang="en-US" i="1" dirty="0"/>
              <a:t> P1</a:t>
            </a:r>
            <a:r>
              <a:rPr lang="en-US" dirty="0"/>
              <a:t>)</a:t>
            </a:r>
          </a:p>
        </p:txBody>
      </p:sp>
      <p:cxnSp>
        <p:nvCxnSpPr>
          <p:cNvPr id="9" name="Straight Arrow Connector 8">
            <a:extLst>
              <a:ext uri="{FF2B5EF4-FFF2-40B4-BE49-F238E27FC236}">
                <a16:creationId xmlns:a16="http://schemas.microsoft.com/office/drawing/2014/main" id="{32123F05-8B6E-4FB9-8939-8F616C95B217}"/>
              </a:ext>
            </a:extLst>
          </p:cNvPr>
          <p:cNvCxnSpPr>
            <a:cxnSpLocks/>
          </p:cNvCxnSpPr>
          <p:nvPr/>
        </p:nvCxnSpPr>
        <p:spPr>
          <a:xfrm flipV="1">
            <a:off x="4357688" y="5498068"/>
            <a:ext cx="1524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A603C98-336F-6187-D3C6-1C0A47566766}"/>
              </a:ext>
            </a:extLst>
          </p:cNvPr>
          <p:cNvSpPr txBox="1"/>
          <p:nvPr/>
        </p:nvSpPr>
        <p:spPr>
          <a:xfrm>
            <a:off x="6643688" y="4870489"/>
            <a:ext cx="1285416" cy="369332"/>
          </a:xfrm>
          <a:prstGeom prst="rect">
            <a:avLst/>
          </a:prstGeom>
          <a:noFill/>
        </p:spPr>
        <p:txBody>
          <a:bodyPr wrap="none" rtlCol="0">
            <a:spAutoFit/>
          </a:bodyPr>
          <a:lstStyle/>
          <a:p>
            <a:r>
              <a:rPr lang="en-US" dirty="0"/>
              <a:t>x axis : time</a:t>
            </a:r>
          </a:p>
        </p:txBody>
      </p:sp>
    </p:spTree>
    <p:extLst>
      <p:ext uri="{BB962C8B-B14F-4D97-AF65-F5344CB8AC3E}">
        <p14:creationId xmlns:p14="http://schemas.microsoft.com/office/powerpoint/2010/main" val="401102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40D52-2231-4C03-9DDC-4B1F0ACE3EF4}"/>
              </a:ext>
            </a:extLst>
          </p:cNvPr>
          <p:cNvSpPr>
            <a:spLocks noGrp="1"/>
          </p:cNvSpPr>
          <p:nvPr>
            <p:ph type="title"/>
          </p:nvPr>
        </p:nvSpPr>
        <p:spPr/>
        <p:txBody>
          <a:bodyPr>
            <a:noAutofit/>
          </a:bodyPr>
          <a:lstStyle/>
          <a:p>
            <a:r>
              <a:rPr lang="en-US" sz="3600" dirty="0"/>
              <a:t>Consistent Ordering of Operations (2/5)</a:t>
            </a:r>
          </a:p>
        </p:txBody>
      </p:sp>
      <p:sp>
        <p:nvSpPr>
          <p:cNvPr id="3" name="Content Placeholder 2">
            <a:extLst>
              <a:ext uri="{FF2B5EF4-FFF2-40B4-BE49-F238E27FC236}">
                <a16:creationId xmlns:a16="http://schemas.microsoft.com/office/drawing/2014/main" id="{4B4EC18C-4B40-415D-8D62-DACFF4259149}"/>
              </a:ext>
            </a:extLst>
          </p:cNvPr>
          <p:cNvSpPr>
            <a:spLocks noGrp="1"/>
          </p:cNvSpPr>
          <p:nvPr>
            <p:ph idx="1"/>
          </p:nvPr>
        </p:nvSpPr>
        <p:spPr>
          <a:xfrm>
            <a:off x="457200" y="1166018"/>
            <a:ext cx="8229600" cy="4525963"/>
          </a:xfrm>
        </p:spPr>
        <p:txBody>
          <a:bodyPr>
            <a:normAutofit/>
          </a:bodyPr>
          <a:lstStyle/>
          <a:p>
            <a:r>
              <a:rPr lang="en-US" dirty="0">
                <a:solidFill>
                  <a:srgbClr val="0070C0"/>
                </a:solidFill>
              </a:rPr>
              <a:t>Sequential consistency </a:t>
            </a:r>
            <a:r>
              <a:rPr lang="en-US" i="1" dirty="0"/>
              <a:t>cont.</a:t>
            </a:r>
          </a:p>
          <a:p>
            <a:pPr lvl="1"/>
            <a:r>
              <a:rPr lang="en-US" dirty="0"/>
              <a:t>A data store is said to be </a:t>
            </a:r>
            <a:r>
              <a:rPr lang="en-US" dirty="0">
                <a:solidFill>
                  <a:srgbClr val="0070C0"/>
                </a:solidFill>
              </a:rPr>
              <a:t>sequentially consistent </a:t>
            </a:r>
            <a:r>
              <a:rPr lang="en-US" dirty="0"/>
              <a:t>when it satisfies the following condition:</a:t>
            </a:r>
          </a:p>
          <a:p>
            <a:pPr lvl="2"/>
            <a:r>
              <a:rPr lang="en-US" sz="2000" i="1" dirty="0"/>
              <a:t>When processes run concurrently on different machines, their read and write operations can occur in different orders. However, all processes must observe the same order of operations, regardless of the actual execution order.</a:t>
            </a:r>
          </a:p>
          <a:p>
            <a:pPr lvl="2"/>
            <a:endParaRPr lang="en-US" i="1" dirty="0"/>
          </a:p>
        </p:txBody>
      </p:sp>
      <p:pic>
        <p:nvPicPr>
          <p:cNvPr id="5" name="Picture 4">
            <a:extLst>
              <a:ext uri="{FF2B5EF4-FFF2-40B4-BE49-F238E27FC236}">
                <a16:creationId xmlns:a16="http://schemas.microsoft.com/office/drawing/2014/main" id="{B1B6A2F7-8DF1-4743-8BA0-3EDE12A53B05}"/>
              </a:ext>
            </a:extLst>
          </p:cNvPr>
          <p:cNvPicPr>
            <a:picLocks noChangeAspect="1"/>
          </p:cNvPicPr>
          <p:nvPr/>
        </p:nvPicPr>
        <p:blipFill>
          <a:blip r:embed="rId2"/>
          <a:stretch>
            <a:fillRect/>
          </a:stretch>
        </p:blipFill>
        <p:spPr>
          <a:xfrm>
            <a:off x="1752600" y="4495800"/>
            <a:ext cx="6477000" cy="1800417"/>
          </a:xfrm>
          <a:prstGeom prst="rect">
            <a:avLst/>
          </a:prstGeom>
        </p:spPr>
      </p:pic>
      <p:sp>
        <p:nvSpPr>
          <p:cNvPr id="6" name="TextBox 5">
            <a:extLst>
              <a:ext uri="{FF2B5EF4-FFF2-40B4-BE49-F238E27FC236}">
                <a16:creationId xmlns:a16="http://schemas.microsoft.com/office/drawing/2014/main" id="{60969CB3-88FC-4A13-89DB-C47363EF9357}"/>
              </a:ext>
            </a:extLst>
          </p:cNvPr>
          <p:cNvSpPr txBox="1"/>
          <p:nvPr/>
        </p:nvSpPr>
        <p:spPr>
          <a:xfrm>
            <a:off x="322634" y="4208656"/>
            <a:ext cx="5413790" cy="369332"/>
          </a:xfrm>
          <a:prstGeom prst="rect">
            <a:avLst/>
          </a:prstGeom>
          <a:noFill/>
        </p:spPr>
        <p:txBody>
          <a:bodyPr wrap="none" rtlCol="0">
            <a:spAutoFit/>
          </a:bodyPr>
          <a:lstStyle/>
          <a:p>
            <a:r>
              <a:rPr lang="en-US" dirty="0"/>
              <a:t>Both </a:t>
            </a:r>
            <a:r>
              <a:rPr lang="en-US" i="1" dirty="0"/>
              <a:t>P3</a:t>
            </a:r>
            <a:r>
              <a:rPr lang="en-US" dirty="0"/>
              <a:t> and </a:t>
            </a:r>
            <a:r>
              <a:rPr lang="en-US" i="1" dirty="0"/>
              <a:t>P4</a:t>
            </a:r>
            <a:r>
              <a:rPr lang="en-US" dirty="0"/>
              <a:t> see that </a:t>
            </a:r>
            <a:r>
              <a:rPr lang="en-US" i="1" dirty="0"/>
              <a:t>W(x)b</a:t>
            </a:r>
            <a:r>
              <a:rPr lang="en-US" dirty="0"/>
              <a:t> takes place before </a:t>
            </a:r>
            <a:r>
              <a:rPr lang="en-US" i="1" dirty="0"/>
              <a:t>W(x)a</a:t>
            </a:r>
          </a:p>
        </p:txBody>
      </p:sp>
      <p:cxnSp>
        <p:nvCxnSpPr>
          <p:cNvPr id="8" name="Straight Arrow Connector 7">
            <a:extLst>
              <a:ext uri="{FF2B5EF4-FFF2-40B4-BE49-F238E27FC236}">
                <a16:creationId xmlns:a16="http://schemas.microsoft.com/office/drawing/2014/main" id="{0D49C7A7-77FE-4753-B7E8-AB0E24D56D20}"/>
              </a:ext>
            </a:extLst>
          </p:cNvPr>
          <p:cNvCxnSpPr>
            <a:cxnSpLocks/>
          </p:cNvCxnSpPr>
          <p:nvPr/>
        </p:nvCxnSpPr>
        <p:spPr>
          <a:xfrm>
            <a:off x="2743200" y="4495800"/>
            <a:ext cx="762000" cy="474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E7AC3B4-868B-4D30-A0DC-0549C8A1C71F}"/>
              </a:ext>
            </a:extLst>
          </p:cNvPr>
          <p:cNvCxnSpPr>
            <a:cxnSpLocks/>
          </p:cNvCxnSpPr>
          <p:nvPr/>
        </p:nvCxnSpPr>
        <p:spPr>
          <a:xfrm>
            <a:off x="2743200" y="4495800"/>
            <a:ext cx="1524000" cy="474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5B7362E-DAC6-447B-B0B8-7E09EFB7E667}"/>
              </a:ext>
            </a:extLst>
          </p:cNvPr>
          <p:cNvSpPr txBox="1"/>
          <p:nvPr/>
        </p:nvSpPr>
        <p:spPr>
          <a:xfrm>
            <a:off x="5110789" y="6111551"/>
            <a:ext cx="3785908" cy="369332"/>
          </a:xfrm>
          <a:prstGeom prst="rect">
            <a:avLst/>
          </a:prstGeom>
          <a:noFill/>
        </p:spPr>
        <p:txBody>
          <a:bodyPr wrap="none" rtlCol="0">
            <a:spAutoFit/>
          </a:bodyPr>
          <a:lstStyle/>
          <a:p>
            <a:r>
              <a:rPr lang="en-US" i="1" dirty="0"/>
              <a:t>P4</a:t>
            </a:r>
            <a:r>
              <a:rPr lang="en-US" dirty="0"/>
              <a:t> sees a different order of operations</a:t>
            </a:r>
          </a:p>
        </p:txBody>
      </p:sp>
      <p:cxnSp>
        <p:nvCxnSpPr>
          <p:cNvPr id="15" name="Straight Arrow Connector 14">
            <a:extLst>
              <a:ext uri="{FF2B5EF4-FFF2-40B4-BE49-F238E27FC236}">
                <a16:creationId xmlns:a16="http://schemas.microsoft.com/office/drawing/2014/main" id="{D884863F-FE25-464E-B10A-86BDE8C9A185}"/>
              </a:ext>
            </a:extLst>
          </p:cNvPr>
          <p:cNvCxnSpPr>
            <a:cxnSpLocks/>
          </p:cNvCxnSpPr>
          <p:nvPr/>
        </p:nvCxnSpPr>
        <p:spPr>
          <a:xfrm flipV="1">
            <a:off x="7543801" y="5418865"/>
            <a:ext cx="152400" cy="770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0D34041-60AF-44E7-A19E-B17901C5FB8E}"/>
              </a:ext>
            </a:extLst>
          </p:cNvPr>
          <p:cNvCxnSpPr>
            <a:cxnSpLocks/>
          </p:cNvCxnSpPr>
          <p:nvPr/>
        </p:nvCxnSpPr>
        <p:spPr>
          <a:xfrm flipH="1" flipV="1">
            <a:off x="7298439" y="5404837"/>
            <a:ext cx="245362" cy="785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7B8205C-7102-968D-0FE3-F2BBE09E544C}"/>
              </a:ext>
            </a:extLst>
          </p:cNvPr>
          <p:cNvCxnSpPr>
            <a:cxnSpLocks/>
          </p:cNvCxnSpPr>
          <p:nvPr/>
        </p:nvCxnSpPr>
        <p:spPr>
          <a:xfrm>
            <a:off x="4224670" y="6037456"/>
            <a:ext cx="843589"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CB2CB1F-1F2C-671D-5E64-DC97811B8088}"/>
              </a:ext>
            </a:extLst>
          </p:cNvPr>
          <p:cNvCxnSpPr>
            <a:cxnSpLocks/>
          </p:cNvCxnSpPr>
          <p:nvPr/>
        </p:nvCxnSpPr>
        <p:spPr>
          <a:xfrm>
            <a:off x="7924800" y="6037456"/>
            <a:ext cx="3048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5583E54-FDF5-7A09-C53F-05632023118A}"/>
              </a:ext>
            </a:extLst>
          </p:cNvPr>
          <p:cNvCxnSpPr>
            <a:cxnSpLocks/>
          </p:cNvCxnSpPr>
          <p:nvPr/>
        </p:nvCxnSpPr>
        <p:spPr>
          <a:xfrm>
            <a:off x="1752600" y="6296217"/>
            <a:ext cx="19812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778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F04F2-7C41-4E9F-801D-0ED68AAA2B1F}"/>
              </a:ext>
            </a:extLst>
          </p:cNvPr>
          <p:cNvSpPr>
            <a:spLocks noGrp="1"/>
          </p:cNvSpPr>
          <p:nvPr>
            <p:ph type="title"/>
          </p:nvPr>
        </p:nvSpPr>
        <p:spPr/>
        <p:txBody>
          <a:bodyPr>
            <a:noAutofit/>
          </a:bodyPr>
          <a:lstStyle/>
          <a:p>
            <a:r>
              <a:rPr lang="en-US" sz="3600" dirty="0"/>
              <a:t>Consistent Ordering of Operations (3/5)</a:t>
            </a:r>
          </a:p>
        </p:txBody>
      </p:sp>
      <p:sp>
        <p:nvSpPr>
          <p:cNvPr id="3" name="Content Placeholder 2">
            <a:extLst>
              <a:ext uri="{FF2B5EF4-FFF2-40B4-BE49-F238E27FC236}">
                <a16:creationId xmlns:a16="http://schemas.microsoft.com/office/drawing/2014/main" id="{F233444D-8FF5-49D2-8864-57816B7985BA}"/>
              </a:ext>
            </a:extLst>
          </p:cNvPr>
          <p:cNvSpPr>
            <a:spLocks noGrp="1"/>
          </p:cNvSpPr>
          <p:nvPr>
            <p:ph idx="1"/>
          </p:nvPr>
        </p:nvSpPr>
        <p:spPr>
          <a:xfrm>
            <a:off x="457200" y="1417638"/>
            <a:ext cx="8229600" cy="5105400"/>
          </a:xfrm>
        </p:spPr>
        <p:txBody>
          <a:bodyPr>
            <a:normAutofit fontScale="92500" lnSpcReduction="10000"/>
          </a:bodyPr>
          <a:lstStyle/>
          <a:p>
            <a:r>
              <a:rPr lang="en-US" dirty="0">
                <a:solidFill>
                  <a:srgbClr val="0070C0"/>
                </a:solidFill>
              </a:rPr>
              <a:t>Causal consistency</a:t>
            </a:r>
          </a:p>
          <a:p>
            <a:pPr lvl="1"/>
            <a:r>
              <a:rPr lang="en-US" dirty="0"/>
              <a:t>It makes a distinction between events that are </a:t>
            </a:r>
            <a:r>
              <a:rPr lang="en-US" dirty="0">
                <a:solidFill>
                  <a:srgbClr val="0070C0"/>
                </a:solidFill>
              </a:rPr>
              <a:t>causally related </a:t>
            </a:r>
            <a:r>
              <a:rPr lang="en-US" dirty="0"/>
              <a:t>and those that are not (i.e., an order of operations only matters for causally related operations). </a:t>
            </a:r>
          </a:p>
          <a:p>
            <a:pPr lvl="2"/>
            <a:r>
              <a:rPr lang="en-US" dirty="0"/>
              <a:t>If event </a:t>
            </a:r>
            <a:r>
              <a:rPr lang="en-US" i="1" dirty="0"/>
              <a:t>b</a:t>
            </a:r>
            <a:r>
              <a:rPr lang="en-US" dirty="0"/>
              <a:t> is caused (or influenced) by an earlier event </a:t>
            </a:r>
            <a:r>
              <a:rPr lang="en-US" i="1" dirty="0"/>
              <a:t>a</a:t>
            </a:r>
            <a:r>
              <a:rPr lang="en-US" dirty="0"/>
              <a:t>, </a:t>
            </a:r>
            <a:r>
              <a:rPr lang="en-US" i="1" dirty="0">
                <a:solidFill>
                  <a:srgbClr val="0070C0"/>
                </a:solidFill>
              </a:rPr>
              <a:t>causality</a:t>
            </a:r>
            <a:r>
              <a:rPr lang="en-US" dirty="0"/>
              <a:t> requires that everyone else first see a then b. </a:t>
            </a:r>
          </a:p>
          <a:p>
            <a:pPr lvl="2"/>
            <a:r>
              <a:rPr lang="en-US" dirty="0"/>
              <a:t>However, the order of events that everyone else sees does not matter if </a:t>
            </a:r>
            <a:r>
              <a:rPr lang="en-US" i="1" dirty="0">
                <a:solidFill>
                  <a:srgbClr val="0070C0"/>
                </a:solidFill>
              </a:rPr>
              <a:t>no causality </a:t>
            </a:r>
            <a:r>
              <a:rPr lang="en-US" dirty="0"/>
              <a:t>is found between the two events.</a:t>
            </a:r>
          </a:p>
          <a:p>
            <a:pPr lvl="1"/>
            <a:r>
              <a:rPr lang="en-US" dirty="0"/>
              <a:t>For example, if two processes simply write two different values to different data items, they are not causally related. These operations are said to be </a:t>
            </a:r>
            <a:r>
              <a:rPr lang="en-US" dirty="0">
                <a:solidFill>
                  <a:srgbClr val="0070C0"/>
                </a:solidFill>
              </a:rPr>
              <a:t>concurrent</a:t>
            </a:r>
            <a:r>
              <a:rPr lang="en-US" dirty="0"/>
              <a:t>.</a:t>
            </a:r>
          </a:p>
          <a:p>
            <a:pPr lvl="1"/>
            <a:endParaRPr lang="en-US" dirty="0"/>
          </a:p>
        </p:txBody>
      </p:sp>
    </p:spTree>
    <p:extLst>
      <p:ext uri="{BB962C8B-B14F-4D97-AF65-F5344CB8AC3E}">
        <p14:creationId xmlns:p14="http://schemas.microsoft.com/office/powerpoint/2010/main" val="2928137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FAE6-82C5-4CB8-9351-1A1679A6AEFF}"/>
              </a:ext>
            </a:extLst>
          </p:cNvPr>
          <p:cNvSpPr>
            <a:spLocks noGrp="1"/>
          </p:cNvSpPr>
          <p:nvPr>
            <p:ph type="title"/>
          </p:nvPr>
        </p:nvSpPr>
        <p:spPr/>
        <p:txBody>
          <a:bodyPr>
            <a:noAutofit/>
          </a:bodyPr>
          <a:lstStyle/>
          <a:p>
            <a:r>
              <a:rPr lang="en-US" sz="3600" dirty="0"/>
              <a:t>Consistent Ordering of Operations (4/5)</a:t>
            </a:r>
          </a:p>
        </p:txBody>
      </p:sp>
      <p:sp>
        <p:nvSpPr>
          <p:cNvPr id="3" name="Content Placeholder 2">
            <a:extLst>
              <a:ext uri="{FF2B5EF4-FFF2-40B4-BE49-F238E27FC236}">
                <a16:creationId xmlns:a16="http://schemas.microsoft.com/office/drawing/2014/main" id="{2B91551F-DA5F-41C0-9FBC-608C05A22AE7}"/>
              </a:ext>
            </a:extLst>
          </p:cNvPr>
          <p:cNvSpPr>
            <a:spLocks noGrp="1"/>
          </p:cNvSpPr>
          <p:nvPr>
            <p:ph idx="1"/>
          </p:nvPr>
        </p:nvSpPr>
        <p:spPr/>
        <p:txBody>
          <a:bodyPr/>
          <a:lstStyle/>
          <a:p>
            <a:r>
              <a:rPr lang="en-US" dirty="0">
                <a:solidFill>
                  <a:srgbClr val="0070C0"/>
                </a:solidFill>
              </a:rPr>
              <a:t>Causal consistency </a:t>
            </a:r>
            <a:r>
              <a:rPr lang="en-US" i="1" dirty="0"/>
              <a:t>cont.</a:t>
            </a:r>
          </a:p>
          <a:p>
            <a:pPr lvl="1"/>
            <a:r>
              <a:rPr lang="en-US" dirty="0"/>
              <a:t>Example</a:t>
            </a:r>
          </a:p>
        </p:txBody>
      </p:sp>
      <p:pic>
        <p:nvPicPr>
          <p:cNvPr id="5" name="Picture 4">
            <a:extLst>
              <a:ext uri="{FF2B5EF4-FFF2-40B4-BE49-F238E27FC236}">
                <a16:creationId xmlns:a16="http://schemas.microsoft.com/office/drawing/2014/main" id="{D7B58A1D-643F-48CA-9397-9CE7CC4EF2BB}"/>
              </a:ext>
            </a:extLst>
          </p:cNvPr>
          <p:cNvPicPr>
            <a:picLocks noChangeAspect="1"/>
          </p:cNvPicPr>
          <p:nvPr/>
        </p:nvPicPr>
        <p:blipFill>
          <a:blip r:embed="rId2"/>
          <a:stretch>
            <a:fillRect/>
          </a:stretch>
        </p:blipFill>
        <p:spPr>
          <a:xfrm>
            <a:off x="0" y="2698705"/>
            <a:ext cx="9144000" cy="2328952"/>
          </a:xfrm>
          <a:prstGeom prst="rect">
            <a:avLst/>
          </a:prstGeom>
        </p:spPr>
      </p:pic>
      <p:sp>
        <p:nvSpPr>
          <p:cNvPr id="6" name="Oval 5">
            <a:extLst>
              <a:ext uri="{FF2B5EF4-FFF2-40B4-BE49-F238E27FC236}">
                <a16:creationId xmlns:a16="http://schemas.microsoft.com/office/drawing/2014/main" id="{007044A4-B3CD-41D7-8FEA-60A5FD520D80}"/>
              </a:ext>
            </a:extLst>
          </p:cNvPr>
          <p:cNvSpPr/>
          <p:nvPr/>
        </p:nvSpPr>
        <p:spPr>
          <a:xfrm rot="20700834">
            <a:off x="3611905" y="2826003"/>
            <a:ext cx="1920189" cy="783181"/>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2AAF251-8A03-4EC0-9EBA-4F3F2A7A7DEB}"/>
              </a:ext>
            </a:extLst>
          </p:cNvPr>
          <p:cNvSpPr txBox="1"/>
          <p:nvPr/>
        </p:nvSpPr>
        <p:spPr>
          <a:xfrm>
            <a:off x="4191000" y="2053426"/>
            <a:ext cx="3887796" cy="369332"/>
          </a:xfrm>
          <a:prstGeom prst="rect">
            <a:avLst/>
          </a:prstGeom>
          <a:noFill/>
        </p:spPr>
        <p:txBody>
          <a:bodyPr wrap="none" rtlCol="0">
            <a:spAutoFit/>
          </a:bodyPr>
          <a:lstStyle/>
          <a:p>
            <a:r>
              <a:rPr lang="en-US" dirty="0"/>
              <a:t>Q2: Are these two ops causally related?</a:t>
            </a:r>
          </a:p>
        </p:txBody>
      </p:sp>
      <p:cxnSp>
        <p:nvCxnSpPr>
          <p:cNvPr id="9" name="Straight Arrow Connector 8">
            <a:extLst>
              <a:ext uri="{FF2B5EF4-FFF2-40B4-BE49-F238E27FC236}">
                <a16:creationId xmlns:a16="http://schemas.microsoft.com/office/drawing/2014/main" id="{F98A7A9D-B863-461A-938D-A71A4684CB95}"/>
              </a:ext>
            </a:extLst>
          </p:cNvPr>
          <p:cNvCxnSpPr>
            <a:cxnSpLocks/>
          </p:cNvCxnSpPr>
          <p:nvPr/>
        </p:nvCxnSpPr>
        <p:spPr>
          <a:xfrm flipH="1">
            <a:off x="4800600" y="2408493"/>
            <a:ext cx="1" cy="348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CB1EA11-353B-4329-9789-9A22AF49915D}"/>
              </a:ext>
            </a:extLst>
          </p:cNvPr>
          <p:cNvSpPr txBox="1"/>
          <p:nvPr/>
        </p:nvSpPr>
        <p:spPr>
          <a:xfrm>
            <a:off x="4711782" y="5332930"/>
            <a:ext cx="4650312" cy="923330"/>
          </a:xfrm>
          <a:prstGeom prst="rect">
            <a:avLst/>
          </a:prstGeom>
          <a:noFill/>
        </p:spPr>
        <p:txBody>
          <a:bodyPr wrap="none" rtlCol="0">
            <a:spAutoFit/>
          </a:bodyPr>
          <a:lstStyle/>
          <a:p>
            <a:r>
              <a:rPr lang="en-US" dirty="0"/>
              <a:t>Q4: In the causally consistent model, processes </a:t>
            </a:r>
          </a:p>
          <a:p>
            <a:r>
              <a:rPr lang="en-US" dirty="0"/>
              <a:t>are not required to see this particular order </a:t>
            </a:r>
          </a:p>
          <a:p>
            <a:r>
              <a:rPr lang="en-US" dirty="0"/>
              <a:t>of ops. Is this true?</a:t>
            </a:r>
          </a:p>
        </p:txBody>
      </p:sp>
      <p:sp>
        <p:nvSpPr>
          <p:cNvPr id="14" name="Oval 13">
            <a:extLst>
              <a:ext uri="{FF2B5EF4-FFF2-40B4-BE49-F238E27FC236}">
                <a16:creationId xmlns:a16="http://schemas.microsoft.com/office/drawing/2014/main" id="{B690DE1E-9D78-4CAE-B8A7-49AA8D58CC71}"/>
              </a:ext>
            </a:extLst>
          </p:cNvPr>
          <p:cNvSpPr/>
          <p:nvPr/>
        </p:nvSpPr>
        <p:spPr>
          <a:xfrm>
            <a:off x="5340930" y="3158555"/>
            <a:ext cx="1920189" cy="133864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C7EB7DA-8B78-46B2-B57E-BBA45296CFC9}"/>
              </a:ext>
            </a:extLst>
          </p:cNvPr>
          <p:cNvCxnSpPr>
            <a:cxnSpLocks/>
          </p:cNvCxnSpPr>
          <p:nvPr/>
        </p:nvCxnSpPr>
        <p:spPr>
          <a:xfrm flipV="1">
            <a:off x="6324600" y="4681473"/>
            <a:ext cx="0" cy="622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093B06-5AEB-C564-F26E-32F4C26BFC28}"/>
              </a:ext>
            </a:extLst>
          </p:cNvPr>
          <p:cNvSpPr txBox="1"/>
          <p:nvPr/>
        </p:nvSpPr>
        <p:spPr>
          <a:xfrm>
            <a:off x="-88301" y="2591055"/>
            <a:ext cx="4075411" cy="369332"/>
          </a:xfrm>
          <a:prstGeom prst="rect">
            <a:avLst/>
          </a:prstGeom>
          <a:noFill/>
        </p:spPr>
        <p:txBody>
          <a:bodyPr wrap="none" rtlCol="0">
            <a:spAutoFit/>
          </a:bodyPr>
          <a:lstStyle/>
          <a:p>
            <a:r>
              <a:rPr lang="en-US" dirty="0"/>
              <a:t>Q1: are </a:t>
            </a:r>
            <a:r>
              <a:rPr lang="en-US" i="1" dirty="0"/>
              <a:t>W(x)a</a:t>
            </a:r>
            <a:r>
              <a:rPr lang="en-US" dirty="0"/>
              <a:t> and </a:t>
            </a:r>
            <a:r>
              <a:rPr lang="en-US" i="1" dirty="0"/>
              <a:t>R(X)a</a:t>
            </a:r>
            <a:r>
              <a:rPr lang="en-US" dirty="0"/>
              <a:t> causally related?</a:t>
            </a:r>
          </a:p>
        </p:txBody>
      </p:sp>
      <p:sp>
        <p:nvSpPr>
          <p:cNvPr id="8" name="TextBox 7">
            <a:extLst>
              <a:ext uri="{FF2B5EF4-FFF2-40B4-BE49-F238E27FC236}">
                <a16:creationId xmlns:a16="http://schemas.microsoft.com/office/drawing/2014/main" id="{15AE4FD2-B63E-4FF8-99C8-72981BCFF99D}"/>
              </a:ext>
            </a:extLst>
          </p:cNvPr>
          <p:cNvSpPr txBox="1"/>
          <p:nvPr/>
        </p:nvSpPr>
        <p:spPr>
          <a:xfrm>
            <a:off x="378826" y="5135307"/>
            <a:ext cx="4182812" cy="369332"/>
          </a:xfrm>
          <a:prstGeom prst="rect">
            <a:avLst/>
          </a:prstGeom>
          <a:noFill/>
        </p:spPr>
        <p:txBody>
          <a:bodyPr wrap="none" rtlCol="0">
            <a:spAutoFit/>
          </a:bodyPr>
          <a:lstStyle/>
          <a:p>
            <a:r>
              <a:rPr lang="en-US" dirty="0"/>
              <a:t>Q3: Is this a causally consistent data store?</a:t>
            </a:r>
          </a:p>
        </p:txBody>
      </p:sp>
    </p:spTree>
    <p:extLst>
      <p:ext uri="{BB962C8B-B14F-4D97-AF65-F5344CB8AC3E}">
        <p14:creationId xmlns:p14="http://schemas.microsoft.com/office/powerpoint/2010/main" val="1887064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6CBB-B380-4E75-8A2D-706F02E9CDCE}"/>
              </a:ext>
            </a:extLst>
          </p:cNvPr>
          <p:cNvSpPr>
            <a:spLocks noGrp="1"/>
          </p:cNvSpPr>
          <p:nvPr>
            <p:ph type="title"/>
          </p:nvPr>
        </p:nvSpPr>
        <p:spPr/>
        <p:txBody>
          <a:bodyPr>
            <a:noAutofit/>
          </a:bodyPr>
          <a:lstStyle/>
          <a:p>
            <a:r>
              <a:rPr lang="en-US" sz="3600" dirty="0"/>
              <a:t>Consistent Ordering of Operations (5/5)</a:t>
            </a:r>
          </a:p>
        </p:txBody>
      </p:sp>
      <p:sp>
        <p:nvSpPr>
          <p:cNvPr id="3" name="Content Placeholder 2">
            <a:extLst>
              <a:ext uri="{FF2B5EF4-FFF2-40B4-BE49-F238E27FC236}">
                <a16:creationId xmlns:a16="http://schemas.microsoft.com/office/drawing/2014/main" id="{BA52D29A-5DD5-407E-9686-DB28DA8962A0}"/>
              </a:ext>
            </a:extLst>
          </p:cNvPr>
          <p:cNvSpPr>
            <a:spLocks noGrp="1"/>
          </p:cNvSpPr>
          <p:nvPr>
            <p:ph idx="1"/>
          </p:nvPr>
        </p:nvSpPr>
        <p:spPr/>
        <p:txBody>
          <a:bodyPr/>
          <a:lstStyle/>
          <a:p>
            <a:r>
              <a:rPr lang="en-US" dirty="0">
                <a:solidFill>
                  <a:srgbClr val="0070C0"/>
                </a:solidFill>
              </a:rPr>
              <a:t>Causal consistency </a:t>
            </a:r>
            <a:r>
              <a:rPr lang="en-US" i="1" dirty="0"/>
              <a:t>cont.</a:t>
            </a:r>
          </a:p>
          <a:p>
            <a:pPr lvl="1"/>
            <a:r>
              <a:rPr lang="en-US" dirty="0"/>
              <a:t>Example</a:t>
            </a:r>
          </a:p>
        </p:txBody>
      </p:sp>
      <p:pic>
        <p:nvPicPr>
          <p:cNvPr id="5" name="Picture 4">
            <a:extLst>
              <a:ext uri="{FF2B5EF4-FFF2-40B4-BE49-F238E27FC236}">
                <a16:creationId xmlns:a16="http://schemas.microsoft.com/office/drawing/2014/main" id="{8A4F03C4-300A-4616-9020-FB9A46ED285D}"/>
              </a:ext>
            </a:extLst>
          </p:cNvPr>
          <p:cNvPicPr>
            <a:picLocks noChangeAspect="1"/>
          </p:cNvPicPr>
          <p:nvPr/>
        </p:nvPicPr>
        <p:blipFill>
          <a:blip r:embed="rId2"/>
          <a:stretch>
            <a:fillRect/>
          </a:stretch>
        </p:blipFill>
        <p:spPr>
          <a:xfrm>
            <a:off x="1090612" y="2743200"/>
            <a:ext cx="6962775" cy="1952625"/>
          </a:xfrm>
          <a:prstGeom prst="rect">
            <a:avLst/>
          </a:prstGeom>
        </p:spPr>
      </p:pic>
      <p:sp>
        <p:nvSpPr>
          <p:cNvPr id="6" name="TextBox 5">
            <a:extLst>
              <a:ext uri="{FF2B5EF4-FFF2-40B4-BE49-F238E27FC236}">
                <a16:creationId xmlns:a16="http://schemas.microsoft.com/office/drawing/2014/main" id="{EBA567C4-AB9E-4F4E-8F6F-7B32B5D6BF11}"/>
              </a:ext>
            </a:extLst>
          </p:cNvPr>
          <p:cNvSpPr txBox="1"/>
          <p:nvPr/>
        </p:nvSpPr>
        <p:spPr>
          <a:xfrm>
            <a:off x="185571" y="4767659"/>
            <a:ext cx="6853415" cy="1477328"/>
          </a:xfrm>
          <a:prstGeom prst="rect">
            <a:avLst/>
          </a:prstGeom>
          <a:noFill/>
        </p:spPr>
        <p:txBody>
          <a:bodyPr wrap="none" rtlCol="0">
            <a:spAutoFit/>
          </a:bodyPr>
          <a:lstStyle/>
          <a:p>
            <a:r>
              <a:rPr lang="en-US" i="1" dirty="0"/>
              <a:t>W(x)b</a:t>
            </a:r>
            <a:r>
              <a:rPr lang="en-US" dirty="0"/>
              <a:t> depends on </a:t>
            </a:r>
            <a:r>
              <a:rPr lang="en-US" i="1" dirty="0"/>
              <a:t>R(x)a</a:t>
            </a:r>
            <a:r>
              <a:rPr lang="en-US" dirty="0"/>
              <a:t> because it happens later </a:t>
            </a:r>
            <a:r>
              <a:rPr lang="en-US" b="1" u="sng" dirty="0"/>
              <a:t>on the same process</a:t>
            </a:r>
            <a:r>
              <a:rPr lang="en-US" dirty="0"/>
              <a:t>.</a:t>
            </a:r>
          </a:p>
          <a:p>
            <a:r>
              <a:rPr lang="en-US" dirty="0"/>
              <a:t>Therefore </a:t>
            </a:r>
            <a:r>
              <a:rPr lang="en-US" i="1" dirty="0"/>
              <a:t>W(x)a</a:t>
            </a:r>
            <a:r>
              <a:rPr lang="en-US" dirty="0"/>
              <a:t> and </a:t>
            </a:r>
            <a:r>
              <a:rPr lang="en-US" i="1" dirty="0"/>
              <a:t>W(x)b</a:t>
            </a:r>
            <a:r>
              <a:rPr lang="en-US" dirty="0"/>
              <a:t> are causally related.</a:t>
            </a:r>
          </a:p>
          <a:p>
            <a:r>
              <a:rPr lang="en-US" dirty="0"/>
              <a:t>In other words, since W(x)a and R(x)a are causally related, </a:t>
            </a:r>
          </a:p>
          <a:p>
            <a:r>
              <a:rPr lang="en-US" dirty="0"/>
              <a:t>and R(X)a and W(X)b are causally related, therefore </a:t>
            </a:r>
          </a:p>
          <a:p>
            <a:r>
              <a:rPr lang="en-US" dirty="0"/>
              <a:t>W(X)a and W(X)b are causally related.</a:t>
            </a:r>
          </a:p>
        </p:txBody>
      </p:sp>
      <p:cxnSp>
        <p:nvCxnSpPr>
          <p:cNvPr id="8" name="Straight Arrow Connector 7">
            <a:extLst>
              <a:ext uri="{FF2B5EF4-FFF2-40B4-BE49-F238E27FC236}">
                <a16:creationId xmlns:a16="http://schemas.microsoft.com/office/drawing/2014/main" id="{F4F1C339-D962-43E7-9B19-0DA312CD6870}"/>
              </a:ext>
            </a:extLst>
          </p:cNvPr>
          <p:cNvCxnSpPr>
            <a:cxnSpLocks/>
          </p:cNvCxnSpPr>
          <p:nvPr/>
        </p:nvCxnSpPr>
        <p:spPr>
          <a:xfrm flipV="1">
            <a:off x="2869406" y="3719512"/>
            <a:ext cx="1778794" cy="1029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5061518-C27C-40D1-B0D0-CA3DE8C12B92}"/>
              </a:ext>
            </a:extLst>
          </p:cNvPr>
          <p:cNvSpPr txBox="1"/>
          <p:nvPr/>
        </p:nvSpPr>
        <p:spPr>
          <a:xfrm>
            <a:off x="5943600" y="5547429"/>
            <a:ext cx="2325445" cy="646331"/>
          </a:xfrm>
          <a:prstGeom prst="rect">
            <a:avLst/>
          </a:prstGeom>
          <a:noFill/>
        </p:spPr>
        <p:txBody>
          <a:bodyPr wrap="none" rtlCol="0">
            <a:spAutoFit/>
          </a:bodyPr>
          <a:lstStyle/>
          <a:p>
            <a:r>
              <a:rPr lang="en-US" dirty="0">
                <a:solidFill>
                  <a:srgbClr val="C00000"/>
                </a:solidFill>
              </a:rPr>
              <a:t>Violation of the causal </a:t>
            </a:r>
          </a:p>
          <a:p>
            <a:r>
              <a:rPr lang="en-US" dirty="0">
                <a:solidFill>
                  <a:srgbClr val="C00000"/>
                </a:solidFill>
              </a:rPr>
              <a:t>consistency</a:t>
            </a:r>
          </a:p>
        </p:txBody>
      </p:sp>
      <p:sp>
        <p:nvSpPr>
          <p:cNvPr id="7" name="Oval 6">
            <a:extLst>
              <a:ext uri="{FF2B5EF4-FFF2-40B4-BE49-F238E27FC236}">
                <a16:creationId xmlns:a16="http://schemas.microsoft.com/office/drawing/2014/main" id="{A2161CCA-95B3-4DA2-9143-8A9D4A8AA2F6}"/>
              </a:ext>
            </a:extLst>
          </p:cNvPr>
          <p:cNvSpPr/>
          <p:nvPr/>
        </p:nvSpPr>
        <p:spPr>
          <a:xfrm>
            <a:off x="5410200" y="3719512"/>
            <a:ext cx="2438400" cy="10350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58ADD4E-379A-47EF-BD3F-DD758F45C8D7}"/>
              </a:ext>
            </a:extLst>
          </p:cNvPr>
          <p:cNvCxnSpPr>
            <a:cxnSpLocks/>
            <a:endCxn id="7" idx="5"/>
          </p:cNvCxnSpPr>
          <p:nvPr/>
        </p:nvCxnSpPr>
        <p:spPr>
          <a:xfrm flipH="1" flipV="1">
            <a:off x="7491505" y="4602982"/>
            <a:ext cx="357095" cy="944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1239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62C2-4335-4EAD-89BC-81F347133F8A}"/>
              </a:ext>
            </a:extLst>
          </p:cNvPr>
          <p:cNvSpPr>
            <a:spLocks noGrp="1"/>
          </p:cNvSpPr>
          <p:nvPr>
            <p:ph type="title"/>
          </p:nvPr>
        </p:nvSpPr>
        <p:spPr/>
        <p:txBody>
          <a:bodyPr/>
          <a:lstStyle/>
          <a:p>
            <a:r>
              <a:rPr lang="en-US" dirty="0"/>
              <a:t>Eventual Consistency</a:t>
            </a:r>
          </a:p>
        </p:txBody>
      </p:sp>
      <p:sp>
        <p:nvSpPr>
          <p:cNvPr id="3" name="Content Placeholder 2">
            <a:extLst>
              <a:ext uri="{FF2B5EF4-FFF2-40B4-BE49-F238E27FC236}">
                <a16:creationId xmlns:a16="http://schemas.microsoft.com/office/drawing/2014/main" id="{EED5B361-F036-44F9-A5BD-0C2575564E5C}"/>
              </a:ext>
            </a:extLst>
          </p:cNvPr>
          <p:cNvSpPr>
            <a:spLocks noGrp="1"/>
          </p:cNvSpPr>
          <p:nvPr>
            <p:ph idx="1"/>
          </p:nvPr>
        </p:nvSpPr>
        <p:spPr>
          <a:xfrm>
            <a:off x="457200" y="1600200"/>
            <a:ext cx="8229600" cy="5257800"/>
          </a:xfrm>
        </p:spPr>
        <p:txBody>
          <a:bodyPr>
            <a:normAutofit fontScale="77500" lnSpcReduction="20000"/>
          </a:bodyPr>
          <a:lstStyle/>
          <a:p>
            <a:r>
              <a:rPr lang="en-US" dirty="0"/>
              <a:t>There are systems that tolerate relatively high inconsistency</a:t>
            </a:r>
          </a:p>
          <a:p>
            <a:pPr lvl="1"/>
            <a:r>
              <a:rPr lang="en-US" i="1" dirty="0"/>
              <a:t>e.g., </a:t>
            </a:r>
            <a:r>
              <a:rPr lang="en-US" dirty="0"/>
              <a:t>database systems where most processes hardly ever perform update operations. </a:t>
            </a:r>
          </a:p>
          <a:p>
            <a:pPr lvl="1"/>
            <a:r>
              <a:rPr lang="en-US" i="1" dirty="0"/>
              <a:t>e.g., </a:t>
            </a:r>
            <a:r>
              <a:rPr lang="en-US" dirty="0"/>
              <a:t>the Web where the single authority like a webmaster makes an update.   </a:t>
            </a:r>
          </a:p>
          <a:p>
            <a:r>
              <a:rPr lang="en-US" dirty="0"/>
              <a:t>For such systems, the </a:t>
            </a:r>
            <a:r>
              <a:rPr lang="en-US" dirty="0">
                <a:solidFill>
                  <a:srgbClr val="0070C0"/>
                </a:solidFill>
              </a:rPr>
              <a:t>eventual consistency model </a:t>
            </a:r>
            <a:r>
              <a:rPr lang="en-US" dirty="0"/>
              <a:t>can be used.</a:t>
            </a:r>
          </a:p>
          <a:p>
            <a:pPr lvl="1"/>
            <a:r>
              <a:rPr lang="en-US" dirty="0"/>
              <a:t>Changes made in one part of the distributed system may not be immediately visible to all users or parts of the system. </a:t>
            </a:r>
          </a:p>
          <a:p>
            <a:pPr lvl="1"/>
            <a:r>
              <a:rPr lang="en-US" dirty="0"/>
              <a:t>Systems using eventual consistency can operate faster and remain available even during network partitions or server failures, as they </a:t>
            </a:r>
            <a:r>
              <a:rPr lang="en-US" b="1" dirty="0">
                <a:solidFill>
                  <a:srgbClr val="0070C0"/>
                </a:solidFill>
              </a:rPr>
              <a:t>do not require immediate consistency</a:t>
            </a:r>
            <a:r>
              <a:rPr lang="en-US" dirty="0"/>
              <a:t> across all nodes for every operation.</a:t>
            </a:r>
          </a:p>
          <a:p>
            <a:pPr lvl="1"/>
            <a:r>
              <a:rPr lang="en-US" dirty="0"/>
              <a:t>Eventually, the system will converge to a consistent state (although it may take long)</a:t>
            </a:r>
          </a:p>
          <a:p>
            <a:pPr lvl="1"/>
            <a:endParaRPr lang="en-US" dirty="0"/>
          </a:p>
          <a:p>
            <a:pPr marL="0" indent="0">
              <a:buNone/>
            </a:pPr>
            <a:endParaRPr lang="en-US" dirty="0"/>
          </a:p>
        </p:txBody>
      </p:sp>
    </p:spTree>
    <p:extLst>
      <p:ext uri="{BB962C8B-B14F-4D97-AF65-F5344CB8AC3E}">
        <p14:creationId xmlns:p14="http://schemas.microsoft.com/office/powerpoint/2010/main" val="700337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D5A6-C76A-4E73-BF12-17B03D26EEED}"/>
              </a:ext>
            </a:extLst>
          </p:cNvPr>
          <p:cNvSpPr>
            <a:spLocks noGrp="1"/>
          </p:cNvSpPr>
          <p:nvPr>
            <p:ph type="title"/>
          </p:nvPr>
        </p:nvSpPr>
        <p:spPr>
          <a:xfrm>
            <a:off x="457200" y="2857500"/>
            <a:ext cx="8229600" cy="1143000"/>
          </a:xfrm>
        </p:spPr>
        <p:txBody>
          <a:bodyPr>
            <a:normAutofit/>
          </a:bodyPr>
          <a:lstStyle/>
          <a:p>
            <a:r>
              <a:rPr lang="en-US" dirty="0"/>
              <a:t>Client-Centric Consistency Models</a:t>
            </a:r>
          </a:p>
        </p:txBody>
      </p:sp>
      <p:sp>
        <p:nvSpPr>
          <p:cNvPr id="3" name="TextBox 2">
            <a:extLst>
              <a:ext uri="{FF2B5EF4-FFF2-40B4-BE49-F238E27FC236}">
                <a16:creationId xmlns:a16="http://schemas.microsoft.com/office/drawing/2014/main" id="{72420332-915C-4ED7-BFCD-FC6C4F8A35A8}"/>
              </a:ext>
            </a:extLst>
          </p:cNvPr>
          <p:cNvSpPr txBox="1"/>
          <p:nvPr/>
        </p:nvSpPr>
        <p:spPr>
          <a:xfrm>
            <a:off x="1536358" y="4191000"/>
            <a:ext cx="5948488" cy="369332"/>
          </a:xfrm>
          <a:prstGeom prst="rect">
            <a:avLst/>
          </a:prstGeom>
          <a:noFill/>
        </p:spPr>
        <p:txBody>
          <a:bodyPr wrap="none" rtlCol="0">
            <a:spAutoFit/>
          </a:bodyPr>
          <a:lstStyle/>
          <a:p>
            <a:pPr algn="ctr"/>
            <a:r>
              <a:rPr lang="en-US" dirty="0"/>
              <a:t>“Consistency is achieved from the perspective of the clients.” </a:t>
            </a:r>
          </a:p>
        </p:txBody>
      </p:sp>
    </p:spTree>
    <p:extLst>
      <p:ext uri="{BB962C8B-B14F-4D97-AF65-F5344CB8AC3E}">
        <p14:creationId xmlns:p14="http://schemas.microsoft.com/office/powerpoint/2010/main" val="3664213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C9891-847B-4D69-B203-9C3358FB4C81}"/>
              </a:ext>
            </a:extLst>
          </p:cNvPr>
          <p:cNvSpPr>
            <a:spLocks noGrp="1"/>
          </p:cNvSpPr>
          <p:nvPr>
            <p:ph type="title"/>
          </p:nvPr>
        </p:nvSpPr>
        <p:spPr/>
        <p:txBody>
          <a:bodyPr/>
          <a:lstStyle/>
          <a:p>
            <a:r>
              <a:rPr lang="en-US" dirty="0"/>
              <a:t>Basic Concept</a:t>
            </a:r>
          </a:p>
        </p:txBody>
      </p:sp>
      <p:sp>
        <p:nvSpPr>
          <p:cNvPr id="3" name="Content Placeholder 2">
            <a:extLst>
              <a:ext uri="{FF2B5EF4-FFF2-40B4-BE49-F238E27FC236}">
                <a16:creationId xmlns:a16="http://schemas.microsoft.com/office/drawing/2014/main" id="{5330FB4A-7067-4870-859F-F71E89365479}"/>
              </a:ext>
            </a:extLst>
          </p:cNvPr>
          <p:cNvSpPr>
            <a:spLocks noGrp="1"/>
          </p:cNvSpPr>
          <p:nvPr>
            <p:ph idx="1"/>
          </p:nvPr>
        </p:nvSpPr>
        <p:spPr>
          <a:xfrm>
            <a:off x="457200" y="1285029"/>
            <a:ext cx="8229600" cy="2362199"/>
          </a:xfrm>
        </p:spPr>
        <p:txBody>
          <a:bodyPr>
            <a:normAutofit/>
          </a:bodyPr>
          <a:lstStyle/>
          <a:p>
            <a:r>
              <a:rPr lang="en-US" sz="2800" dirty="0"/>
              <a:t>The </a:t>
            </a:r>
            <a:r>
              <a:rPr lang="en-US" sz="2800" dirty="0">
                <a:solidFill>
                  <a:srgbClr val="0070C0"/>
                </a:solidFill>
              </a:rPr>
              <a:t>client-centric consistency </a:t>
            </a:r>
            <a:r>
              <a:rPr lang="en-US" sz="2800" dirty="0"/>
              <a:t>model provides consistency focusing on a </a:t>
            </a:r>
            <a:r>
              <a:rPr lang="en-US" sz="2800" dirty="0">
                <a:solidFill>
                  <a:srgbClr val="0070C0"/>
                </a:solidFill>
              </a:rPr>
              <a:t>client</a:t>
            </a:r>
            <a:r>
              <a:rPr lang="en-US" sz="2800" dirty="0"/>
              <a:t>. </a:t>
            </a:r>
          </a:p>
          <a:p>
            <a:pPr lvl="1"/>
            <a:r>
              <a:rPr lang="en-US" sz="2000" i="1" dirty="0"/>
              <a:t>As long as consistency is guaranteed for a client, it is not necessary to maintain consistency across all replicas. Also, we do not need to provide consistency on data items that are not related to those that the client accesses.</a:t>
            </a:r>
          </a:p>
        </p:txBody>
      </p:sp>
      <p:pic>
        <p:nvPicPr>
          <p:cNvPr id="4" name="Picture 3">
            <a:extLst>
              <a:ext uri="{FF2B5EF4-FFF2-40B4-BE49-F238E27FC236}">
                <a16:creationId xmlns:a16="http://schemas.microsoft.com/office/drawing/2014/main" id="{81106D54-B491-114D-AC41-722605BBCD51}"/>
              </a:ext>
            </a:extLst>
          </p:cNvPr>
          <p:cNvPicPr>
            <a:picLocks noChangeAspect="1"/>
          </p:cNvPicPr>
          <p:nvPr/>
        </p:nvPicPr>
        <p:blipFill>
          <a:blip r:embed="rId2"/>
          <a:stretch>
            <a:fillRect/>
          </a:stretch>
        </p:blipFill>
        <p:spPr>
          <a:xfrm>
            <a:off x="3276600" y="3484044"/>
            <a:ext cx="5346700" cy="3350007"/>
          </a:xfrm>
          <a:prstGeom prst="rect">
            <a:avLst/>
          </a:prstGeom>
        </p:spPr>
      </p:pic>
      <p:sp>
        <p:nvSpPr>
          <p:cNvPr id="5" name="TextBox 4">
            <a:extLst>
              <a:ext uri="{FF2B5EF4-FFF2-40B4-BE49-F238E27FC236}">
                <a16:creationId xmlns:a16="http://schemas.microsoft.com/office/drawing/2014/main" id="{654BE32D-8332-A6DF-2140-8344A0D4C6B1}"/>
              </a:ext>
            </a:extLst>
          </p:cNvPr>
          <p:cNvSpPr txBox="1"/>
          <p:nvPr/>
        </p:nvSpPr>
        <p:spPr>
          <a:xfrm>
            <a:off x="609600" y="4513305"/>
            <a:ext cx="2982291" cy="1200329"/>
          </a:xfrm>
          <a:prstGeom prst="rect">
            <a:avLst/>
          </a:prstGeom>
          <a:noFill/>
        </p:spPr>
        <p:txBody>
          <a:bodyPr wrap="none" rtlCol="0">
            <a:spAutoFit/>
          </a:bodyPr>
          <a:lstStyle/>
          <a:p>
            <a:r>
              <a:rPr lang="en-US" dirty="0"/>
              <a:t>Note that not all replicas </a:t>
            </a:r>
          </a:p>
          <a:p>
            <a:r>
              <a:rPr lang="en-US" dirty="0"/>
              <a:t>are required to maintain </a:t>
            </a:r>
          </a:p>
          <a:p>
            <a:r>
              <a:rPr lang="en-US" dirty="0"/>
              <a:t>consistency </a:t>
            </a:r>
          </a:p>
          <a:p>
            <a:r>
              <a:rPr lang="en-US" dirty="0"/>
              <a:t>(</a:t>
            </a:r>
            <a:r>
              <a:rPr lang="en-US" i="1" dirty="0"/>
              <a:t>i.e., </a:t>
            </a:r>
            <a:r>
              <a:rPr lang="en-US" dirty="0"/>
              <a:t>data-centric consistency)</a:t>
            </a:r>
          </a:p>
        </p:txBody>
      </p:sp>
    </p:spTree>
    <p:extLst>
      <p:ext uri="{BB962C8B-B14F-4D97-AF65-F5344CB8AC3E}">
        <p14:creationId xmlns:p14="http://schemas.microsoft.com/office/powerpoint/2010/main" val="911049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21B2-42EB-9A98-F5A6-587CC3D7C7AC}"/>
              </a:ext>
            </a:extLst>
          </p:cNvPr>
          <p:cNvSpPr>
            <a:spLocks noGrp="1"/>
          </p:cNvSpPr>
          <p:nvPr>
            <p:ph type="title"/>
          </p:nvPr>
        </p:nvSpPr>
        <p:spPr/>
        <p:txBody>
          <a:bodyPr/>
          <a:lstStyle/>
          <a:p>
            <a:r>
              <a:rPr lang="en-US" dirty="0"/>
              <a:t>Notations</a:t>
            </a:r>
          </a:p>
        </p:txBody>
      </p:sp>
      <p:sp>
        <p:nvSpPr>
          <p:cNvPr id="3" name="Content Placeholder 2">
            <a:extLst>
              <a:ext uri="{FF2B5EF4-FFF2-40B4-BE49-F238E27FC236}">
                <a16:creationId xmlns:a16="http://schemas.microsoft.com/office/drawing/2014/main" id="{4EFE6370-A80B-E894-02E1-EC8CD8406FC9}"/>
              </a:ext>
            </a:extLst>
          </p:cNvPr>
          <p:cNvSpPr>
            <a:spLocks noGrp="1"/>
          </p:cNvSpPr>
          <p:nvPr>
            <p:ph idx="1"/>
          </p:nvPr>
        </p:nvSpPr>
        <p:spPr/>
        <p:txBody>
          <a:bodyPr>
            <a:normAutofit fontScale="85000" lnSpcReduction="10000"/>
          </a:bodyPr>
          <a:lstStyle/>
          <a:p>
            <a:r>
              <a:rPr lang="en-US" i="1" dirty="0">
                <a:solidFill>
                  <a:srgbClr val="0070C0"/>
                </a:solidFill>
              </a:rPr>
              <a:t>x</a:t>
            </a:r>
            <a:r>
              <a:rPr lang="en-US" i="1" baseline="-25000" dirty="0">
                <a:solidFill>
                  <a:srgbClr val="0070C0"/>
                </a:solidFill>
              </a:rPr>
              <a:t>i</a:t>
            </a:r>
            <a:r>
              <a:rPr lang="en-US" i="1" dirty="0"/>
              <a:t> </a:t>
            </a:r>
            <a:r>
              <a:rPr lang="en-US" dirty="0"/>
              <a:t>denotes the version </a:t>
            </a:r>
            <a:r>
              <a:rPr lang="en-US" i="1" dirty="0" err="1"/>
              <a:t>i</a:t>
            </a:r>
            <a:r>
              <a:rPr lang="en-US" dirty="0"/>
              <a:t> of data item </a:t>
            </a:r>
            <a:r>
              <a:rPr lang="en-US" i="1" dirty="0"/>
              <a:t>x</a:t>
            </a:r>
            <a:r>
              <a:rPr lang="en-US" dirty="0"/>
              <a:t>.</a:t>
            </a:r>
          </a:p>
          <a:p>
            <a:r>
              <a:rPr lang="en-US" i="1" dirty="0">
                <a:solidFill>
                  <a:srgbClr val="0070C0"/>
                </a:solidFill>
              </a:rPr>
              <a:t>WS(x</a:t>
            </a:r>
            <a:r>
              <a:rPr lang="en-US" i="1" baseline="-25000" dirty="0">
                <a:solidFill>
                  <a:srgbClr val="0070C0"/>
                </a:solidFill>
              </a:rPr>
              <a:t>i</a:t>
            </a:r>
            <a:r>
              <a:rPr lang="en-US" i="1" dirty="0">
                <a:solidFill>
                  <a:srgbClr val="0070C0"/>
                </a:solidFill>
              </a:rPr>
              <a:t>) </a:t>
            </a:r>
            <a:r>
              <a:rPr lang="en-US" dirty="0"/>
              <a:t>means that the version </a:t>
            </a:r>
            <a:r>
              <a:rPr lang="en-US" i="1" dirty="0"/>
              <a:t>x</a:t>
            </a:r>
            <a:r>
              <a:rPr lang="en-US" i="1" baseline="-25000" dirty="0"/>
              <a:t>i</a:t>
            </a:r>
            <a:r>
              <a:rPr lang="en-US" dirty="0"/>
              <a:t> is the result of a series of write operations.</a:t>
            </a:r>
          </a:p>
          <a:p>
            <a:pPr lvl="1"/>
            <a:r>
              <a:rPr lang="en-US" dirty="0"/>
              <a:t>In particular, </a:t>
            </a:r>
            <a:r>
              <a:rPr lang="en-US" i="1" dirty="0">
                <a:solidFill>
                  <a:srgbClr val="0070C0"/>
                </a:solidFill>
              </a:rPr>
              <a:t>W(x</a:t>
            </a:r>
            <a:r>
              <a:rPr lang="en-US" i="1" baseline="-25000" dirty="0">
                <a:solidFill>
                  <a:srgbClr val="0070C0"/>
                </a:solidFill>
              </a:rPr>
              <a:t>i</a:t>
            </a:r>
            <a:r>
              <a:rPr lang="en-US" i="1" dirty="0">
                <a:solidFill>
                  <a:srgbClr val="0070C0"/>
                </a:solidFill>
              </a:rPr>
              <a:t>)</a:t>
            </a:r>
            <a:r>
              <a:rPr lang="en-US" i="1" dirty="0"/>
              <a:t> </a:t>
            </a:r>
            <a:r>
              <a:rPr lang="en-US" dirty="0"/>
              <a:t>means a single write operation on </a:t>
            </a:r>
            <a:r>
              <a:rPr lang="en-US" i="1" dirty="0"/>
              <a:t>x</a:t>
            </a:r>
            <a:r>
              <a:rPr lang="en-US" i="1" baseline="-25000" dirty="0"/>
              <a:t>i</a:t>
            </a:r>
            <a:r>
              <a:rPr lang="en-US" dirty="0"/>
              <a:t>.</a:t>
            </a:r>
          </a:p>
          <a:p>
            <a:pPr lvl="1"/>
            <a:r>
              <a:rPr lang="en-US" dirty="0"/>
              <a:t>Also, </a:t>
            </a:r>
            <a:r>
              <a:rPr lang="en-US" i="1" dirty="0" err="1">
                <a:solidFill>
                  <a:srgbClr val="0070C0"/>
                </a:solidFill>
              </a:rPr>
              <a:t>WS</a:t>
            </a:r>
            <a:r>
              <a:rPr lang="en-US" i="1" baseline="-25000" dirty="0" err="1">
                <a:solidFill>
                  <a:srgbClr val="0070C0"/>
                </a:solidFill>
              </a:rPr>
              <a:t>i</a:t>
            </a:r>
            <a:r>
              <a:rPr lang="en-US" i="1" dirty="0">
                <a:solidFill>
                  <a:srgbClr val="0070C0"/>
                </a:solidFill>
              </a:rPr>
              <a:t>(x</a:t>
            </a:r>
            <a:r>
              <a:rPr lang="en-US" i="1" baseline="-25000" dirty="0">
                <a:solidFill>
                  <a:srgbClr val="0070C0"/>
                </a:solidFill>
              </a:rPr>
              <a:t>i</a:t>
            </a:r>
            <a:r>
              <a:rPr lang="en-US" i="1" dirty="0">
                <a:solidFill>
                  <a:srgbClr val="0070C0"/>
                </a:solidFill>
              </a:rPr>
              <a:t>)</a:t>
            </a:r>
            <a:r>
              <a:rPr lang="en-US" dirty="0">
                <a:solidFill>
                  <a:srgbClr val="0070C0"/>
                </a:solidFill>
              </a:rPr>
              <a:t> </a:t>
            </a:r>
            <a:r>
              <a:rPr lang="en-US" dirty="0"/>
              <a:t>means that a series of write operations is performed by process </a:t>
            </a:r>
            <a:r>
              <a:rPr lang="en-US" i="1" dirty="0"/>
              <a:t>P</a:t>
            </a:r>
            <a:r>
              <a:rPr lang="en-US" i="1" baseline="-25000" dirty="0"/>
              <a:t>i</a:t>
            </a:r>
            <a:r>
              <a:rPr lang="en-US" dirty="0"/>
              <a:t>.</a:t>
            </a:r>
          </a:p>
          <a:p>
            <a:r>
              <a:rPr lang="en-US" i="1" dirty="0">
                <a:solidFill>
                  <a:srgbClr val="0070C0"/>
                </a:solidFill>
              </a:rPr>
              <a:t>WS(</a:t>
            </a:r>
            <a:r>
              <a:rPr lang="en-US" i="1" dirty="0" err="1">
                <a:solidFill>
                  <a:srgbClr val="0070C0"/>
                </a:solidFill>
              </a:rPr>
              <a:t>x</a:t>
            </a:r>
            <a:r>
              <a:rPr lang="en-US" i="1" baseline="-25000" dirty="0" err="1">
                <a:solidFill>
                  <a:srgbClr val="0070C0"/>
                </a:solidFill>
              </a:rPr>
              <a:t>i</a:t>
            </a:r>
            <a:r>
              <a:rPr lang="en-US" i="1" dirty="0" err="1">
                <a:solidFill>
                  <a:srgbClr val="0070C0"/>
                </a:solidFill>
              </a:rPr>
              <a:t>;x</a:t>
            </a:r>
            <a:r>
              <a:rPr lang="en-US" i="1" baseline="-25000" dirty="0" err="1">
                <a:solidFill>
                  <a:srgbClr val="0070C0"/>
                </a:solidFill>
              </a:rPr>
              <a:t>j</a:t>
            </a:r>
            <a:r>
              <a:rPr lang="en-US" i="1" dirty="0">
                <a:solidFill>
                  <a:srgbClr val="0070C0"/>
                </a:solidFill>
              </a:rPr>
              <a:t>) </a:t>
            </a:r>
            <a:r>
              <a:rPr lang="en-US" dirty="0"/>
              <a:t>means that </a:t>
            </a:r>
            <a:r>
              <a:rPr lang="en-US" i="1" dirty="0" err="1"/>
              <a:t>x</a:t>
            </a:r>
            <a:r>
              <a:rPr lang="en-US" i="1" baseline="-25000" dirty="0" err="1"/>
              <a:t>j</a:t>
            </a:r>
            <a:r>
              <a:rPr lang="en-US" dirty="0"/>
              <a:t> is the result of a series of write operations performed on the version </a:t>
            </a:r>
            <a:r>
              <a:rPr lang="en-US" i="1" dirty="0"/>
              <a:t>x</a:t>
            </a:r>
            <a:r>
              <a:rPr lang="en-US" i="1" baseline="-25000" dirty="0"/>
              <a:t>i</a:t>
            </a:r>
            <a:r>
              <a:rPr lang="en-US" dirty="0"/>
              <a:t>.</a:t>
            </a:r>
          </a:p>
          <a:p>
            <a:pPr lvl="1"/>
            <a:r>
              <a:rPr lang="en-US" dirty="0"/>
              <a:t>Read as </a:t>
            </a:r>
            <a:r>
              <a:rPr lang="en-US" i="1" dirty="0" err="1"/>
              <a:t>x</a:t>
            </a:r>
            <a:r>
              <a:rPr lang="en-US" i="1" baseline="-25000" dirty="0" err="1"/>
              <a:t>j</a:t>
            </a:r>
            <a:r>
              <a:rPr lang="en-US" i="1" dirty="0"/>
              <a:t> </a:t>
            </a:r>
            <a:r>
              <a:rPr lang="en-US" dirty="0">
                <a:solidFill>
                  <a:srgbClr val="0070C0"/>
                </a:solidFill>
              </a:rPr>
              <a:t>follows from </a:t>
            </a:r>
            <a:r>
              <a:rPr lang="en-US" i="1" dirty="0"/>
              <a:t>x</a:t>
            </a:r>
            <a:r>
              <a:rPr lang="en-US" i="1" baseline="-25000" dirty="0"/>
              <a:t>i</a:t>
            </a:r>
            <a:r>
              <a:rPr lang="en-US" dirty="0"/>
              <a:t>.</a:t>
            </a:r>
          </a:p>
          <a:p>
            <a:r>
              <a:rPr lang="en-US" dirty="0"/>
              <a:t> If we do not know if </a:t>
            </a:r>
            <a:r>
              <a:rPr lang="en-US" i="1" dirty="0" err="1"/>
              <a:t>x</a:t>
            </a:r>
            <a:r>
              <a:rPr lang="en-US" i="1" baseline="-25000" dirty="0" err="1"/>
              <a:t>j</a:t>
            </a:r>
            <a:r>
              <a:rPr lang="en-US" dirty="0"/>
              <a:t> follows from </a:t>
            </a:r>
            <a:r>
              <a:rPr lang="en-US" i="1" dirty="0"/>
              <a:t>x</a:t>
            </a:r>
            <a:r>
              <a:rPr lang="en-US" i="1" baseline="-25000" dirty="0"/>
              <a:t>i</a:t>
            </a:r>
            <a:r>
              <a:rPr lang="en-US" dirty="0"/>
              <a:t>, use </a:t>
            </a:r>
            <a:r>
              <a:rPr lang="en-US" i="1" dirty="0">
                <a:solidFill>
                  <a:srgbClr val="0070C0"/>
                </a:solidFill>
              </a:rPr>
              <a:t>WS(</a:t>
            </a:r>
            <a:r>
              <a:rPr lang="en-US" i="1" dirty="0" err="1">
                <a:solidFill>
                  <a:srgbClr val="0070C0"/>
                </a:solidFill>
              </a:rPr>
              <a:t>x</a:t>
            </a:r>
            <a:r>
              <a:rPr lang="en-US" i="1" baseline="-25000" dirty="0" err="1">
                <a:solidFill>
                  <a:srgbClr val="0070C0"/>
                </a:solidFill>
              </a:rPr>
              <a:t>i</a:t>
            </a:r>
            <a:r>
              <a:rPr lang="en-US" i="1" dirty="0" err="1">
                <a:solidFill>
                  <a:srgbClr val="0070C0"/>
                </a:solidFill>
              </a:rPr>
              <a:t>|x</a:t>
            </a:r>
            <a:r>
              <a:rPr lang="en-US" i="1" baseline="-25000" dirty="0" err="1">
                <a:solidFill>
                  <a:srgbClr val="0070C0"/>
                </a:solidFill>
              </a:rPr>
              <a:t>j</a:t>
            </a:r>
            <a:r>
              <a:rPr lang="en-US" i="1" dirty="0">
                <a:solidFill>
                  <a:srgbClr val="0070C0"/>
                </a:solidFill>
              </a:rPr>
              <a:t>)</a:t>
            </a:r>
            <a:r>
              <a:rPr lang="en-US" dirty="0"/>
              <a:t>.</a:t>
            </a:r>
          </a:p>
        </p:txBody>
      </p:sp>
    </p:spTree>
    <p:extLst>
      <p:ext uri="{BB962C8B-B14F-4D97-AF65-F5344CB8AC3E}">
        <p14:creationId xmlns:p14="http://schemas.microsoft.com/office/powerpoint/2010/main" val="3485189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6BC8-D675-8231-F1A1-8AF922499746}"/>
              </a:ext>
            </a:extLst>
          </p:cNvPr>
          <p:cNvSpPr>
            <a:spLocks noGrp="1"/>
          </p:cNvSpPr>
          <p:nvPr>
            <p:ph type="title"/>
          </p:nvPr>
        </p:nvSpPr>
        <p:spPr/>
        <p:txBody>
          <a:bodyPr>
            <a:normAutofit/>
          </a:bodyPr>
          <a:lstStyle/>
          <a:p>
            <a:r>
              <a:rPr lang="en-US" dirty="0"/>
              <a:t>Client-Centric Consistency Models</a:t>
            </a:r>
          </a:p>
        </p:txBody>
      </p:sp>
      <p:sp>
        <p:nvSpPr>
          <p:cNvPr id="3" name="Content Placeholder 2">
            <a:extLst>
              <a:ext uri="{FF2B5EF4-FFF2-40B4-BE49-F238E27FC236}">
                <a16:creationId xmlns:a16="http://schemas.microsoft.com/office/drawing/2014/main" id="{DF7D9007-C739-8046-94BD-64AD4DEDC202}"/>
              </a:ext>
            </a:extLst>
          </p:cNvPr>
          <p:cNvSpPr>
            <a:spLocks noGrp="1"/>
          </p:cNvSpPr>
          <p:nvPr>
            <p:ph idx="1"/>
          </p:nvPr>
        </p:nvSpPr>
        <p:spPr/>
        <p:txBody>
          <a:bodyPr/>
          <a:lstStyle/>
          <a:p>
            <a:r>
              <a:rPr lang="en-US" dirty="0"/>
              <a:t>Monotonic Reads Model</a:t>
            </a:r>
          </a:p>
          <a:p>
            <a:r>
              <a:rPr lang="en-US" dirty="0"/>
              <a:t>Monotonic Writes Model</a:t>
            </a:r>
          </a:p>
          <a:p>
            <a:r>
              <a:rPr lang="en-US" dirty="0"/>
              <a:t>Read Your Writes Model</a:t>
            </a:r>
          </a:p>
          <a:p>
            <a:r>
              <a:rPr lang="en-US" dirty="0"/>
              <a:t>Writes Follow Reads Model</a:t>
            </a:r>
          </a:p>
          <a:p>
            <a:endParaRPr lang="en-US" dirty="0"/>
          </a:p>
        </p:txBody>
      </p:sp>
    </p:spTree>
    <p:extLst>
      <p:ext uri="{BB962C8B-B14F-4D97-AF65-F5344CB8AC3E}">
        <p14:creationId xmlns:p14="http://schemas.microsoft.com/office/powerpoint/2010/main" val="65306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E015-5090-47CC-8331-13EFE4729707}"/>
              </a:ext>
            </a:extLst>
          </p:cNvPr>
          <p:cNvSpPr>
            <a:spLocks noGrp="1"/>
          </p:cNvSpPr>
          <p:nvPr>
            <p:ph type="title"/>
          </p:nvPr>
        </p:nvSpPr>
        <p:spPr/>
        <p:txBody>
          <a:bodyPr/>
          <a:lstStyle/>
          <a:p>
            <a:r>
              <a:rPr lang="en-US" dirty="0"/>
              <a:t>Monotonic Reads Model</a:t>
            </a:r>
          </a:p>
        </p:txBody>
      </p:sp>
      <p:sp>
        <p:nvSpPr>
          <p:cNvPr id="3" name="Content Placeholder 2">
            <a:extLst>
              <a:ext uri="{FF2B5EF4-FFF2-40B4-BE49-F238E27FC236}">
                <a16:creationId xmlns:a16="http://schemas.microsoft.com/office/drawing/2014/main" id="{3B1F7730-678F-4230-BC66-A9959DC258EF}"/>
              </a:ext>
            </a:extLst>
          </p:cNvPr>
          <p:cNvSpPr>
            <a:spLocks noGrp="1"/>
          </p:cNvSpPr>
          <p:nvPr>
            <p:ph idx="1"/>
          </p:nvPr>
        </p:nvSpPr>
        <p:spPr>
          <a:xfrm>
            <a:off x="457200" y="1143000"/>
            <a:ext cx="8229600" cy="4525963"/>
          </a:xfrm>
        </p:spPr>
        <p:txBody>
          <a:bodyPr>
            <a:normAutofit/>
          </a:bodyPr>
          <a:lstStyle/>
          <a:p>
            <a:r>
              <a:rPr lang="en-US" sz="2400" dirty="0">
                <a:solidFill>
                  <a:srgbClr val="0070C0"/>
                </a:solidFill>
              </a:rPr>
              <a:t>Monotonic-read consistency </a:t>
            </a:r>
            <a:r>
              <a:rPr lang="en-US" sz="2400" dirty="0"/>
              <a:t>guarantees that once a process (client) has seen/read a value of </a:t>
            </a:r>
            <a:r>
              <a:rPr lang="en-US" sz="2400" i="1" dirty="0"/>
              <a:t>x</a:t>
            </a:r>
            <a:r>
              <a:rPr lang="en-US" sz="2400" dirty="0"/>
              <a:t>, the </a:t>
            </a:r>
            <a:r>
              <a:rPr lang="en-US" sz="2400" dirty="0">
                <a:solidFill>
                  <a:srgbClr val="0070C0"/>
                </a:solidFill>
              </a:rPr>
              <a:t>same</a:t>
            </a:r>
            <a:r>
              <a:rPr lang="en-US" sz="2400" dirty="0"/>
              <a:t> process will never see an </a:t>
            </a:r>
            <a:r>
              <a:rPr lang="en-US" sz="2400" dirty="0">
                <a:solidFill>
                  <a:srgbClr val="0070C0"/>
                </a:solidFill>
              </a:rPr>
              <a:t>older</a:t>
            </a:r>
            <a:r>
              <a:rPr lang="en-US" sz="2400" dirty="0"/>
              <a:t> version of </a:t>
            </a:r>
            <a:r>
              <a:rPr lang="en-US" sz="2400" i="1" dirty="0"/>
              <a:t>x</a:t>
            </a:r>
            <a:r>
              <a:rPr lang="en-US" sz="2400" dirty="0"/>
              <a:t>. </a:t>
            </a:r>
          </a:p>
          <a:p>
            <a:pPr lvl="1"/>
            <a:r>
              <a:rPr lang="en-US" sz="2000" i="1" dirty="0"/>
              <a:t>e.g., </a:t>
            </a:r>
            <a:r>
              <a:rPr lang="en-US" sz="2000" dirty="0"/>
              <a:t>a distributed e-mail database </a:t>
            </a:r>
          </a:p>
          <a:p>
            <a:pPr lvl="2"/>
            <a:r>
              <a:rPr lang="en-US" sz="1600" dirty="0"/>
              <a:t>A client reads an email in LA; the client moves to NYC; the client should see the mail which was read in LA, ‘marked as read’.</a:t>
            </a:r>
          </a:p>
          <a:p>
            <a:r>
              <a:rPr lang="en-US" sz="2400" dirty="0"/>
              <a:t>Example</a:t>
            </a:r>
          </a:p>
        </p:txBody>
      </p:sp>
      <p:pic>
        <p:nvPicPr>
          <p:cNvPr id="5" name="Picture 4">
            <a:extLst>
              <a:ext uri="{FF2B5EF4-FFF2-40B4-BE49-F238E27FC236}">
                <a16:creationId xmlns:a16="http://schemas.microsoft.com/office/drawing/2014/main" id="{35EFEA6D-8880-4C65-99C9-64B858CB7032}"/>
              </a:ext>
            </a:extLst>
          </p:cNvPr>
          <p:cNvPicPr>
            <a:picLocks noChangeAspect="1"/>
          </p:cNvPicPr>
          <p:nvPr/>
        </p:nvPicPr>
        <p:blipFill>
          <a:blip r:embed="rId2"/>
          <a:stretch>
            <a:fillRect/>
          </a:stretch>
        </p:blipFill>
        <p:spPr>
          <a:xfrm>
            <a:off x="76200" y="3946970"/>
            <a:ext cx="9144000" cy="2606230"/>
          </a:xfrm>
          <a:prstGeom prst="rect">
            <a:avLst/>
          </a:prstGeom>
        </p:spPr>
      </p:pic>
      <p:sp>
        <p:nvSpPr>
          <p:cNvPr id="6" name="TextBox 5">
            <a:extLst>
              <a:ext uri="{FF2B5EF4-FFF2-40B4-BE49-F238E27FC236}">
                <a16:creationId xmlns:a16="http://schemas.microsoft.com/office/drawing/2014/main" id="{C47BC725-86D2-4FFA-858A-3667B39F0546}"/>
              </a:ext>
            </a:extLst>
          </p:cNvPr>
          <p:cNvSpPr txBox="1"/>
          <p:nvPr/>
        </p:nvSpPr>
        <p:spPr>
          <a:xfrm>
            <a:off x="0" y="3775107"/>
            <a:ext cx="2771656" cy="369332"/>
          </a:xfrm>
          <a:prstGeom prst="rect">
            <a:avLst/>
          </a:prstGeom>
          <a:noFill/>
        </p:spPr>
        <p:txBody>
          <a:bodyPr wrap="none" rtlCol="0">
            <a:spAutoFit/>
          </a:bodyPr>
          <a:lstStyle/>
          <a:p>
            <a:r>
              <a:rPr lang="en-US" dirty="0">
                <a:solidFill>
                  <a:srgbClr val="0070C0"/>
                </a:solidFill>
              </a:rPr>
              <a:t>Local data stores </a:t>
            </a:r>
            <a:r>
              <a:rPr lang="en-US" i="1" dirty="0">
                <a:solidFill>
                  <a:srgbClr val="0070C0"/>
                </a:solidFill>
              </a:rPr>
              <a:t>L1</a:t>
            </a:r>
            <a:r>
              <a:rPr lang="en-US" dirty="0">
                <a:solidFill>
                  <a:srgbClr val="0070C0"/>
                </a:solidFill>
              </a:rPr>
              <a:t> and </a:t>
            </a:r>
            <a:r>
              <a:rPr lang="en-US" i="1" dirty="0">
                <a:solidFill>
                  <a:srgbClr val="0070C0"/>
                </a:solidFill>
              </a:rPr>
              <a:t>L2</a:t>
            </a:r>
            <a:endParaRPr lang="en-US" i="1" baseline="-25000" dirty="0">
              <a:solidFill>
                <a:srgbClr val="0070C0"/>
              </a:solidFill>
            </a:endParaRPr>
          </a:p>
        </p:txBody>
      </p:sp>
      <p:cxnSp>
        <p:nvCxnSpPr>
          <p:cNvPr id="8" name="Straight Arrow Connector 7">
            <a:extLst>
              <a:ext uri="{FF2B5EF4-FFF2-40B4-BE49-F238E27FC236}">
                <a16:creationId xmlns:a16="http://schemas.microsoft.com/office/drawing/2014/main" id="{1EC578F9-76ED-46CD-B2C9-2D33CF6F1DEA}"/>
              </a:ext>
            </a:extLst>
          </p:cNvPr>
          <p:cNvCxnSpPr>
            <a:cxnSpLocks/>
          </p:cNvCxnSpPr>
          <p:nvPr/>
        </p:nvCxnSpPr>
        <p:spPr>
          <a:xfrm>
            <a:off x="457200" y="4100544"/>
            <a:ext cx="304800" cy="216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4159B4-D443-4F76-AC9D-ADCFB7ACA16F}"/>
              </a:ext>
            </a:extLst>
          </p:cNvPr>
          <p:cNvSpPr txBox="1"/>
          <p:nvPr/>
        </p:nvSpPr>
        <p:spPr>
          <a:xfrm>
            <a:off x="4010672" y="3276600"/>
            <a:ext cx="5094856" cy="646331"/>
          </a:xfrm>
          <a:prstGeom prst="rect">
            <a:avLst/>
          </a:prstGeom>
          <a:noFill/>
        </p:spPr>
        <p:txBody>
          <a:bodyPr wrap="none" rtlCol="0">
            <a:spAutoFit/>
          </a:bodyPr>
          <a:lstStyle/>
          <a:p>
            <a:r>
              <a:rPr lang="en-US" dirty="0">
                <a:solidFill>
                  <a:srgbClr val="0070C0"/>
                </a:solidFill>
              </a:rPr>
              <a:t>Process </a:t>
            </a:r>
            <a:r>
              <a:rPr lang="en-US" i="1" dirty="0">
                <a:solidFill>
                  <a:srgbClr val="0070C0"/>
                </a:solidFill>
              </a:rPr>
              <a:t>P</a:t>
            </a:r>
            <a:r>
              <a:rPr lang="en-US" i="1" baseline="-25000" dirty="0">
                <a:solidFill>
                  <a:srgbClr val="0070C0"/>
                </a:solidFill>
              </a:rPr>
              <a:t>2</a:t>
            </a:r>
            <a:r>
              <a:rPr lang="en-US" dirty="0">
                <a:solidFill>
                  <a:srgbClr val="0070C0"/>
                </a:solidFill>
              </a:rPr>
              <a:t> produces </a:t>
            </a:r>
            <a:r>
              <a:rPr lang="en-US" i="1" dirty="0">
                <a:solidFill>
                  <a:srgbClr val="0070C0"/>
                </a:solidFill>
              </a:rPr>
              <a:t>x</a:t>
            </a:r>
            <a:r>
              <a:rPr lang="en-US" i="1" baseline="-25000" dirty="0">
                <a:solidFill>
                  <a:srgbClr val="0070C0"/>
                </a:solidFill>
              </a:rPr>
              <a:t>2</a:t>
            </a:r>
            <a:r>
              <a:rPr lang="en-US" dirty="0">
                <a:solidFill>
                  <a:srgbClr val="0070C0"/>
                </a:solidFill>
              </a:rPr>
              <a:t> that does not follow from </a:t>
            </a:r>
            <a:r>
              <a:rPr lang="en-US" i="1" dirty="0">
                <a:solidFill>
                  <a:srgbClr val="0070C0"/>
                </a:solidFill>
              </a:rPr>
              <a:t>x</a:t>
            </a:r>
            <a:r>
              <a:rPr lang="en-US" i="1" baseline="-25000" dirty="0">
                <a:solidFill>
                  <a:srgbClr val="0070C0"/>
                </a:solidFill>
              </a:rPr>
              <a:t>1</a:t>
            </a:r>
            <a:r>
              <a:rPr lang="en-US" baseline="-25000" dirty="0">
                <a:solidFill>
                  <a:srgbClr val="0070C0"/>
                </a:solidFill>
              </a:rPr>
              <a:t>.</a:t>
            </a:r>
          </a:p>
          <a:p>
            <a:r>
              <a:rPr lang="en-US" dirty="0">
                <a:solidFill>
                  <a:srgbClr val="0070C0"/>
                </a:solidFill>
              </a:rPr>
              <a:t>This means that </a:t>
            </a:r>
            <a:r>
              <a:rPr lang="en-US" i="1" dirty="0">
                <a:solidFill>
                  <a:srgbClr val="0070C0"/>
                </a:solidFill>
              </a:rPr>
              <a:t>x</a:t>
            </a:r>
            <a:r>
              <a:rPr lang="en-US" i="1" baseline="-25000" dirty="0">
                <a:solidFill>
                  <a:srgbClr val="0070C0"/>
                </a:solidFill>
              </a:rPr>
              <a:t>2</a:t>
            </a:r>
            <a:r>
              <a:rPr lang="en-US" dirty="0">
                <a:solidFill>
                  <a:srgbClr val="0070C0"/>
                </a:solidFill>
              </a:rPr>
              <a:t> is not the new version of </a:t>
            </a:r>
            <a:r>
              <a:rPr lang="en-US" i="1" dirty="0">
                <a:solidFill>
                  <a:srgbClr val="0070C0"/>
                </a:solidFill>
              </a:rPr>
              <a:t>x</a:t>
            </a:r>
            <a:r>
              <a:rPr lang="en-US" i="1" baseline="-25000" dirty="0">
                <a:solidFill>
                  <a:srgbClr val="0070C0"/>
                </a:solidFill>
              </a:rPr>
              <a:t>1</a:t>
            </a:r>
            <a:r>
              <a:rPr lang="en-US" dirty="0">
                <a:solidFill>
                  <a:srgbClr val="0070C0"/>
                </a:solidFill>
              </a:rPr>
              <a:t>.</a:t>
            </a:r>
          </a:p>
        </p:txBody>
      </p:sp>
      <p:cxnSp>
        <p:nvCxnSpPr>
          <p:cNvPr id="16" name="Straight Arrow Connector 15">
            <a:extLst>
              <a:ext uri="{FF2B5EF4-FFF2-40B4-BE49-F238E27FC236}">
                <a16:creationId xmlns:a16="http://schemas.microsoft.com/office/drawing/2014/main" id="{ABBEB71A-88B2-4581-9512-A93B9F90BE4A}"/>
              </a:ext>
            </a:extLst>
          </p:cNvPr>
          <p:cNvCxnSpPr>
            <a:cxnSpLocks/>
            <a:stCxn id="14" idx="2"/>
          </p:cNvCxnSpPr>
          <p:nvPr/>
        </p:nvCxnSpPr>
        <p:spPr>
          <a:xfrm>
            <a:off x="6558100" y="3922931"/>
            <a:ext cx="33537" cy="624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0909222-E238-484F-B277-AA81CD1FEA1D}"/>
              </a:ext>
            </a:extLst>
          </p:cNvPr>
          <p:cNvSpPr txBox="1"/>
          <p:nvPr/>
        </p:nvSpPr>
        <p:spPr>
          <a:xfrm>
            <a:off x="6512063" y="5273291"/>
            <a:ext cx="2250937" cy="307777"/>
          </a:xfrm>
          <a:prstGeom prst="rect">
            <a:avLst/>
          </a:prstGeom>
          <a:noFill/>
        </p:spPr>
        <p:txBody>
          <a:bodyPr wrap="none" rtlCol="0">
            <a:spAutoFit/>
          </a:bodyPr>
          <a:lstStyle/>
          <a:p>
            <a:r>
              <a:rPr lang="en-US" sz="1400" i="1" dirty="0">
                <a:solidFill>
                  <a:srgbClr val="0070C0"/>
                </a:solidFill>
              </a:rPr>
              <a:t>P</a:t>
            </a:r>
            <a:r>
              <a:rPr lang="en-US" sz="1400" i="1" baseline="-25000" dirty="0">
                <a:solidFill>
                  <a:srgbClr val="0070C0"/>
                </a:solidFill>
              </a:rPr>
              <a:t>1</a:t>
            </a:r>
            <a:r>
              <a:rPr lang="en-US" sz="1400" dirty="0">
                <a:solidFill>
                  <a:srgbClr val="0070C0"/>
                </a:solidFill>
              </a:rPr>
              <a:t> SHOUD SEE the version </a:t>
            </a:r>
            <a:r>
              <a:rPr lang="en-US" sz="1400" i="1" dirty="0">
                <a:solidFill>
                  <a:srgbClr val="0070C0"/>
                </a:solidFill>
              </a:rPr>
              <a:t>x</a:t>
            </a:r>
            <a:r>
              <a:rPr lang="en-US" sz="1400" i="1" baseline="-25000" dirty="0">
                <a:solidFill>
                  <a:srgbClr val="0070C0"/>
                </a:solidFill>
              </a:rPr>
              <a:t>1</a:t>
            </a:r>
          </a:p>
        </p:txBody>
      </p:sp>
      <p:cxnSp>
        <p:nvCxnSpPr>
          <p:cNvPr id="20" name="Straight Arrow Connector 19">
            <a:extLst>
              <a:ext uri="{FF2B5EF4-FFF2-40B4-BE49-F238E27FC236}">
                <a16:creationId xmlns:a16="http://schemas.microsoft.com/office/drawing/2014/main" id="{8A369BE8-8910-4738-A22A-9832A6A575FF}"/>
              </a:ext>
            </a:extLst>
          </p:cNvPr>
          <p:cNvCxnSpPr>
            <a:cxnSpLocks/>
          </p:cNvCxnSpPr>
          <p:nvPr/>
        </p:nvCxnSpPr>
        <p:spPr>
          <a:xfrm flipV="1">
            <a:off x="7877621" y="4794849"/>
            <a:ext cx="123379" cy="554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1A2B714-7141-8462-B828-00B42A4DDB52}"/>
              </a:ext>
            </a:extLst>
          </p:cNvPr>
          <p:cNvSpPr txBox="1"/>
          <p:nvPr/>
        </p:nvSpPr>
        <p:spPr>
          <a:xfrm>
            <a:off x="74428" y="4930299"/>
            <a:ext cx="5300297" cy="738664"/>
          </a:xfrm>
          <a:prstGeom prst="rect">
            <a:avLst/>
          </a:prstGeom>
          <a:noFill/>
        </p:spPr>
        <p:txBody>
          <a:bodyPr wrap="none" rtlCol="0">
            <a:spAutoFit/>
          </a:bodyPr>
          <a:lstStyle/>
          <a:p>
            <a:r>
              <a:rPr lang="en-US" sz="1400" i="1" dirty="0">
                <a:solidFill>
                  <a:srgbClr val="0070C0"/>
                </a:solidFill>
              </a:rPr>
              <a:t>P</a:t>
            </a:r>
            <a:r>
              <a:rPr lang="en-US" sz="1400" i="1" baseline="-25000" dirty="0">
                <a:solidFill>
                  <a:srgbClr val="0070C0"/>
                </a:solidFill>
              </a:rPr>
              <a:t>1</a:t>
            </a:r>
            <a:r>
              <a:rPr lang="en-US" sz="1400" i="1" dirty="0">
                <a:solidFill>
                  <a:srgbClr val="0070C0"/>
                </a:solidFill>
              </a:rPr>
              <a:t> </a:t>
            </a:r>
            <a:r>
              <a:rPr lang="en-US" sz="1400" dirty="0">
                <a:solidFill>
                  <a:srgbClr val="0070C0"/>
                </a:solidFill>
              </a:rPr>
              <a:t>reads a different version. Still monotonic reads consistency because</a:t>
            </a:r>
          </a:p>
          <a:p>
            <a:r>
              <a:rPr lang="en-US" sz="1400" i="1" dirty="0">
                <a:solidFill>
                  <a:srgbClr val="0070C0"/>
                </a:solidFill>
              </a:rPr>
              <a:t>x</a:t>
            </a:r>
            <a:r>
              <a:rPr lang="en-US" sz="1400" i="1" baseline="-25000" dirty="0">
                <a:solidFill>
                  <a:srgbClr val="0070C0"/>
                </a:solidFill>
              </a:rPr>
              <a:t>1</a:t>
            </a:r>
            <a:r>
              <a:rPr lang="en-US" sz="1400" dirty="0">
                <a:solidFill>
                  <a:srgbClr val="0070C0"/>
                </a:solidFill>
              </a:rPr>
              <a:t> has been successfully propagated and </a:t>
            </a:r>
            <a:r>
              <a:rPr lang="en-US" sz="1400" i="1" dirty="0">
                <a:solidFill>
                  <a:srgbClr val="0070C0"/>
                </a:solidFill>
              </a:rPr>
              <a:t>P</a:t>
            </a:r>
            <a:r>
              <a:rPr lang="en-US" sz="1400" i="1" baseline="-25000" dirty="0">
                <a:solidFill>
                  <a:srgbClr val="0070C0"/>
                </a:solidFill>
              </a:rPr>
              <a:t>2</a:t>
            </a:r>
            <a:r>
              <a:rPr lang="en-US" sz="1400" dirty="0">
                <a:solidFill>
                  <a:srgbClr val="0070C0"/>
                </a:solidFill>
              </a:rPr>
              <a:t> wrote </a:t>
            </a:r>
            <a:r>
              <a:rPr lang="en-US" sz="1400" i="1" dirty="0">
                <a:solidFill>
                  <a:srgbClr val="0070C0"/>
                </a:solidFill>
              </a:rPr>
              <a:t>x</a:t>
            </a:r>
            <a:r>
              <a:rPr lang="en-US" sz="1400" i="1" baseline="-25000" dirty="0">
                <a:solidFill>
                  <a:srgbClr val="0070C0"/>
                </a:solidFill>
              </a:rPr>
              <a:t>2</a:t>
            </a:r>
            <a:r>
              <a:rPr lang="en-US" sz="1400" dirty="0">
                <a:solidFill>
                  <a:srgbClr val="0070C0"/>
                </a:solidFill>
              </a:rPr>
              <a:t> on it, which </a:t>
            </a:r>
          </a:p>
          <a:p>
            <a:r>
              <a:rPr lang="en-US" sz="1400" dirty="0">
                <a:solidFill>
                  <a:srgbClr val="0070C0"/>
                </a:solidFill>
              </a:rPr>
              <a:t>means that x2 is a newer version of x1.</a:t>
            </a:r>
          </a:p>
        </p:txBody>
      </p:sp>
      <p:cxnSp>
        <p:nvCxnSpPr>
          <p:cNvPr id="7" name="Straight Arrow Connector 6">
            <a:extLst>
              <a:ext uri="{FF2B5EF4-FFF2-40B4-BE49-F238E27FC236}">
                <a16:creationId xmlns:a16="http://schemas.microsoft.com/office/drawing/2014/main" id="{26F60A43-4347-1ECB-43A3-DA63A79247D2}"/>
              </a:ext>
            </a:extLst>
          </p:cNvPr>
          <p:cNvCxnSpPr>
            <a:cxnSpLocks/>
          </p:cNvCxnSpPr>
          <p:nvPr/>
        </p:nvCxnSpPr>
        <p:spPr>
          <a:xfrm flipV="1">
            <a:off x="3352800" y="4794849"/>
            <a:ext cx="178755" cy="277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044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43173-7C70-4CD1-ADBB-7A15776B58E2}"/>
              </a:ext>
            </a:extLst>
          </p:cNvPr>
          <p:cNvSpPr>
            <a:spLocks noGrp="1"/>
          </p:cNvSpPr>
          <p:nvPr>
            <p:ph type="title"/>
          </p:nvPr>
        </p:nvSpPr>
        <p:spPr/>
        <p:txBody>
          <a:bodyPr/>
          <a:lstStyle/>
          <a:p>
            <a:r>
              <a:rPr lang="en-US" dirty="0"/>
              <a:t>Monotonic Writes Model</a:t>
            </a:r>
          </a:p>
        </p:txBody>
      </p:sp>
      <p:sp>
        <p:nvSpPr>
          <p:cNvPr id="3" name="Content Placeholder 2">
            <a:extLst>
              <a:ext uri="{FF2B5EF4-FFF2-40B4-BE49-F238E27FC236}">
                <a16:creationId xmlns:a16="http://schemas.microsoft.com/office/drawing/2014/main" id="{D7973179-2B1A-4CC5-B2AF-C0B22477099D}"/>
              </a:ext>
            </a:extLst>
          </p:cNvPr>
          <p:cNvSpPr>
            <a:spLocks noGrp="1"/>
          </p:cNvSpPr>
          <p:nvPr>
            <p:ph idx="1"/>
          </p:nvPr>
        </p:nvSpPr>
        <p:spPr>
          <a:xfrm>
            <a:off x="457200" y="1457021"/>
            <a:ext cx="8229600" cy="4525963"/>
          </a:xfrm>
        </p:spPr>
        <p:txBody>
          <a:bodyPr>
            <a:normAutofit/>
          </a:bodyPr>
          <a:lstStyle/>
          <a:p>
            <a:r>
              <a:rPr lang="en-US" sz="2000" dirty="0"/>
              <a:t>A write operation by a process (client) on a data item </a:t>
            </a:r>
            <a:r>
              <a:rPr lang="en-US" sz="2000" i="1" dirty="0"/>
              <a:t>x</a:t>
            </a:r>
            <a:r>
              <a:rPr lang="en-US" sz="2000" dirty="0"/>
              <a:t> is completed before any successive write operation on </a:t>
            </a:r>
            <a:r>
              <a:rPr lang="en-US" sz="2000" i="1" dirty="0"/>
              <a:t>x</a:t>
            </a:r>
            <a:r>
              <a:rPr lang="en-US" sz="2000" dirty="0"/>
              <a:t> by the </a:t>
            </a:r>
            <a:r>
              <a:rPr lang="en-US" sz="2000" dirty="0">
                <a:solidFill>
                  <a:srgbClr val="0070C0"/>
                </a:solidFill>
              </a:rPr>
              <a:t>same</a:t>
            </a:r>
            <a:r>
              <a:rPr lang="en-US" sz="2000" dirty="0"/>
              <a:t> process. </a:t>
            </a:r>
          </a:p>
          <a:p>
            <a:r>
              <a:rPr lang="en-US" sz="2000" dirty="0"/>
              <a:t>More formally, consider two successive write operations </a:t>
            </a:r>
            <a:r>
              <a:rPr lang="en-US" sz="2000" i="1" dirty="0"/>
              <a:t>W(x</a:t>
            </a:r>
            <a:r>
              <a:rPr lang="en-US" sz="2000" i="1" baseline="-25000" dirty="0"/>
              <a:t>i</a:t>
            </a:r>
            <a:r>
              <a:rPr lang="en-US" sz="2000" i="1" dirty="0"/>
              <a:t>) </a:t>
            </a:r>
            <a:r>
              <a:rPr lang="en-US" sz="2000" dirty="0"/>
              <a:t>and </a:t>
            </a:r>
            <a:r>
              <a:rPr lang="en-US" sz="2000" i="1" dirty="0"/>
              <a:t>W(</a:t>
            </a:r>
            <a:r>
              <a:rPr lang="en-US" sz="2000" i="1" dirty="0" err="1"/>
              <a:t>x</a:t>
            </a:r>
            <a:r>
              <a:rPr lang="en-US" sz="2000" i="1" baseline="-25000" dirty="0" err="1"/>
              <a:t>j</a:t>
            </a:r>
            <a:r>
              <a:rPr lang="en-US" sz="2000" i="1" dirty="0"/>
              <a:t>) </a:t>
            </a:r>
            <a:r>
              <a:rPr lang="en-US" sz="2000" dirty="0"/>
              <a:t>by the </a:t>
            </a:r>
            <a:r>
              <a:rPr lang="en-US" sz="2000" dirty="0">
                <a:solidFill>
                  <a:srgbClr val="0070C0"/>
                </a:solidFill>
              </a:rPr>
              <a:t>same</a:t>
            </a:r>
            <a:r>
              <a:rPr lang="en-US" sz="2000" dirty="0"/>
              <a:t> process. Then, regardless where (</a:t>
            </a:r>
            <a:r>
              <a:rPr lang="en-US" sz="2000" i="1" dirty="0"/>
              <a:t>i.e., </a:t>
            </a:r>
            <a:r>
              <a:rPr lang="en-US" sz="2000" dirty="0"/>
              <a:t>at a different data store) </a:t>
            </a:r>
            <a:r>
              <a:rPr lang="en-US" sz="2000" i="1" dirty="0"/>
              <a:t>W(</a:t>
            </a:r>
            <a:r>
              <a:rPr lang="en-US" sz="2000" i="1" dirty="0" err="1"/>
              <a:t>x</a:t>
            </a:r>
            <a:r>
              <a:rPr lang="en-US" sz="2000" i="1" baseline="-25000" dirty="0" err="1"/>
              <a:t>j</a:t>
            </a:r>
            <a:r>
              <a:rPr lang="en-US" sz="2000" i="1" dirty="0"/>
              <a:t>) </a:t>
            </a:r>
            <a:r>
              <a:rPr lang="en-US" sz="2000" dirty="0"/>
              <a:t>takes place, it should be </a:t>
            </a:r>
            <a:r>
              <a:rPr lang="en-US" sz="2000" i="1" dirty="0"/>
              <a:t>W(</a:t>
            </a:r>
            <a:r>
              <a:rPr lang="en-US" sz="2000" i="1" dirty="0" err="1"/>
              <a:t>x</a:t>
            </a:r>
            <a:r>
              <a:rPr lang="en-US" sz="2000" i="1" baseline="-25000" dirty="0" err="1"/>
              <a:t>i</a:t>
            </a:r>
            <a:r>
              <a:rPr lang="en-US" sz="2000" i="1" dirty="0" err="1"/>
              <a:t>;x</a:t>
            </a:r>
            <a:r>
              <a:rPr lang="en-US" sz="2000" i="1" baseline="-25000" dirty="0" err="1"/>
              <a:t>j</a:t>
            </a:r>
            <a:r>
              <a:rPr lang="en-US" sz="2000" i="1" dirty="0"/>
              <a:t>).</a:t>
            </a:r>
          </a:p>
          <a:p>
            <a:endParaRPr lang="en-US" sz="2000" dirty="0"/>
          </a:p>
        </p:txBody>
      </p:sp>
      <p:pic>
        <p:nvPicPr>
          <p:cNvPr id="5" name="Picture 4">
            <a:extLst>
              <a:ext uri="{FF2B5EF4-FFF2-40B4-BE49-F238E27FC236}">
                <a16:creationId xmlns:a16="http://schemas.microsoft.com/office/drawing/2014/main" id="{5A5014B6-F45C-45EC-B1F2-6E2C0EFA7F0E}"/>
              </a:ext>
            </a:extLst>
          </p:cNvPr>
          <p:cNvPicPr>
            <a:picLocks noChangeAspect="1"/>
          </p:cNvPicPr>
          <p:nvPr/>
        </p:nvPicPr>
        <p:blipFill>
          <a:blip r:embed="rId2"/>
          <a:stretch>
            <a:fillRect/>
          </a:stretch>
        </p:blipFill>
        <p:spPr>
          <a:xfrm>
            <a:off x="0" y="3505200"/>
            <a:ext cx="9144000" cy="2926378"/>
          </a:xfrm>
          <a:prstGeom prst="rect">
            <a:avLst/>
          </a:prstGeom>
        </p:spPr>
      </p:pic>
      <p:sp>
        <p:nvSpPr>
          <p:cNvPr id="11" name="TextBox 10">
            <a:extLst>
              <a:ext uri="{FF2B5EF4-FFF2-40B4-BE49-F238E27FC236}">
                <a16:creationId xmlns:a16="http://schemas.microsoft.com/office/drawing/2014/main" id="{91398D1D-E9DB-47AF-B635-A8C9EE3BFB07}"/>
              </a:ext>
            </a:extLst>
          </p:cNvPr>
          <p:cNvSpPr txBox="1"/>
          <p:nvPr/>
        </p:nvSpPr>
        <p:spPr>
          <a:xfrm>
            <a:off x="1783897" y="2949233"/>
            <a:ext cx="4097340" cy="646331"/>
          </a:xfrm>
          <a:prstGeom prst="rect">
            <a:avLst/>
          </a:prstGeom>
          <a:noFill/>
        </p:spPr>
        <p:txBody>
          <a:bodyPr wrap="none" rtlCol="0">
            <a:spAutoFit/>
          </a:bodyPr>
          <a:lstStyle/>
          <a:p>
            <a:r>
              <a:rPr lang="en-US" dirty="0">
                <a:solidFill>
                  <a:srgbClr val="0070C0"/>
                </a:solidFill>
              </a:rPr>
              <a:t>Producing </a:t>
            </a:r>
            <a:r>
              <a:rPr lang="en-US" i="1" dirty="0">
                <a:solidFill>
                  <a:srgbClr val="0070C0"/>
                </a:solidFill>
              </a:rPr>
              <a:t>x</a:t>
            </a:r>
            <a:r>
              <a:rPr lang="en-US" i="1" baseline="-25000" dirty="0">
                <a:solidFill>
                  <a:srgbClr val="0070C0"/>
                </a:solidFill>
              </a:rPr>
              <a:t>2</a:t>
            </a:r>
            <a:r>
              <a:rPr lang="en-US" dirty="0">
                <a:solidFill>
                  <a:srgbClr val="0070C0"/>
                </a:solidFill>
              </a:rPr>
              <a:t> does not follow from </a:t>
            </a:r>
            <a:r>
              <a:rPr lang="en-US" i="1" dirty="0">
                <a:solidFill>
                  <a:srgbClr val="0070C0"/>
                </a:solidFill>
              </a:rPr>
              <a:t>x</a:t>
            </a:r>
            <a:r>
              <a:rPr lang="en-US" i="1" baseline="-25000" dirty="0">
                <a:solidFill>
                  <a:srgbClr val="0070C0"/>
                </a:solidFill>
              </a:rPr>
              <a:t>1</a:t>
            </a:r>
          </a:p>
          <a:p>
            <a:r>
              <a:rPr lang="en-US" dirty="0">
                <a:solidFill>
                  <a:srgbClr val="0070C0"/>
                </a:solidFill>
              </a:rPr>
              <a:t>, i.e., propagation of </a:t>
            </a:r>
            <a:r>
              <a:rPr lang="en-US" i="1" dirty="0">
                <a:solidFill>
                  <a:srgbClr val="0070C0"/>
                </a:solidFill>
              </a:rPr>
              <a:t>x</a:t>
            </a:r>
            <a:r>
              <a:rPr lang="en-US" i="1" baseline="-25000" dirty="0">
                <a:solidFill>
                  <a:srgbClr val="0070C0"/>
                </a:solidFill>
              </a:rPr>
              <a:t>1</a:t>
            </a:r>
            <a:r>
              <a:rPr lang="en-US" dirty="0">
                <a:solidFill>
                  <a:srgbClr val="0070C0"/>
                </a:solidFill>
              </a:rPr>
              <a:t> is not guaranteed.</a:t>
            </a:r>
          </a:p>
        </p:txBody>
      </p:sp>
      <p:cxnSp>
        <p:nvCxnSpPr>
          <p:cNvPr id="13" name="Straight Arrow Connector 12">
            <a:extLst>
              <a:ext uri="{FF2B5EF4-FFF2-40B4-BE49-F238E27FC236}">
                <a16:creationId xmlns:a16="http://schemas.microsoft.com/office/drawing/2014/main" id="{9A5859A1-62FB-425C-8410-6335073B8ECD}"/>
              </a:ext>
            </a:extLst>
          </p:cNvPr>
          <p:cNvCxnSpPr>
            <a:cxnSpLocks/>
          </p:cNvCxnSpPr>
          <p:nvPr/>
        </p:nvCxnSpPr>
        <p:spPr>
          <a:xfrm>
            <a:off x="5742674" y="3394902"/>
            <a:ext cx="1343926" cy="71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E805035-746B-4A36-A3C4-EB97097DD599}"/>
              </a:ext>
            </a:extLst>
          </p:cNvPr>
          <p:cNvSpPr txBox="1"/>
          <p:nvPr/>
        </p:nvSpPr>
        <p:spPr>
          <a:xfrm>
            <a:off x="4129393" y="6010870"/>
            <a:ext cx="5118452" cy="923330"/>
          </a:xfrm>
          <a:prstGeom prst="rect">
            <a:avLst/>
          </a:prstGeom>
          <a:noFill/>
        </p:spPr>
        <p:txBody>
          <a:bodyPr wrap="none" rtlCol="0">
            <a:spAutoFit/>
          </a:bodyPr>
          <a:lstStyle/>
          <a:p>
            <a:r>
              <a:rPr lang="en-US" dirty="0">
                <a:solidFill>
                  <a:srgbClr val="0070C0"/>
                </a:solidFill>
              </a:rPr>
              <a:t>A new version </a:t>
            </a:r>
            <a:r>
              <a:rPr lang="en-US" i="1" dirty="0">
                <a:solidFill>
                  <a:srgbClr val="0070C0"/>
                </a:solidFill>
              </a:rPr>
              <a:t>x</a:t>
            </a:r>
            <a:r>
              <a:rPr lang="en-US" i="1" baseline="-25000" dirty="0">
                <a:solidFill>
                  <a:srgbClr val="0070C0"/>
                </a:solidFill>
              </a:rPr>
              <a:t>3</a:t>
            </a:r>
            <a:r>
              <a:rPr lang="en-US" dirty="0">
                <a:solidFill>
                  <a:srgbClr val="0070C0"/>
                </a:solidFill>
              </a:rPr>
              <a:t> is produced based on the fact that </a:t>
            </a:r>
          </a:p>
          <a:p>
            <a:r>
              <a:rPr lang="en-US" dirty="0">
                <a:solidFill>
                  <a:srgbClr val="0070C0"/>
                </a:solidFill>
              </a:rPr>
              <a:t>the version </a:t>
            </a:r>
            <a:r>
              <a:rPr lang="en-US" i="1" dirty="0">
                <a:solidFill>
                  <a:srgbClr val="0070C0"/>
                </a:solidFill>
              </a:rPr>
              <a:t>x</a:t>
            </a:r>
            <a:r>
              <a:rPr lang="en-US" i="1" baseline="-25000" dirty="0">
                <a:solidFill>
                  <a:srgbClr val="0070C0"/>
                </a:solidFill>
              </a:rPr>
              <a:t>1</a:t>
            </a:r>
            <a:r>
              <a:rPr lang="en-US" dirty="0">
                <a:solidFill>
                  <a:srgbClr val="0070C0"/>
                </a:solidFill>
              </a:rPr>
              <a:t> becomes available, although </a:t>
            </a:r>
            <a:r>
              <a:rPr lang="en-US" i="1" dirty="0">
                <a:solidFill>
                  <a:srgbClr val="0070C0"/>
                </a:solidFill>
              </a:rPr>
              <a:t>P</a:t>
            </a:r>
            <a:r>
              <a:rPr lang="en-US" i="1" baseline="-25000" dirty="0">
                <a:solidFill>
                  <a:srgbClr val="0070C0"/>
                </a:solidFill>
              </a:rPr>
              <a:t>2</a:t>
            </a:r>
            <a:r>
              <a:rPr lang="en-US" dirty="0">
                <a:solidFill>
                  <a:srgbClr val="0070C0"/>
                </a:solidFill>
              </a:rPr>
              <a:t> writes </a:t>
            </a:r>
          </a:p>
          <a:p>
            <a:r>
              <a:rPr lang="en-US" dirty="0">
                <a:solidFill>
                  <a:srgbClr val="0070C0"/>
                </a:solidFill>
              </a:rPr>
              <a:t>a new version </a:t>
            </a:r>
            <a:r>
              <a:rPr lang="en-US" i="1" dirty="0">
                <a:solidFill>
                  <a:srgbClr val="0070C0"/>
                </a:solidFill>
              </a:rPr>
              <a:t>x</a:t>
            </a:r>
            <a:r>
              <a:rPr lang="en-US" i="1" baseline="-25000" dirty="0">
                <a:solidFill>
                  <a:srgbClr val="0070C0"/>
                </a:solidFill>
              </a:rPr>
              <a:t>2</a:t>
            </a:r>
          </a:p>
        </p:txBody>
      </p:sp>
      <p:cxnSp>
        <p:nvCxnSpPr>
          <p:cNvPr id="22" name="Straight Arrow Connector 21">
            <a:extLst>
              <a:ext uri="{FF2B5EF4-FFF2-40B4-BE49-F238E27FC236}">
                <a16:creationId xmlns:a16="http://schemas.microsoft.com/office/drawing/2014/main" id="{F4B0A08F-4A83-476C-A228-542841FF2FC9}"/>
              </a:ext>
            </a:extLst>
          </p:cNvPr>
          <p:cNvCxnSpPr>
            <a:cxnSpLocks/>
          </p:cNvCxnSpPr>
          <p:nvPr/>
        </p:nvCxnSpPr>
        <p:spPr>
          <a:xfrm flipV="1">
            <a:off x="7924800" y="5879980"/>
            <a:ext cx="304800" cy="327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768D9C-BCBD-2BBA-EF13-9F7F559A9FFD}"/>
              </a:ext>
            </a:extLst>
          </p:cNvPr>
          <p:cNvSpPr txBox="1"/>
          <p:nvPr/>
        </p:nvSpPr>
        <p:spPr>
          <a:xfrm>
            <a:off x="6135309" y="4654660"/>
            <a:ext cx="2151808" cy="369332"/>
          </a:xfrm>
          <a:prstGeom prst="rect">
            <a:avLst/>
          </a:prstGeom>
          <a:noFill/>
        </p:spPr>
        <p:txBody>
          <a:bodyPr wrap="none" rtlCol="0">
            <a:spAutoFit/>
          </a:bodyPr>
          <a:lstStyle/>
          <a:p>
            <a:r>
              <a:rPr lang="en-US" dirty="0">
                <a:solidFill>
                  <a:srgbClr val="C00000"/>
                </a:solidFill>
              </a:rPr>
              <a:t>MW Not Guaranteed</a:t>
            </a:r>
          </a:p>
        </p:txBody>
      </p:sp>
      <p:sp>
        <p:nvSpPr>
          <p:cNvPr id="7" name="TextBox 6">
            <a:extLst>
              <a:ext uri="{FF2B5EF4-FFF2-40B4-BE49-F238E27FC236}">
                <a16:creationId xmlns:a16="http://schemas.microsoft.com/office/drawing/2014/main" id="{A25EF8E4-B9D0-5D66-A275-A63BF269EF07}"/>
              </a:ext>
            </a:extLst>
          </p:cNvPr>
          <p:cNvSpPr txBox="1"/>
          <p:nvPr/>
        </p:nvSpPr>
        <p:spPr>
          <a:xfrm>
            <a:off x="5996969" y="2681579"/>
            <a:ext cx="3230821" cy="923330"/>
          </a:xfrm>
          <a:prstGeom prst="rect">
            <a:avLst/>
          </a:prstGeom>
          <a:noFill/>
        </p:spPr>
        <p:txBody>
          <a:bodyPr wrap="none" rtlCol="0">
            <a:spAutoFit/>
          </a:bodyPr>
          <a:lstStyle/>
          <a:p>
            <a:r>
              <a:rPr lang="en-US" dirty="0">
                <a:solidFill>
                  <a:srgbClr val="0070C0"/>
                </a:solidFill>
              </a:rPr>
              <a:t>Producing </a:t>
            </a:r>
            <a:r>
              <a:rPr lang="en-US" i="1" dirty="0">
                <a:solidFill>
                  <a:srgbClr val="0070C0"/>
                </a:solidFill>
              </a:rPr>
              <a:t>x</a:t>
            </a:r>
            <a:r>
              <a:rPr lang="en-US" i="1" baseline="-25000" dirty="0">
                <a:solidFill>
                  <a:srgbClr val="0070C0"/>
                </a:solidFill>
              </a:rPr>
              <a:t>3</a:t>
            </a:r>
            <a:r>
              <a:rPr lang="en-US" dirty="0">
                <a:solidFill>
                  <a:srgbClr val="0070C0"/>
                </a:solidFill>
              </a:rPr>
              <a:t> concurrently to </a:t>
            </a:r>
            <a:r>
              <a:rPr lang="en-US" i="1" dirty="0">
                <a:solidFill>
                  <a:srgbClr val="0070C0"/>
                </a:solidFill>
              </a:rPr>
              <a:t>x</a:t>
            </a:r>
            <a:r>
              <a:rPr lang="en-US" i="1" baseline="-25000" dirty="0">
                <a:solidFill>
                  <a:srgbClr val="0070C0"/>
                </a:solidFill>
              </a:rPr>
              <a:t>1</a:t>
            </a:r>
            <a:r>
              <a:rPr lang="en-US" dirty="0">
                <a:solidFill>
                  <a:srgbClr val="0070C0"/>
                </a:solidFill>
              </a:rPr>
              <a:t>.</a:t>
            </a:r>
          </a:p>
          <a:p>
            <a:r>
              <a:rPr lang="en-US" b="1" u="sng" dirty="0">
                <a:solidFill>
                  <a:srgbClr val="0070C0"/>
                </a:solidFill>
              </a:rPr>
              <a:t>Not guaranteed that write to x</a:t>
            </a:r>
            <a:r>
              <a:rPr lang="en-US" b="1" u="sng" baseline="-25000" dirty="0">
                <a:solidFill>
                  <a:srgbClr val="0070C0"/>
                </a:solidFill>
              </a:rPr>
              <a:t>1</a:t>
            </a:r>
            <a:endParaRPr lang="en-US" b="1" u="sng" dirty="0">
              <a:solidFill>
                <a:srgbClr val="0070C0"/>
              </a:solidFill>
            </a:endParaRPr>
          </a:p>
          <a:p>
            <a:r>
              <a:rPr lang="en-US" b="1" u="sng" dirty="0">
                <a:solidFill>
                  <a:srgbClr val="0070C0"/>
                </a:solidFill>
              </a:rPr>
              <a:t>is completed</a:t>
            </a:r>
            <a:r>
              <a:rPr lang="en-US" dirty="0">
                <a:solidFill>
                  <a:srgbClr val="0070C0"/>
                </a:solidFill>
              </a:rPr>
              <a:t>.</a:t>
            </a:r>
          </a:p>
        </p:txBody>
      </p:sp>
      <p:cxnSp>
        <p:nvCxnSpPr>
          <p:cNvPr id="12" name="Straight Arrow Connector 11">
            <a:extLst>
              <a:ext uri="{FF2B5EF4-FFF2-40B4-BE49-F238E27FC236}">
                <a16:creationId xmlns:a16="http://schemas.microsoft.com/office/drawing/2014/main" id="{0C6198CA-0362-BD77-422F-94D28327D891}"/>
              </a:ext>
            </a:extLst>
          </p:cNvPr>
          <p:cNvCxnSpPr>
            <a:cxnSpLocks/>
          </p:cNvCxnSpPr>
          <p:nvPr/>
        </p:nvCxnSpPr>
        <p:spPr>
          <a:xfrm>
            <a:off x="8001000" y="3465817"/>
            <a:ext cx="286117" cy="625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0A5985D-E058-B735-BD9A-3EE53BF12C98}"/>
              </a:ext>
            </a:extLst>
          </p:cNvPr>
          <p:cNvSpPr txBox="1"/>
          <p:nvPr/>
        </p:nvSpPr>
        <p:spPr>
          <a:xfrm>
            <a:off x="-95290" y="6222203"/>
            <a:ext cx="4224683" cy="646331"/>
          </a:xfrm>
          <a:prstGeom prst="rect">
            <a:avLst/>
          </a:prstGeom>
          <a:noFill/>
        </p:spPr>
        <p:txBody>
          <a:bodyPr wrap="none" rtlCol="0">
            <a:spAutoFit/>
          </a:bodyPr>
          <a:lstStyle/>
          <a:p>
            <a:r>
              <a:rPr lang="en-US" dirty="0">
                <a:solidFill>
                  <a:srgbClr val="0070C0"/>
                </a:solidFill>
              </a:rPr>
              <a:t>Still not sure if the write operation on </a:t>
            </a:r>
            <a:r>
              <a:rPr lang="en-US" i="1" dirty="0">
                <a:solidFill>
                  <a:srgbClr val="0070C0"/>
                </a:solidFill>
              </a:rPr>
              <a:t>x</a:t>
            </a:r>
            <a:r>
              <a:rPr lang="en-US" i="1" baseline="-25000" dirty="0">
                <a:solidFill>
                  <a:srgbClr val="0070C0"/>
                </a:solidFill>
              </a:rPr>
              <a:t>1</a:t>
            </a:r>
            <a:r>
              <a:rPr lang="en-US" dirty="0">
                <a:solidFill>
                  <a:srgbClr val="0070C0"/>
                </a:solidFill>
              </a:rPr>
              <a:t> is </a:t>
            </a:r>
          </a:p>
          <a:p>
            <a:r>
              <a:rPr lang="en-US" dirty="0">
                <a:solidFill>
                  <a:srgbClr val="0070C0"/>
                </a:solidFill>
              </a:rPr>
              <a:t>completed.</a:t>
            </a:r>
          </a:p>
        </p:txBody>
      </p:sp>
      <p:cxnSp>
        <p:nvCxnSpPr>
          <p:cNvPr id="18" name="Straight Arrow Connector 17">
            <a:extLst>
              <a:ext uri="{FF2B5EF4-FFF2-40B4-BE49-F238E27FC236}">
                <a16:creationId xmlns:a16="http://schemas.microsoft.com/office/drawing/2014/main" id="{277FC3BD-BFC7-C9EC-7A87-3D8569A967BB}"/>
              </a:ext>
            </a:extLst>
          </p:cNvPr>
          <p:cNvCxnSpPr>
            <a:cxnSpLocks/>
          </p:cNvCxnSpPr>
          <p:nvPr/>
        </p:nvCxnSpPr>
        <p:spPr>
          <a:xfrm flipH="1" flipV="1">
            <a:off x="3267332" y="5879980"/>
            <a:ext cx="9268" cy="435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308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28A47-A967-4519-97B2-C5074E195F6A}"/>
              </a:ext>
            </a:extLst>
          </p:cNvPr>
          <p:cNvSpPr>
            <a:spLocks noGrp="1"/>
          </p:cNvSpPr>
          <p:nvPr>
            <p:ph type="title"/>
          </p:nvPr>
        </p:nvSpPr>
        <p:spPr/>
        <p:txBody>
          <a:bodyPr/>
          <a:lstStyle/>
          <a:p>
            <a:r>
              <a:rPr lang="en-US" dirty="0"/>
              <a:t>Read Your Writes Model</a:t>
            </a:r>
          </a:p>
        </p:txBody>
      </p:sp>
      <p:sp>
        <p:nvSpPr>
          <p:cNvPr id="3" name="Content Placeholder 2">
            <a:extLst>
              <a:ext uri="{FF2B5EF4-FFF2-40B4-BE49-F238E27FC236}">
                <a16:creationId xmlns:a16="http://schemas.microsoft.com/office/drawing/2014/main" id="{B1CC7D8B-4F5D-4CDE-AD00-7B9BE5A0D3B2}"/>
              </a:ext>
            </a:extLst>
          </p:cNvPr>
          <p:cNvSpPr>
            <a:spLocks noGrp="1"/>
          </p:cNvSpPr>
          <p:nvPr>
            <p:ph idx="1"/>
          </p:nvPr>
        </p:nvSpPr>
        <p:spPr/>
        <p:txBody>
          <a:bodyPr/>
          <a:lstStyle/>
          <a:p>
            <a:r>
              <a:rPr lang="en-US" dirty="0"/>
              <a:t>A data store is said to provide </a:t>
            </a:r>
            <a:r>
              <a:rPr lang="en-US" dirty="0">
                <a:solidFill>
                  <a:srgbClr val="0070C0"/>
                </a:solidFill>
              </a:rPr>
              <a:t>read-your-writes consistency</a:t>
            </a:r>
            <a:r>
              <a:rPr lang="en-US" dirty="0"/>
              <a:t>, if the following condition holds</a:t>
            </a:r>
          </a:p>
          <a:p>
            <a:pPr lvl="1"/>
            <a:r>
              <a:rPr lang="en-US" i="1" dirty="0"/>
              <a:t>The effect of a write operation by a process on data item x will always be seen by a successive read operation on x by the </a:t>
            </a:r>
            <a:r>
              <a:rPr lang="en-US" i="1" dirty="0">
                <a:solidFill>
                  <a:srgbClr val="0070C0"/>
                </a:solidFill>
              </a:rPr>
              <a:t>same</a:t>
            </a:r>
            <a:r>
              <a:rPr lang="en-US" i="1" dirty="0"/>
              <a:t> process.</a:t>
            </a:r>
          </a:p>
          <a:p>
            <a:pPr marL="0" indent="0">
              <a:buNone/>
            </a:pPr>
            <a:endParaRPr lang="en-US" dirty="0"/>
          </a:p>
        </p:txBody>
      </p:sp>
      <p:pic>
        <p:nvPicPr>
          <p:cNvPr id="5" name="Picture 4">
            <a:extLst>
              <a:ext uri="{FF2B5EF4-FFF2-40B4-BE49-F238E27FC236}">
                <a16:creationId xmlns:a16="http://schemas.microsoft.com/office/drawing/2014/main" id="{A9608235-09F7-4055-97A7-48158A518EBF}"/>
              </a:ext>
            </a:extLst>
          </p:cNvPr>
          <p:cNvPicPr>
            <a:picLocks noChangeAspect="1"/>
          </p:cNvPicPr>
          <p:nvPr/>
        </p:nvPicPr>
        <p:blipFill>
          <a:blip r:embed="rId2"/>
          <a:stretch>
            <a:fillRect/>
          </a:stretch>
        </p:blipFill>
        <p:spPr>
          <a:xfrm>
            <a:off x="0" y="4719538"/>
            <a:ext cx="9144000" cy="1434503"/>
          </a:xfrm>
          <a:prstGeom prst="rect">
            <a:avLst/>
          </a:prstGeom>
        </p:spPr>
      </p:pic>
      <p:sp>
        <p:nvSpPr>
          <p:cNvPr id="6" name="TextBox 5">
            <a:extLst>
              <a:ext uri="{FF2B5EF4-FFF2-40B4-BE49-F238E27FC236}">
                <a16:creationId xmlns:a16="http://schemas.microsoft.com/office/drawing/2014/main" id="{96C65CB4-A047-4CA4-A315-705D073E1005}"/>
              </a:ext>
            </a:extLst>
          </p:cNvPr>
          <p:cNvSpPr txBox="1"/>
          <p:nvPr/>
        </p:nvSpPr>
        <p:spPr>
          <a:xfrm>
            <a:off x="2895600" y="6126163"/>
            <a:ext cx="5709512" cy="646331"/>
          </a:xfrm>
          <a:prstGeom prst="rect">
            <a:avLst/>
          </a:prstGeom>
          <a:noFill/>
        </p:spPr>
        <p:txBody>
          <a:bodyPr wrap="none" rtlCol="0">
            <a:spAutoFit/>
          </a:bodyPr>
          <a:lstStyle/>
          <a:p>
            <a:r>
              <a:rPr lang="en-US" dirty="0">
                <a:solidFill>
                  <a:srgbClr val="0070C0"/>
                </a:solidFill>
              </a:rPr>
              <a:t>The effect of the previous write operation by </a:t>
            </a:r>
            <a:r>
              <a:rPr lang="en-US" i="1" dirty="0">
                <a:solidFill>
                  <a:srgbClr val="0070C0"/>
                </a:solidFill>
              </a:rPr>
              <a:t>P</a:t>
            </a:r>
            <a:r>
              <a:rPr lang="en-US" i="1" baseline="-25000" dirty="0">
                <a:solidFill>
                  <a:srgbClr val="0070C0"/>
                </a:solidFill>
              </a:rPr>
              <a:t>1</a:t>
            </a:r>
            <a:r>
              <a:rPr lang="en-US" dirty="0">
                <a:solidFill>
                  <a:srgbClr val="0070C0"/>
                </a:solidFill>
              </a:rPr>
              <a:t> is not clear</a:t>
            </a:r>
          </a:p>
          <a:p>
            <a:r>
              <a:rPr lang="en-US" dirty="0">
                <a:solidFill>
                  <a:srgbClr val="0070C0"/>
                </a:solidFill>
              </a:rPr>
              <a:t>, because </a:t>
            </a:r>
            <a:r>
              <a:rPr lang="en-US" i="1" dirty="0">
                <a:solidFill>
                  <a:srgbClr val="0070C0"/>
                </a:solidFill>
              </a:rPr>
              <a:t>P</a:t>
            </a:r>
            <a:r>
              <a:rPr lang="en-US" i="1" baseline="-25000" dirty="0">
                <a:solidFill>
                  <a:srgbClr val="0070C0"/>
                </a:solidFill>
              </a:rPr>
              <a:t>2</a:t>
            </a:r>
            <a:r>
              <a:rPr lang="en-US" baseline="-25000" dirty="0">
                <a:solidFill>
                  <a:srgbClr val="0070C0"/>
                </a:solidFill>
              </a:rPr>
              <a:t> </a:t>
            </a:r>
            <a:r>
              <a:rPr lang="en-US" dirty="0">
                <a:solidFill>
                  <a:srgbClr val="0070C0"/>
                </a:solidFill>
              </a:rPr>
              <a:t>performs the write operation in parallel.</a:t>
            </a:r>
          </a:p>
        </p:txBody>
      </p:sp>
      <p:cxnSp>
        <p:nvCxnSpPr>
          <p:cNvPr id="8" name="Straight Arrow Connector 7">
            <a:extLst>
              <a:ext uri="{FF2B5EF4-FFF2-40B4-BE49-F238E27FC236}">
                <a16:creationId xmlns:a16="http://schemas.microsoft.com/office/drawing/2014/main" id="{D9C1B265-86AC-41FC-9758-6CC33CA49B61}"/>
              </a:ext>
            </a:extLst>
          </p:cNvPr>
          <p:cNvCxnSpPr>
            <a:cxnSpLocks/>
          </p:cNvCxnSpPr>
          <p:nvPr/>
        </p:nvCxnSpPr>
        <p:spPr>
          <a:xfrm flipV="1">
            <a:off x="6400800" y="5507710"/>
            <a:ext cx="152400" cy="646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13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A15C-08BF-492F-9CC5-F77C65D9085E}"/>
              </a:ext>
            </a:extLst>
          </p:cNvPr>
          <p:cNvSpPr>
            <a:spLocks noGrp="1"/>
          </p:cNvSpPr>
          <p:nvPr>
            <p:ph type="title"/>
          </p:nvPr>
        </p:nvSpPr>
        <p:spPr/>
        <p:txBody>
          <a:bodyPr/>
          <a:lstStyle/>
          <a:p>
            <a:r>
              <a:rPr lang="en-US" dirty="0"/>
              <a:t>Writes Follow Reads Model</a:t>
            </a:r>
          </a:p>
        </p:txBody>
      </p:sp>
      <p:sp>
        <p:nvSpPr>
          <p:cNvPr id="3" name="Content Placeholder 2">
            <a:extLst>
              <a:ext uri="{FF2B5EF4-FFF2-40B4-BE49-F238E27FC236}">
                <a16:creationId xmlns:a16="http://schemas.microsoft.com/office/drawing/2014/main" id="{F845C0FD-1A98-4343-99DD-4A717D008BF3}"/>
              </a:ext>
            </a:extLst>
          </p:cNvPr>
          <p:cNvSpPr>
            <a:spLocks noGrp="1"/>
          </p:cNvSpPr>
          <p:nvPr>
            <p:ph idx="1"/>
          </p:nvPr>
        </p:nvSpPr>
        <p:spPr>
          <a:xfrm>
            <a:off x="457200" y="1143000"/>
            <a:ext cx="8229600" cy="4525963"/>
          </a:xfrm>
        </p:spPr>
        <p:txBody>
          <a:bodyPr/>
          <a:lstStyle/>
          <a:p>
            <a:r>
              <a:rPr lang="en-US" dirty="0"/>
              <a:t>A data store is said to provide </a:t>
            </a:r>
            <a:r>
              <a:rPr lang="en-US" dirty="0">
                <a:solidFill>
                  <a:srgbClr val="0070C0"/>
                </a:solidFill>
              </a:rPr>
              <a:t>writes-follow-reads consistency</a:t>
            </a:r>
            <a:r>
              <a:rPr lang="en-US" dirty="0"/>
              <a:t>, if the following condition holds</a:t>
            </a:r>
          </a:p>
          <a:p>
            <a:pPr lvl="1"/>
            <a:r>
              <a:rPr lang="en-US" i="1" dirty="0"/>
              <a:t>Any successive write operation by a process on a data item x will be performed on a copy of x that is up to date with the value most recently read by that process</a:t>
            </a:r>
          </a:p>
          <a:p>
            <a:pPr marL="0" indent="0">
              <a:buNone/>
            </a:pPr>
            <a:endParaRPr lang="en-US" dirty="0"/>
          </a:p>
        </p:txBody>
      </p:sp>
      <p:pic>
        <p:nvPicPr>
          <p:cNvPr id="5" name="Picture 4">
            <a:extLst>
              <a:ext uri="{FF2B5EF4-FFF2-40B4-BE49-F238E27FC236}">
                <a16:creationId xmlns:a16="http://schemas.microsoft.com/office/drawing/2014/main" id="{AB28A760-FDE9-44C2-99D4-34F723B8CC54}"/>
              </a:ext>
            </a:extLst>
          </p:cNvPr>
          <p:cNvPicPr>
            <a:picLocks noChangeAspect="1"/>
          </p:cNvPicPr>
          <p:nvPr/>
        </p:nvPicPr>
        <p:blipFill>
          <a:blip r:embed="rId2"/>
          <a:stretch>
            <a:fillRect/>
          </a:stretch>
        </p:blipFill>
        <p:spPr>
          <a:xfrm>
            <a:off x="1859" y="4419600"/>
            <a:ext cx="9144000" cy="1409608"/>
          </a:xfrm>
          <a:prstGeom prst="rect">
            <a:avLst/>
          </a:prstGeom>
        </p:spPr>
      </p:pic>
      <p:sp>
        <p:nvSpPr>
          <p:cNvPr id="6" name="TextBox 5">
            <a:extLst>
              <a:ext uri="{FF2B5EF4-FFF2-40B4-BE49-F238E27FC236}">
                <a16:creationId xmlns:a16="http://schemas.microsoft.com/office/drawing/2014/main" id="{D46BEC45-D3D2-6228-E595-4D29ECA83B22}"/>
              </a:ext>
            </a:extLst>
          </p:cNvPr>
          <p:cNvSpPr txBox="1"/>
          <p:nvPr/>
        </p:nvSpPr>
        <p:spPr>
          <a:xfrm>
            <a:off x="136102" y="5599447"/>
            <a:ext cx="5388398" cy="1569660"/>
          </a:xfrm>
          <a:prstGeom prst="rect">
            <a:avLst/>
          </a:prstGeom>
          <a:noFill/>
        </p:spPr>
        <p:txBody>
          <a:bodyPr wrap="none" rtlCol="0">
            <a:spAutoFit/>
          </a:bodyPr>
          <a:lstStyle/>
          <a:p>
            <a:r>
              <a:rPr lang="en-US" sz="1600" dirty="0">
                <a:solidFill>
                  <a:srgbClr val="0070C0"/>
                </a:solidFill>
              </a:rPr>
              <a:t>The most recently seen value of </a:t>
            </a:r>
            <a:r>
              <a:rPr lang="en-US" sz="1600" i="1" dirty="0">
                <a:solidFill>
                  <a:srgbClr val="0070C0"/>
                </a:solidFill>
              </a:rPr>
              <a:t>x</a:t>
            </a:r>
            <a:r>
              <a:rPr lang="en-US" sz="1600" dirty="0">
                <a:solidFill>
                  <a:srgbClr val="0070C0"/>
                </a:solidFill>
              </a:rPr>
              <a:t> by </a:t>
            </a:r>
            <a:r>
              <a:rPr lang="en-US" sz="1600" i="1" dirty="0">
                <a:solidFill>
                  <a:srgbClr val="0070C0"/>
                </a:solidFill>
              </a:rPr>
              <a:t>P</a:t>
            </a:r>
            <a:r>
              <a:rPr lang="en-US" sz="1600" i="1" baseline="-25000" dirty="0">
                <a:solidFill>
                  <a:srgbClr val="0070C0"/>
                </a:solidFill>
              </a:rPr>
              <a:t>2</a:t>
            </a:r>
            <a:r>
              <a:rPr lang="en-US" sz="1600" dirty="0">
                <a:solidFill>
                  <a:srgbClr val="0070C0"/>
                </a:solidFill>
              </a:rPr>
              <a:t> is </a:t>
            </a:r>
            <a:r>
              <a:rPr lang="en-US" sz="1600" i="1" dirty="0">
                <a:solidFill>
                  <a:srgbClr val="0070C0"/>
                </a:solidFill>
              </a:rPr>
              <a:t>x</a:t>
            </a:r>
            <a:r>
              <a:rPr lang="en-US" sz="1600" i="1" baseline="-25000" dirty="0">
                <a:solidFill>
                  <a:srgbClr val="0070C0"/>
                </a:solidFill>
              </a:rPr>
              <a:t>1</a:t>
            </a:r>
            <a:r>
              <a:rPr lang="en-US" sz="1600" dirty="0">
                <a:solidFill>
                  <a:srgbClr val="0070C0"/>
                </a:solidFill>
              </a:rPr>
              <a:t>.</a:t>
            </a:r>
          </a:p>
          <a:p>
            <a:r>
              <a:rPr lang="en-US" sz="1600" dirty="0">
                <a:solidFill>
                  <a:srgbClr val="0070C0"/>
                </a:solidFill>
              </a:rPr>
              <a:t>Therefore, </a:t>
            </a:r>
            <a:r>
              <a:rPr lang="en-US" sz="1600" i="1" dirty="0">
                <a:solidFill>
                  <a:srgbClr val="0070C0"/>
                </a:solidFill>
              </a:rPr>
              <a:t>P</a:t>
            </a:r>
            <a:r>
              <a:rPr lang="en-US" sz="1600" i="1" baseline="-25000" dirty="0">
                <a:solidFill>
                  <a:srgbClr val="0070C0"/>
                </a:solidFill>
              </a:rPr>
              <a:t>2</a:t>
            </a:r>
            <a:r>
              <a:rPr lang="en-US" sz="1600" i="1" dirty="0">
                <a:solidFill>
                  <a:srgbClr val="0070C0"/>
                </a:solidFill>
              </a:rPr>
              <a:t> </a:t>
            </a:r>
            <a:r>
              <a:rPr lang="en-US" sz="1600" dirty="0">
                <a:solidFill>
                  <a:srgbClr val="0070C0"/>
                </a:solidFill>
              </a:rPr>
              <a:t>should perform the write operation </a:t>
            </a:r>
          </a:p>
          <a:p>
            <a:r>
              <a:rPr lang="en-US" sz="1600" dirty="0">
                <a:solidFill>
                  <a:srgbClr val="0070C0"/>
                </a:solidFill>
              </a:rPr>
              <a:t>on the most up-to-date version </a:t>
            </a:r>
            <a:r>
              <a:rPr lang="en-US" sz="1600" i="1" dirty="0">
                <a:solidFill>
                  <a:srgbClr val="0070C0"/>
                </a:solidFill>
              </a:rPr>
              <a:t>x</a:t>
            </a:r>
            <a:r>
              <a:rPr lang="en-US" sz="1600" i="1" baseline="-25000" dirty="0">
                <a:solidFill>
                  <a:srgbClr val="0070C0"/>
                </a:solidFill>
              </a:rPr>
              <a:t>1</a:t>
            </a:r>
            <a:r>
              <a:rPr lang="en-US" sz="1600" dirty="0">
                <a:solidFill>
                  <a:srgbClr val="0070C0"/>
                </a:solidFill>
              </a:rPr>
              <a:t>.</a:t>
            </a:r>
          </a:p>
          <a:p>
            <a:r>
              <a:rPr lang="en-US" sz="1600" dirty="0">
                <a:solidFill>
                  <a:srgbClr val="0070C0"/>
                </a:solidFill>
              </a:rPr>
              <a:t>Meanwhile, since </a:t>
            </a:r>
            <a:r>
              <a:rPr lang="en-US" sz="1600" i="1" dirty="0">
                <a:solidFill>
                  <a:srgbClr val="0070C0"/>
                </a:solidFill>
              </a:rPr>
              <a:t>P</a:t>
            </a:r>
            <a:r>
              <a:rPr lang="en-US" sz="1600" i="1" baseline="-25000" dirty="0">
                <a:solidFill>
                  <a:srgbClr val="0070C0"/>
                </a:solidFill>
              </a:rPr>
              <a:t>3</a:t>
            </a:r>
            <a:r>
              <a:rPr lang="en-US" sz="1600" dirty="0">
                <a:solidFill>
                  <a:srgbClr val="0070C0"/>
                </a:solidFill>
              </a:rPr>
              <a:t> has performed the write operation on </a:t>
            </a:r>
            <a:r>
              <a:rPr lang="en-US" sz="1600" i="1" dirty="0">
                <a:solidFill>
                  <a:srgbClr val="0070C0"/>
                </a:solidFill>
              </a:rPr>
              <a:t>x</a:t>
            </a:r>
            <a:r>
              <a:rPr lang="en-US" sz="1600" i="1" baseline="-25000" dirty="0">
                <a:solidFill>
                  <a:srgbClr val="0070C0"/>
                </a:solidFill>
              </a:rPr>
              <a:t>1</a:t>
            </a:r>
            <a:r>
              <a:rPr lang="en-US" sz="1600" dirty="0">
                <a:solidFill>
                  <a:srgbClr val="0070C0"/>
                </a:solidFill>
              </a:rPr>
              <a:t>,</a:t>
            </a:r>
          </a:p>
          <a:p>
            <a:r>
              <a:rPr lang="en-US" sz="1600" dirty="0">
                <a:solidFill>
                  <a:srgbClr val="0070C0"/>
                </a:solidFill>
              </a:rPr>
              <a:t>The most up-to-date version is </a:t>
            </a:r>
            <a:r>
              <a:rPr lang="en-US" sz="1600" i="1" dirty="0">
                <a:solidFill>
                  <a:srgbClr val="0070C0"/>
                </a:solidFill>
              </a:rPr>
              <a:t>x</a:t>
            </a:r>
            <a:r>
              <a:rPr lang="en-US" sz="1600" i="1" baseline="-25000" dirty="0">
                <a:solidFill>
                  <a:srgbClr val="0070C0"/>
                </a:solidFill>
              </a:rPr>
              <a:t>2</a:t>
            </a:r>
            <a:r>
              <a:rPr lang="en-US" sz="1600" dirty="0">
                <a:solidFill>
                  <a:srgbClr val="0070C0"/>
                </a:solidFill>
              </a:rPr>
              <a:t>. </a:t>
            </a:r>
          </a:p>
          <a:p>
            <a:endParaRPr lang="en-US" sz="1600" dirty="0">
              <a:solidFill>
                <a:srgbClr val="0070C0"/>
              </a:solidFill>
            </a:endParaRPr>
          </a:p>
        </p:txBody>
      </p:sp>
      <p:cxnSp>
        <p:nvCxnSpPr>
          <p:cNvPr id="7" name="Straight Arrow Connector 6">
            <a:extLst>
              <a:ext uri="{FF2B5EF4-FFF2-40B4-BE49-F238E27FC236}">
                <a16:creationId xmlns:a16="http://schemas.microsoft.com/office/drawing/2014/main" id="{B7C34858-0EF6-F68D-BCEB-2BA3098103D8}"/>
              </a:ext>
            </a:extLst>
          </p:cNvPr>
          <p:cNvCxnSpPr>
            <a:cxnSpLocks/>
          </p:cNvCxnSpPr>
          <p:nvPr/>
        </p:nvCxnSpPr>
        <p:spPr>
          <a:xfrm flipV="1">
            <a:off x="2953504" y="5334000"/>
            <a:ext cx="94496" cy="323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E003ABA-CD06-F0B0-9578-187313CCA2BE}"/>
              </a:ext>
            </a:extLst>
          </p:cNvPr>
          <p:cNvSpPr txBox="1"/>
          <p:nvPr/>
        </p:nvSpPr>
        <p:spPr>
          <a:xfrm>
            <a:off x="5630315" y="5922612"/>
            <a:ext cx="3505200" cy="923330"/>
          </a:xfrm>
          <a:prstGeom prst="rect">
            <a:avLst/>
          </a:prstGeom>
          <a:noFill/>
        </p:spPr>
        <p:txBody>
          <a:bodyPr wrap="square" rtlCol="0">
            <a:spAutoFit/>
          </a:bodyPr>
          <a:lstStyle/>
          <a:p>
            <a:r>
              <a:rPr lang="en-US" dirty="0">
                <a:solidFill>
                  <a:srgbClr val="0070C0"/>
                </a:solidFill>
              </a:rPr>
              <a:t>It is unclear if </a:t>
            </a:r>
            <a:r>
              <a:rPr lang="en-US" i="1" dirty="0">
                <a:solidFill>
                  <a:srgbClr val="0070C0"/>
                </a:solidFill>
              </a:rPr>
              <a:t>x</a:t>
            </a:r>
            <a:r>
              <a:rPr lang="en-US" i="1" baseline="-25000" dirty="0">
                <a:solidFill>
                  <a:srgbClr val="0070C0"/>
                </a:solidFill>
              </a:rPr>
              <a:t>1</a:t>
            </a:r>
            <a:r>
              <a:rPr lang="en-US" dirty="0">
                <a:solidFill>
                  <a:srgbClr val="0070C0"/>
                </a:solidFill>
              </a:rPr>
              <a:t> is the up-to-date version due to the concurrent write operation by </a:t>
            </a:r>
            <a:r>
              <a:rPr lang="en-US" i="1" dirty="0">
                <a:solidFill>
                  <a:srgbClr val="0070C0"/>
                </a:solidFill>
              </a:rPr>
              <a:t>P</a:t>
            </a:r>
            <a:r>
              <a:rPr lang="en-US" i="1" baseline="-25000" dirty="0">
                <a:solidFill>
                  <a:srgbClr val="0070C0"/>
                </a:solidFill>
              </a:rPr>
              <a:t>3</a:t>
            </a:r>
          </a:p>
        </p:txBody>
      </p:sp>
      <p:cxnSp>
        <p:nvCxnSpPr>
          <p:cNvPr id="10" name="Straight Arrow Connector 9">
            <a:extLst>
              <a:ext uri="{FF2B5EF4-FFF2-40B4-BE49-F238E27FC236}">
                <a16:creationId xmlns:a16="http://schemas.microsoft.com/office/drawing/2014/main" id="{61476360-ED9A-77C9-13C6-1AC9C4268397}"/>
              </a:ext>
            </a:extLst>
          </p:cNvPr>
          <p:cNvCxnSpPr>
            <a:cxnSpLocks/>
          </p:cNvCxnSpPr>
          <p:nvPr/>
        </p:nvCxnSpPr>
        <p:spPr>
          <a:xfrm flipV="1">
            <a:off x="8001000" y="5486400"/>
            <a:ext cx="144761" cy="436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977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10185</TotalTime>
  <Words>2104</Words>
  <Application>Microsoft Macintosh PowerPoint</Application>
  <PresentationFormat>On-screen Show (4:3)</PresentationFormat>
  <Paragraphs>180</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COMP 7212: Operating/Distributed Systems Chapter 7: Consistency and Replication</vt:lpstr>
      <vt:lpstr>Overview</vt:lpstr>
      <vt:lpstr>Basic Concepts</vt:lpstr>
      <vt:lpstr>Introduction</vt:lpstr>
      <vt:lpstr>Replication as Scaling Technique</vt:lpstr>
      <vt:lpstr>Data-Centric Consistency Models</vt:lpstr>
      <vt:lpstr>Basic Concepts (1/2)</vt:lpstr>
      <vt:lpstr>Basic Concepts (2/2)</vt:lpstr>
      <vt:lpstr>Conit (1/2)</vt:lpstr>
      <vt:lpstr>Conit (2/2)</vt:lpstr>
      <vt:lpstr>Conit: Example (1/2)</vt:lpstr>
      <vt:lpstr>Conit: Example (2/2)</vt:lpstr>
      <vt:lpstr>Consistency Contract</vt:lpstr>
      <vt:lpstr>Consistent Ordering of Operations (1/5)</vt:lpstr>
      <vt:lpstr>Consistent Ordering of Operations (2/5)</vt:lpstr>
      <vt:lpstr>Consistent Ordering of Operations (3/5)</vt:lpstr>
      <vt:lpstr>Consistent Ordering of Operations (4/5)</vt:lpstr>
      <vt:lpstr>Consistent Ordering of Operations (5/5)</vt:lpstr>
      <vt:lpstr>Eventual Consistency</vt:lpstr>
      <vt:lpstr>Client-Centric Consistency Models</vt:lpstr>
      <vt:lpstr>Basic Concept</vt:lpstr>
      <vt:lpstr>Notations</vt:lpstr>
      <vt:lpstr>Client-Centric Consistency Models</vt:lpstr>
      <vt:lpstr>Monotonic Reads Model</vt:lpstr>
      <vt:lpstr>Monotonic Writes Model</vt:lpstr>
      <vt:lpstr>Read Your Writes Model</vt:lpstr>
      <vt:lpstr>Writes Follow Reads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COSC 3360 Human Computer Interaction Introduction</dc:title>
  <dc:creator>Won, Myounggyu</dc:creator>
  <cp:lastModifiedBy>Myounggyu Won (mwon)</cp:lastModifiedBy>
  <cp:revision>884</cp:revision>
  <dcterms:created xsi:type="dcterms:W3CDTF">2006-08-16T00:00:00Z</dcterms:created>
  <dcterms:modified xsi:type="dcterms:W3CDTF">2026-10-27T18:55:59Z</dcterms:modified>
</cp:coreProperties>
</file>