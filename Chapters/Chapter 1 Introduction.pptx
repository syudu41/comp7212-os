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79" r:id="rId3"/>
    <p:sldId id="280" r:id="rId4"/>
    <p:sldId id="300" r:id="rId5"/>
    <p:sldId id="257" r:id="rId6"/>
    <p:sldId id="258" r:id="rId7"/>
    <p:sldId id="259" r:id="rId8"/>
    <p:sldId id="298" r:id="rId9"/>
    <p:sldId id="260" r:id="rId10"/>
    <p:sldId id="299" r:id="rId11"/>
    <p:sldId id="261" r:id="rId12"/>
    <p:sldId id="281" r:id="rId13"/>
    <p:sldId id="282" r:id="rId14"/>
    <p:sldId id="262" r:id="rId15"/>
    <p:sldId id="283" r:id="rId16"/>
    <p:sldId id="263" r:id="rId17"/>
    <p:sldId id="264" r:id="rId18"/>
    <p:sldId id="265" r:id="rId19"/>
    <p:sldId id="266" r:id="rId20"/>
    <p:sldId id="267" r:id="rId21"/>
    <p:sldId id="268" r:id="rId22"/>
    <p:sldId id="284" r:id="rId23"/>
    <p:sldId id="269" r:id="rId24"/>
    <p:sldId id="285" r:id="rId25"/>
    <p:sldId id="295" r:id="rId26"/>
    <p:sldId id="291" r:id="rId27"/>
    <p:sldId id="292" r:id="rId28"/>
    <p:sldId id="293" r:id="rId29"/>
    <p:sldId id="286" r:id="rId30"/>
    <p:sldId id="296" r:id="rId31"/>
    <p:sldId id="294" r:id="rId32"/>
    <p:sldId id="287" r:id="rId33"/>
    <p:sldId id="289" r:id="rId34"/>
    <p:sldId id="272" r:id="rId35"/>
    <p:sldId id="302" r:id="rId36"/>
    <p:sldId id="288" r:id="rId37"/>
    <p:sldId id="275" r:id="rId38"/>
    <p:sldId id="301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50"/>
  </p:normalViewPr>
  <p:slideViewPr>
    <p:cSldViewPr>
      <p:cViewPr varScale="1">
        <p:scale>
          <a:sx n="120" d="100"/>
          <a:sy n="120" d="100"/>
        </p:scale>
        <p:origin x="11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14300" y="2133600"/>
            <a:ext cx="93726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COMP 7212: Operating/Distributed Systems</a:t>
            </a:r>
            <a:br>
              <a:rPr lang="en-US" dirty="0"/>
            </a:br>
            <a:r>
              <a:rPr lang="en-US" dirty="0"/>
              <a:t>Chapter 1: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>
            <a:normAutofit/>
          </a:bodyPr>
          <a:lstStyle/>
          <a:p>
            <a:r>
              <a:rPr lang="en-US" dirty="0"/>
              <a:t>Slides created by</a:t>
            </a:r>
          </a:p>
          <a:p>
            <a:r>
              <a:rPr lang="en-US" dirty="0"/>
              <a:t>Dr. Myounggyu Won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776C6-D20E-45D7-81C1-CB6AEE533F90}"/>
              </a:ext>
            </a:extLst>
          </p:cNvPr>
          <p:cNvSpPr txBox="1"/>
          <p:nvPr/>
        </p:nvSpPr>
        <p:spPr>
          <a:xfrm>
            <a:off x="0" y="6450568"/>
            <a:ext cx="669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Distributed Systems: Principles and Paradigms (3</a:t>
            </a:r>
            <a:r>
              <a:rPr lang="en-US" baseline="30000" dirty="0"/>
              <a:t>rd</a:t>
            </a:r>
            <a:r>
              <a:rPr lang="en-US" dirty="0"/>
              <a:t> Edition)</a:t>
            </a:r>
          </a:p>
        </p:txBody>
      </p:sp>
    </p:spTree>
    <p:extLst>
      <p:ext uri="{BB962C8B-B14F-4D97-AF65-F5344CB8AC3E}">
        <p14:creationId xmlns:p14="http://schemas.microsoft.com/office/powerpoint/2010/main" val="54004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D3FB-115F-4A55-8F21-8B86E927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EABF6-E315-4A16-92D5-6400D87C5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5562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What is a distributed system?</a:t>
            </a:r>
          </a:p>
          <a:p>
            <a:pPr lvl="1"/>
            <a:r>
              <a:rPr lang="en-US" dirty="0"/>
              <a:t>Characteristic 1: Collection of autonomous computing elements</a:t>
            </a:r>
          </a:p>
          <a:p>
            <a:pPr lvl="1"/>
            <a:r>
              <a:rPr lang="en-US" dirty="0"/>
              <a:t>Characteristic 2: Single coherent system</a:t>
            </a:r>
          </a:p>
          <a:p>
            <a:pPr lvl="1"/>
            <a:r>
              <a:rPr lang="en-US" dirty="0"/>
              <a:t>Middleware and distributed systems</a:t>
            </a:r>
          </a:p>
          <a:p>
            <a:r>
              <a:rPr lang="en-US" dirty="0"/>
              <a:t>Design goals</a:t>
            </a:r>
          </a:p>
          <a:p>
            <a:pPr lvl="1"/>
            <a:r>
              <a:rPr lang="en-US" dirty="0"/>
              <a:t>Supporting resource sharing</a:t>
            </a:r>
          </a:p>
          <a:p>
            <a:pPr lvl="1"/>
            <a:r>
              <a:rPr lang="en-US" dirty="0"/>
              <a:t>Making distribution transparent</a:t>
            </a:r>
          </a:p>
          <a:p>
            <a:pPr lvl="1"/>
            <a:r>
              <a:rPr lang="en-US" dirty="0"/>
              <a:t>Being open</a:t>
            </a:r>
          </a:p>
          <a:p>
            <a:pPr lvl="1"/>
            <a:r>
              <a:rPr lang="en-US" dirty="0"/>
              <a:t>Being scalable</a:t>
            </a:r>
          </a:p>
          <a:p>
            <a:r>
              <a:rPr lang="en-US" dirty="0"/>
              <a:t>Types of distributed systems</a:t>
            </a:r>
          </a:p>
          <a:p>
            <a:pPr lvl="1"/>
            <a:r>
              <a:rPr lang="en-US" dirty="0"/>
              <a:t>High performance distributed computing</a:t>
            </a:r>
          </a:p>
          <a:p>
            <a:pPr lvl="1"/>
            <a:r>
              <a:rPr lang="en-US" dirty="0"/>
              <a:t>Distributed information systems</a:t>
            </a:r>
          </a:p>
          <a:p>
            <a:pPr lvl="1"/>
            <a:r>
              <a:rPr lang="en-US" dirty="0"/>
              <a:t>Pervasive systems</a:t>
            </a:r>
          </a:p>
        </p:txBody>
      </p:sp>
    </p:spTree>
    <p:extLst>
      <p:ext uri="{BB962C8B-B14F-4D97-AF65-F5344CB8AC3E}">
        <p14:creationId xmlns:p14="http://schemas.microsoft.com/office/powerpoint/2010/main" val="75909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A579-E98A-47D2-BD8E-9E9F358E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1143000"/>
          </a:xfrm>
        </p:spPr>
        <p:txBody>
          <a:bodyPr/>
          <a:lstStyle/>
          <a:p>
            <a:r>
              <a:rPr lang="en-US" dirty="0"/>
              <a:t>What is a distributed system?</a:t>
            </a:r>
          </a:p>
        </p:txBody>
      </p:sp>
    </p:spTree>
    <p:extLst>
      <p:ext uri="{BB962C8B-B14F-4D97-AF65-F5344CB8AC3E}">
        <p14:creationId xmlns:p14="http://schemas.microsoft.com/office/powerpoint/2010/main" val="285437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761F-3C9D-DEF0-80C1-899556141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24C3-D3BD-E5A5-A081-F91F96E6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68A97-25D8-494C-4123-ECBDA77A9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Definition</a:t>
            </a:r>
          </a:p>
          <a:p>
            <a:pPr lvl="1"/>
            <a:r>
              <a:rPr lang="en-US" i="1" dirty="0"/>
              <a:t>A </a:t>
            </a:r>
            <a:r>
              <a:rPr lang="en-US" i="1" dirty="0">
                <a:solidFill>
                  <a:srgbClr val="0070C0"/>
                </a:solidFill>
              </a:rPr>
              <a:t>distributed system </a:t>
            </a:r>
            <a:r>
              <a:rPr lang="en-US" i="1" dirty="0"/>
              <a:t>is a collection of autonomous computing elements that appears to its users as a single coherent system.</a:t>
            </a:r>
          </a:p>
          <a:p>
            <a:r>
              <a:rPr lang="en-US" dirty="0">
                <a:solidFill>
                  <a:srgbClr val="0070C0"/>
                </a:solidFill>
              </a:rPr>
              <a:t>Autonomous computing elements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Components within a distributed system that can operate independently of other parts.</a:t>
            </a:r>
          </a:p>
          <a:p>
            <a:pPr lvl="2"/>
            <a:r>
              <a:rPr lang="en-US" dirty="0"/>
              <a:t>Make decisions based on their local data without needing central control or intervention</a:t>
            </a:r>
          </a:p>
          <a:p>
            <a:pPr lvl="2"/>
            <a:r>
              <a:rPr lang="en-US" dirty="0"/>
              <a:t>Crucial for designing robust, scalable, and efficient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4954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1779-67E5-4966-B0F4-C0E1D48B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36227-9DFD-45A7-8F78-DB2DADD35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characteristic features</a:t>
            </a:r>
          </a:p>
          <a:p>
            <a:pPr lvl="1"/>
            <a:r>
              <a:rPr lang="en-US" dirty="0"/>
              <a:t>A collection of autonomous computing elements (</a:t>
            </a:r>
            <a:r>
              <a:rPr lang="en-US" dirty="0">
                <a:solidFill>
                  <a:srgbClr val="0070C0"/>
                </a:solidFill>
              </a:rPr>
              <a:t>nodes</a:t>
            </a:r>
            <a:r>
              <a:rPr lang="en-US" dirty="0"/>
              <a:t>) that behave independently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Node</a:t>
            </a:r>
            <a:r>
              <a:rPr lang="en-US" dirty="0"/>
              <a:t>: either a hardware device or a software process</a:t>
            </a:r>
          </a:p>
          <a:p>
            <a:pPr lvl="1"/>
            <a:r>
              <a:rPr lang="en-US" dirty="0"/>
              <a:t>Users believe they are dealing with a </a:t>
            </a:r>
            <a:r>
              <a:rPr lang="en-US" dirty="0">
                <a:solidFill>
                  <a:srgbClr val="0070C0"/>
                </a:solidFill>
              </a:rPr>
              <a:t>single</a:t>
            </a:r>
            <a:r>
              <a:rPr lang="en-US" dirty="0"/>
              <a:t> system</a:t>
            </a:r>
          </a:p>
          <a:p>
            <a:pPr lvl="2"/>
            <a:r>
              <a:rPr lang="en-US" dirty="0"/>
              <a:t>Implies </a:t>
            </a:r>
            <a:r>
              <a:rPr lang="en-US" dirty="0">
                <a:solidFill>
                  <a:srgbClr val="0070C0"/>
                </a:solidFill>
              </a:rPr>
              <a:t>collaboration</a:t>
            </a:r>
            <a:r>
              <a:rPr lang="en-US" dirty="0"/>
              <a:t> between nodes</a:t>
            </a:r>
          </a:p>
          <a:p>
            <a:pPr lvl="3"/>
            <a:r>
              <a:rPr lang="en-US" dirty="0"/>
              <a:t>How to establish collaboration is the key for distributed systems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55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BBB4-548E-4E67-A64D-4F2A57737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Characteristic 1: Collection of Autonomous Computing Elements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0F4E9-8815-47BE-9918-BD30EE6C0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distributed system consists of various kinds of </a:t>
            </a:r>
            <a:r>
              <a:rPr lang="en-US" dirty="0">
                <a:solidFill>
                  <a:schemeClr val="accent1"/>
                </a:solidFill>
              </a:rPr>
              <a:t>nodes</a:t>
            </a:r>
            <a:r>
              <a:rPr lang="en-US" dirty="0"/>
              <a:t> (</a:t>
            </a:r>
            <a:r>
              <a:rPr lang="en-US" i="1" dirty="0"/>
              <a:t>e.g.,</a:t>
            </a:r>
            <a:r>
              <a:rPr lang="en-US" dirty="0"/>
              <a:t> ranging from very high-performance computers to small hand-held devices)</a:t>
            </a:r>
          </a:p>
          <a:p>
            <a:r>
              <a:rPr lang="en-US" dirty="0">
                <a:solidFill>
                  <a:srgbClr val="0070C0"/>
                </a:solidFill>
              </a:rPr>
              <a:t>Nodes</a:t>
            </a:r>
          </a:p>
          <a:p>
            <a:pPr lvl="1"/>
            <a:r>
              <a:rPr lang="en-US" dirty="0"/>
              <a:t>High-performance computing systems, smartphones, embedded systems, </a:t>
            </a:r>
            <a:r>
              <a:rPr lang="en-US" i="1" dirty="0"/>
              <a:t>etc.</a:t>
            </a:r>
          </a:p>
          <a:p>
            <a:pPr lvl="1"/>
            <a:r>
              <a:rPr lang="en-US" dirty="0"/>
              <a:t>A fundamental principle is that nodes act independently each other</a:t>
            </a:r>
          </a:p>
          <a:p>
            <a:pPr lvl="1"/>
            <a:r>
              <a:rPr lang="en-US" dirty="0"/>
              <a:t>But they collaborate toward a common goal via exchange of </a:t>
            </a:r>
            <a:r>
              <a:rPr lang="en-US" dirty="0">
                <a:solidFill>
                  <a:srgbClr val="0070C0"/>
                </a:solidFill>
              </a:rPr>
              <a:t>messages</a:t>
            </a:r>
          </a:p>
          <a:p>
            <a:pPr lvl="1"/>
            <a:r>
              <a:rPr lang="en-US" dirty="0"/>
              <a:t>Each node has its </a:t>
            </a:r>
            <a:r>
              <a:rPr lang="en-US" dirty="0">
                <a:solidFill>
                  <a:srgbClr val="0070C0"/>
                </a:solidFill>
              </a:rPr>
              <a:t>own notion of time </a:t>
            </a:r>
            <a:r>
              <a:rPr lang="en-US" dirty="0"/>
              <a:t>(</a:t>
            </a:r>
            <a:r>
              <a:rPr lang="en-US" i="1" dirty="0"/>
              <a:t>i.e.,</a:t>
            </a:r>
            <a:r>
              <a:rPr lang="en-US" dirty="0"/>
              <a:t> cannot assume that there is always a global clock)</a:t>
            </a:r>
          </a:p>
          <a:p>
            <a:pPr lvl="2"/>
            <a:r>
              <a:rPr lang="en-US" dirty="0"/>
              <a:t>Requires </a:t>
            </a:r>
            <a:r>
              <a:rPr lang="en-US" dirty="0">
                <a:solidFill>
                  <a:schemeClr val="accent1"/>
                </a:solidFill>
              </a:rPr>
              <a:t>time synchronization </a:t>
            </a:r>
            <a:r>
              <a:rPr lang="en-US" dirty="0"/>
              <a:t>(</a:t>
            </a:r>
            <a:r>
              <a:rPr lang="en-US" b="1" u="sng" dirty="0"/>
              <a:t>Chapter 6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3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BD85-379A-4B45-80F7-4CABF5B0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Characteristic 1: Collection of Autonomous Computing Elements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C3471-8A62-4180-86A5-D3989BB54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2800" dirty="0"/>
              <a:t>Nodes are programmed to achieve the same goal.</a:t>
            </a:r>
          </a:p>
          <a:p>
            <a:pPr lvl="1"/>
            <a:r>
              <a:rPr lang="en-US" sz="2400" dirty="0"/>
              <a:t>We need to manage the membership and organization of nodes.</a:t>
            </a:r>
          </a:p>
          <a:p>
            <a:r>
              <a:rPr lang="en-US" sz="2800" dirty="0"/>
              <a:t>Nodes are often organized as </a:t>
            </a:r>
            <a:r>
              <a:rPr lang="en-US" sz="2800" dirty="0">
                <a:solidFill>
                  <a:srgbClr val="0070C0"/>
                </a:solidFill>
              </a:rPr>
              <a:t>an overlay network</a:t>
            </a:r>
          </a:p>
          <a:p>
            <a:pPr lvl="1"/>
            <a:r>
              <a:rPr lang="en-US" sz="2400" dirty="0"/>
              <a:t>A network of </a:t>
            </a:r>
            <a:r>
              <a:rPr lang="en-US" sz="2400" b="1" i="1" dirty="0"/>
              <a:t>“connected”</a:t>
            </a:r>
            <a:r>
              <a:rPr lang="en-US" sz="2400" dirty="0"/>
              <a:t> nodes</a:t>
            </a:r>
          </a:p>
        </p:txBody>
      </p:sp>
      <p:pic>
        <p:nvPicPr>
          <p:cNvPr id="1028" name="Picture 4" descr="PDF] Performance analysis and optimized operation of structured overlay  networks | Semantic Scholar">
            <a:extLst>
              <a:ext uri="{FF2B5EF4-FFF2-40B4-BE49-F238E27FC236}">
                <a16:creationId xmlns:a16="http://schemas.microsoft.com/office/drawing/2014/main" id="{B2C00DFF-8953-06B0-341F-041771B8E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975679"/>
            <a:ext cx="5105400" cy="279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0853D-AD08-1CCC-7D21-9113CEBD5B9F}"/>
              </a:ext>
            </a:extLst>
          </p:cNvPr>
          <p:cNvSpPr txBox="1"/>
          <p:nvPr/>
        </p:nvSpPr>
        <p:spPr>
          <a:xfrm>
            <a:off x="647117" y="5892471"/>
            <a:ext cx="2446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Physical Network:</a:t>
            </a:r>
          </a:p>
          <a:p>
            <a:r>
              <a:rPr lang="en-US" sz="1400" dirty="0"/>
              <a:t>- A network of actual hardware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AD6D5-C123-8AE4-40FF-C4EBBCE72D88}"/>
              </a:ext>
            </a:extLst>
          </p:cNvPr>
          <p:cNvSpPr txBox="1"/>
          <p:nvPr/>
        </p:nvSpPr>
        <p:spPr>
          <a:xfrm>
            <a:off x="616991" y="4191000"/>
            <a:ext cx="278999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Overlay Network:</a:t>
            </a:r>
          </a:p>
          <a:p>
            <a:r>
              <a:rPr lang="en-US" sz="1400" dirty="0"/>
              <a:t>- A virtual network built on top of a </a:t>
            </a:r>
          </a:p>
          <a:p>
            <a:r>
              <a:rPr lang="en-US" sz="1400" dirty="0"/>
              <a:t>physical network</a:t>
            </a:r>
          </a:p>
          <a:p>
            <a:r>
              <a:rPr lang="en-US" sz="1400" dirty="0"/>
              <a:t>- Represents a logical connection </a:t>
            </a:r>
          </a:p>
          <a:p>
            <a:r>
              <a:rPr lang="en-US" sz="1400" dirty="0"/>
              <a:t>between nodes.</a:t>
            </a:r>
          </a:p>
        </p:txBody>
      </p:sp>
    </p:spTree>
    <p:extLst>
      <p:ext uri="{BB962C8B-B14F-4D97-AF65-F5344CB8AC3E}">
        <p14:creationId xmlns:p14="http://schemas.microsoft.com/office/powerpoint/2010/main" val="87541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F64F5-E3B0-4DC5-D833-FC868D293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Characteristic 1: Collection of Autonomous Computing Elements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C9BD0-926E-2CD4-C188-8722E0F11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Two types of overlay networks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Structured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overlay</a:t>
            </a:r>
            <a:r>
              <a:rPr lang="en-US" dirty="0"/>
              <a:t>: well-defined neighboring nodes with whom it can communicate (e.g., tree or ring)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Unstructured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overlay</a:t>
            </a:r>
            <a:r>
              <a:rPr lang="en-US" dirty="0"/>
              <a:t>: randomly selected neighboring nodes (e.g., mobile network)</a:t>
            </a:r>
          </a:p>
          <a:p>
            <a:endParaRPr lang="en-US" dirty="0"/>
          </a:p>
        </p:txBody>
      </p:sp>
      <p:pic>
        <p:nvPicPr>
          <p:cNvPr id="2050" name="Picture 2" descr="Difference between Ring Topology and Tree Topology - GeeksforGeeks">
            <a:extLst>
              <a:ext uri="{FF2B5EF4-FFF2-40B4-BE49-F238E27FC236}">
                <a16:creationId xmlns:a16="http://schemas.microsoft.com/office/drawing/2014/main" id="{6F567917-A59C-2960-28B1-824CE7683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962400"/>
            <a:ext cx="3157312" cy="245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fference between Tree Topology and Bus Topology - GeeksforGeeks">
            <a:extLst>
              <a:ext uri="{FF2B5EF4-FFF2-40B4-BE49-F238E27FC236}">
                <a16:creationId xmlns:a16="http://schemas.microsoft.com/office/drawing/2014/main" id="{98733E08-EE51-CBB4-7D96-67D86DAE8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4230768"/>
            <a:ext cx="3168650" cy="191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31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4EBA-F07D-48EE-A459-3DC4AA6D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Characteristic 2: </a:t>
            </a:r>
            <a:br>
              <a:rPr lang="en-US" dirty="0"/>
            </a:br>
            <a:r>
              <a:rPr lang="en-US" dirty="0"/>
              <a:t>Single Coherent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5DBE-5231-40FD-A7CC-D19EFF9B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do not notice that they are interacting with multiple nodes dispersed over a network.</a:t>
            </a:r>
          </a:p>
          <a:p>
            <a:r>
              <a:rPr lang="en-US" dirty="0">
                <a:solidFill>
                  <a:srgbClr val="0070C0"/>
                </a:solidFill>
              </a:rPr>
              <a:t>Distribution transparency</a:t>
            </a:r>
          </a:p>
          <a:p>
            <a:pPr lvl="1"/>
            <a:r>
              <a:rPr lang="en-US" dirty="0"/>
              <a:t>An important design goal of a distributed system</a:t>
            </a:r>
          </a:p>
          <a:p>
            <a:pPr lvl="1"/>
            <a:r>
              <a:rPr lang="en-US" dirty="0"/>
              <a:t>It does not matter on which node a process is running and data is stored.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894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5EDD3-EB85-8726-D870-8F4A921A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EF0E-1BBD-F410-4194-016E1934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Middleware and Distributed Systems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0AFB-9186-73E2-1BC6-93926DBB0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 distributed system consists of </a:t>
            </a:r>
            <a:r>
              <a:rPr lang="en-US" sz="2400" dirty="0">
                <a:solidFill>
                  <a:srgbClr val="C00000"/>
                </a:solidFill>
              </a:rPr>
              <a:t>heterogeneous nodes</a:t>
            </a:r>
            <a:r>
              <a:rPr lang="en-US" sz="2400" dirty="0"/>
              <a:t>. </a:t>
            </a:r>
          </a:p>
          <a:p>
            <a:pPr lvl="1"/>
            <a:r>
              <a:rPr lang="en-US" sz="2000" dirty="0"/>
              <a:t>e.g., different operating systems, different hardware, different interfaces, </a:t>
            </a:r>
            <a:r>
              <a:rPr lang="en-US" sz="2000" i="1" dirty="0"/>
              <a:t>etc.</a:t>
            </a:r>
          </a:p>
          <a:p>
            <a:r>
              <a:rPr lang="en-US" sz="2400" dirty="0"/>
              <a:t>To assist development of a distributed system with heterogenous nodes, there is a separate layer on top of an operating system – this is called the </a:t>
            </a:r>
            <a:r>
              <a:rPr lang="en-US" sz="2400" dirty="0">
                <a:solidFill>
                  <a:srgbClr val="0070C0"/>
                </a:solidFill>
              </a:rPr>
              <a:t>middleware (distributed-system layer)</a:t>
            </a:r>
            <a:r>
              <a:rPr lang="en-US" sz="2400" dirty="0"/>
              <a:t>.</a:t>
            </a:r>
          </a:p>
          <a:p>
            <a:pPr lvl="1"/>
            <a:r>
              <a:rPr lang="en-US" sz="2000" dirty="0"/>
              <a:t>Hides the differences of different hardware and OS</a:t>
            </a:r>
          </a:p>
          <a:p>
            <a:pPr lvl="1"/>
            <a:r>
              <a:rPr lang="en-US" sz="2000" dirty="0"/>
              <a:t>Exposes a common interface</a:t>
            </a:r>
          </a:p>
        </p:txBody>
      </p:sp>
    </p:spTree>
    <p:extLst>
      <p:ext uri="{BB962C8B-B14F-4D97-AF65-F5344CB8AC3E}">
        <p14:creationId xmlns:p14="http://schemas.microsoft.com/office/powerpoint/2010/main" val="1986251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358B-3706-447A-899E-BB9EEAE8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Middleware and Distributed Systems (2/3)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5DF4505-2C49-4F9A-84E2-88E8777EB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2438400"/>
            <a:ext cx="6324600" cy="31832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BA20D6-2F8E-48A7-BAB0-57C0A80DC50D}"/>
              </a:ext>
            </a:extLst>
          </p:cNvPr>
          <p:cNvSpPr txBox="1"/>
          <p:nvPr/>
        </p:nvSpPr>
        <p:spPr>
          <a:xfrm>
            <a:off x="4419600" y="2146852"/>
            <a:ext cx="478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 B is distributed across two computers/nodes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5A9484-28F0-4425-AC63-59395A0E9CF7}"/>
              </a:ext>
            </a:extLst>
          </p:cNvPr>
          <p:cNvCxnSpPr>
            <a:cxnSpLocks/>
          </p:cNvCxnSpPr>
          <p:nvPr/>
        </p:nvCxnSpPr>
        <p:spPr>
          <a:xfrm flipH="1">
            <a:off x="4572000" y="2516184"/>
            <a:ext cx="152400" cy="836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72C97F1-4D22-4FA8-9338-D7A0213D1AA0}"/>
              </a:ext>
            </a:extLst>
          </p:cNvPr>
          <p:cNvSpPr txBox="1"/>
          <p:nvPr/>
        </p:nvSpPr>
        <p:spPr>
          <a:xfrm>
            <a:off x="202545" y="4382998"/>
            <a:ext cx="1461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Provides </a:t>
            </a:r>
          </a:p>
          <a:p>
            <a:r>
              <a:rPr lang="en-US" dirty="0"/>
              <a:t>means for </a:t>
            </a:r>
          </a:p>
          <a:p>
            <a:r>
              <a:rPr lang="en-US" dirty="0"/>
              <a:t>apps to </a:t>
            </a:r>
          </a:p>
          <a:p>
            <a:r>
              <a:rPr lang="en-US" dirty="0"/>
              <a:t>communicate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03A7B2-D1B9-4A2D-8EBB-2A4E25C009D5}"/>
              </a:ext>
            </a:extLst>
          </p:cNvPr>
          <p:cNvCxnSpPr>
            <a:cxnSpLocks/>
          </p:cNvCxnSpPr>
          <p:nvPr/>
        </p:nvCxnSpPr>
        <p:spPr>
          <a:xfrm flipV="1">
            <a:off x="1295400" y="4344722"/>
            <a:ext cx="1752600" cy="303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935A8C-5EB8-42EC-94A5-F27E7E7DFC47}"/>
              </a:ext>
            </a:extLst>
          </p:cNvPr>
          <p:cNvSpPr txBox="1"/>
          <p:nvPr/>
        </p:nvSpPr>
        <p:spPr>
          <a:xfrm>
            <a:off x="7848600" y="4251723"/>
            <a:ext cx="13621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Hides the </a:t>
            </a:r>
          </a:p>
          <a:p>
            <a:r>
              <a:rPr lang="en-US" dirty="0"/>
              <a:t>differences </a:t>
            </a:r>
          </a:p>
          <a:p>
            <a:r>
              <a:rPr lang="en-US" dirty="0"/>
              <a:t>in hardware </a:t>
            </a:r>
          </a:p>
          <a:p>
            <a:r>
              <a:rPr lang="en-US" dirty="0"/>
              <a:t>and OS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E1594A-EDF7-434A-87C9-5E0FC5132D7B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4344722"/>
            <a:ext cx="1752600" cy="38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297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FA9D-4E3D-4CBC-B400-89E9338B9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Middleware and Distributed Systems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7133-0700-43BB-99C4-F206F02B3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Middleware services</a:t>
            </a:r>
          </a:p>
          <a:p>
            <a:pPr lvl="1"/>
            <a:r>
              <a:rPr lang="en-US" dirty="0"/>
              <a:t>Inter-application communication</a:t>
            </a:r>
          </a:p>
          <a:p>
            <a:pPr lvl="2"/>
            <a:r>
              <a:rPr lang="en-US" dirty="0"/>
              <a:t>Communication between applications with different interfaces</a:t>
            </a:r>
          </a:p>
          <a:p>
            <a:pPr lvl="1"/>
            <a:r>
              <a:rPr lang="en-US" dirty="0"/>
              <a:t>Security services</a:t>
            </a:r>
          </a:p>
          <a:p>
            <a:pPr lvl="2"/>
            <a:r>
              <a:rPr lang="en-US" dirty="0"/>
              <a:t>Secure access to distributed system components</a:t>
            </a:r>
          </a:p>
          <a:p>
            <a:pPr lvl="1"/>
            <a:r>
              <a:rPr lang="en-US" dirty="0"/>
              <a:t>Accounting services</a:t>
            </a:r>
          </a:p>
          <a:p>
            <a:pPr lvl="2"/>
            <a:r>
              <a:rPr lang="en-US" dirty="0"/>
              <a:t>User management </a:t>
            </a:r>
          </a:p>
          <a:p>
            <a:pPr lvl="1"/>
            <a:r>
              <a:rPr lang="en-US" dirty="0"/>
              <a:t>Recovery from failures</a:t>
            </a:r>
          </a:p>
        </p:txBody>
      </p:sp>
    </p:spTree>
    <p:extLst>
      <p:ext uri="{BB962C8B-B14F-4D97-AF65-F5344CB8AC3E}">
        <p14:creationId xmlns:p14="http://schemas.microsoft.com/office/powerpoint/2010/main" val="2466200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A579-E98A-47D2-BD8E-9E9F358E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/>
          <a:lstStyle/>
          <a:p>
            <a:r>
              <a:rPr lang="en-US" dirty="0"/>
              <a:t>Design Goals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95C62-6850-4988-92E9-1D476AB2D6BE}"/>
              </a:ext>
            </a:extLst>
          </p:cNvPr>
          <p:cNvSpPr txBox="1"/>
          <p:nvPr/>
        </p:nvSpPr>
        <p:spPr>
          <a:xfrm>
            <a:off x="1219200" y="3727174"/>
            <a:ext cx="7065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 goals to meet to make building a distributed system worth the effort.</a:t>
            </a:r>
          </a:p>
        </p:txBody>
      </p:sp>
    </p:spTree>
    <p:extLst>
      <p:ext uri="{BB962C8B-B14F-4D97-AF65-F5344CB8AC3E}">
        <p14:creationId xmlns:p14="http://schemas.microsoft.com/office/powerpoint/2010/main" val="2705023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7F8F-9024-4A34-8F61-C49C8665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Supporting Resource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49EF5-CC3E-4452-AB48-C730BFA4A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Resources: </a:t>
            </a:r>
            <a:r>
              <a:rPr lang="en-US" dirty="0"/>
              <a:t>data, files, services, hardware, </a:t>
            </a:r>
            <a:r>
              <a:rPr lang="en-US" i="1" dirty="0"/>
              <a:t>etc.</a:t>
            </a:r>
          </a:p>
          <a:p>
            <a:r>
              <a:rPr lang="en-US" dirty="0"/>
              <a:t>Why share resources</a:t>
            </a:r>
          </a:p>
          <a:p>
            <a:pPr lvl="1"/>
            <a:r>
              <a:rPr lang="en-US" i="1" dirty="0"/>
              <a:t>Cheaper</a:t>
            </a:r>
            <a:r>
              <a:rPr lang="en-US" dirty="0"/>
              <a:t> to have a single resource </a:t>
            </a:r>
          </a:p>
          <a:p>
            <a:pPr lvl="1"/>
            <a:r>
              <a:rPr lang="en-US" i="1" dirty="0"/>
              <a:t>Easier</a:t>
            </a:r>
            <a:r>
              <a:rPr lang="en-US" dirty="0"/>
              <a:t> collaboration and data exchange among nodes by allowing them to share resources</a:t>
            </a:r>
          </a:p>
          <a:p>
            <a:pPr lvl="2"/>
            <a:r>
              <a:rPr lang="en-US" i="1" dirty="0"/>
              <a:t>e.g., </a:t>
            </a:r>
            <a:r>
              <a:rPr lang="en-US" dirty="0"/>
              <a:t>the Internet, peer-to-peer networks like BitTorrent</a:t>
            </a:r>
          </a:p>
          <a:p>
            <a:r>
              <a:rPr lang="en-US" dirty="0"/>
              <a:t>Make it easy for users to access and share resources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6EB4-642D-4ABC-86F2-F4A81C70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Making Distribution Transparent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0EC58-92ED-41F8-88F8-90CA6D4BD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Hide the fact that processes/resources are dispersed across multiple computers</a:t>
            </a:r>
          </a:p>
          <a:p>
            <a:pPr lvl="1"/>
            <a:r>
              <a:rPr lang="en-US" dirty="0"/>
              <a:t>Processes and resources are invisible to end users and applications</a:t>
            </a:r>
          </a:p>
          <a:p>
            <a:pPr lvl="1"/>
            <a:r>
              <a:rPr lang="en-US" dirty="0"/>
              <a:t>End users and applications are only aware of the interface that the distributed system exposes.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970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7E908-260E-4531-97AC-051399254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Making Distribution Transparent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60B04-CFD8-4790-B2D3-6692FE936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Types of distribution transparency</a:t>
            </a:r>
          </a:p>
          <a:p>
            <a:pPr lvl="2"/>
            <a:r>
              <a:rPr lang="en-US" dirty="0"/>
              <a:t>Here, the term </a:t>
            </a:r>
            <a:r>
              <a:rPr lang="en-US" dirty="0">
                <a:solidFill>
                  <a:schemeClr val="accent1"/>
                </a:solidFill>
              </a:rPr>
              <a:t>object</a:t>
            </a:r>
            <a:r>
              <a:rPr lang="en-US" dirty="0"/>
              <a:t> means a process or a resource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D154866-A6DB-401E-966A-1524041CB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8490"/>
            <a:ext cx="9144000" cy="399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79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89E7-60E1-4E16-9A6E-DD58D74A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Open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629B-077F-4A8D-A4B2-A22B66B06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Should be easy to use and can be </a:t>
            </a:r>
            <a:r>
              <a:rPr lang="en-US" dirty="0">
                <a:solidFill>
                  <a:srgbClr val="0070C0"/>
                </a:solidFill>
              </a:rPr>
              <a:t>easily integrated</a:t>
            </a:r>
            <a:r>
              <a:rPr lang="en-US" dirty="0"/>
              <a:t> with other systems by achieving the following.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Interoperability</a:t>
            </a:r>
            <a:r>
              <a:rPr lang="en-US" dirty="0"/>
              <a:t>: two different implementations of systems/components can co-exist and work together by following a common </a:t>
            </a:r>
            <a:r>
              <a:rPr lang="en-US" dirty="0">
                <a:solidFill>
                  <a:schemeClr val="accent1"/>
                </a:solidFill>
              </a:rPr>
              <a:t>standard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Portability</a:t>
            </a:r>
            <a:r>
              <a:rPr lang="en-US" dirty="0"/>
              <a:t>: a system/component can be executed, without modification, on a different system/component.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Extensibility</a:t>
            </a:r>
            <a:r>
              <a:rPr lang="en-US" dirty="0"/>
              <a:t>: it should be easy to add new components to a distributed system or replace existing ones.</a:t>
            </a:r>
          </a:p>
        </p:txBody>
      </p:sp>
    </p:spTree>
    <p:extLst>
      <p:ext uri="{BB962C8B-B14F-4D97-AF65-F5344CB8AC3E}">
        <p14:creationId xmlns:p14="http://schemas.microsoft.com/office/powerpoint/2010/main" val="2377905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B75-A12D-4A59-A3BA-546EA0DC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Scalable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E15DB-327A-4185-843F-A55F2E26A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size of a distributed system should be easily extended.</a:t>
            </a:r>
          </a:p>
          <a:p>
            <a:r>
              <a:rPr lang="en-US" dirty="0"/>
              <a:t>Scalability in three different dimensions.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Size scalability</a:t>
            </a:r>
            <a:r>
              <a:rPr lang="en-US" dirty="0"/>
              <a:t>: easily add more users and resources without any noticeable loss of performance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Geographical scalability</a:t>
            </a:r>
            <a:r>
              <a:rPr lang="en-US" dirty="0"/>
              <a:t>: users and resources may lie geographically far apart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Administrative scalability</a:t>
            </a:r>
            <a:r>
              <a:rPr lang="en-US" dirty="0"/>
              <a:t>: easily manageable even if the distributed system spans many independent administrative domains.</a:t>
            </a:r>
          </a:p>
          <a:p>
            <a:pPr lvl="2"/>
            <a:r>
              <a:rPr lang="en-US" dirty="0"/>
              <a:t>Challenges are conflicting policies </a:t>
            </a:r>
            <a:r>
              <a:rPr lang="en-US" dirty="0" err="1"/>
              <a:t>w.r.t.</a:t>
            </a:r>
            <a:r>
              <a:rPr lang="en-US" dirty="0"/>
              <a:t> resource usage, management, and security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01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58766-6085-41CC-9FBF-3F718E64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Techniques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B9403-BF63-4ADE-B613-58FB898BE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How do we achieve scalability?</a:t>
            </a:r>
          </a:p>
          <a:p>
            <a:pPr marL="0" indent="0">
              <a:buNone/>
            </a:pPr>
            <a:r>
              <a:rPr lang="en-US" dirty="0"/>
              <a:t>   (1) by hiding communication latencies</a:t>
            </a:r>
          </a:p>
          <a:p>
            <a:pPr lvl="1"/>
            <a:r>
              <a:rPr lang="en-US" dirty="0"/>
              <a:t>Applicable for </a:t>
            </a:r>
            <a:r>
              <a:rPr lang="en-US" dirty="0">
                <a:solidFill>
                  <a:srgbClr val="0070C0"/>
                </a:solidFill>
              </a:rPr>
              <a:t>geographical scalability</a:t>
            </a:r>
          </a:p>
          <a:p>
            <a:pPr lvl="2"/>
            <a:r>
              <a:rPr lang="en-US" dirty="0"/>
              <a:t>Even if two nodes lie far apart, by hiding the communication latency, the user does not know whether the two nodes actually lie far apart.</a:t>
            </a:r>
          </a:p>
          <a:p>
            <a:pPr lvl="1"/>
            <a:r>
              <a:rPr lang="en-US" dirty="0"/>
              <a:t>How to hide the latency: </a:t>
            </a:r>
            <a:r>
              <a:rPr lang="en-US" dirty="0">
                <a:solidFill>
                  <a:srgbClr val="0070C0"/>
                </a:solidFill>
              </a:rPr>
              <a:t>Asynchronous communication (does not wait for a reply)</a:t>
            </a:r>
            <a:r>
              <a:rPr lang="en-US" dirty="0"/>
              <a:t> -&gt; can do other useful work while waiting for a reply message</a:t>
            </a:r>
          </a:p>
          <a:p>
            <a:pPr lvl="2"/>
            <a:r>
              <a:rPr lang="en-US" dirty="0"/>
              <a:t>How about interactive applications (must receive a reply within a time bound, </a:t>
            </a:r>
            <a:r>
              <a:rPr lang="en-US" i="1" dirty="0"/>
              <a:t>i.e., </a:t>
            </a:r>
            <a:r>
              <a:rPr lang="en-US" dirty="0"/>
              <a:t>the asynchronous communication is not an appropriate solution)?</a:t>
            </a:r>
          </a:p>
          <a:p>
            <a:pPr lvl="3"/>
            <a:r>
              <a:rPr lang="en-US" dirty="0">
                <a:solidFill>
                  <a:srgbClr val="0070C0"/>
                </a:solidFill>
              </a:rPr>
              <a:t>Reduce communication</a:t>
            </a:r>
            <a:r>
              <a:rPr lang="en-US" dirty="0"/>
              <a:t>, </a:t>
            </a:r>
            <a:r>
              <a:rPr lang="en-US" i="1" dirty="0"/>
              <a:t>e.g., </a:t>
            </a:r>
            <a:r>
              <a:rPr lang="en-US" dirty="0"/>
              <a:t>move part of computation from server to client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96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B9F9-512A-48D2-8D98-E463C3C7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Techniques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BF07C-E462-402D-8CCC-1E779471D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   (2) by partitioning and distribution</a:t>
            </a:r>
          </a:p>
          <a:p>
            <a:pPr lvl="1"/>
            <a:r>
              <a:rPr lang="en-US" sz="2400" dirty="0"/>
              <a:t>Splitting a component (or a task) into smaller pieces and distributing it across the system/network so that no one node is burdened with too much task.</a:t>
            </a:r>
          </a:p>
          <a:p>
            <a:pPr lvl="2"/>
            <a:r>
              <a:rPr lang="en-US" sz="2000" i="1" dirty="0"/>
              <a:t>e.g., </a:t>
            </a:r>
            <a:r>
              <a:rPr lang="en-US" sz="2000" dirty="0"/>
              <a:t>Domain name system (DNS) (URL -&gt; IP address)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FD587-8D9D-42DB-AC7B-CD11D88B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200400"/>
            <a:ext cx="5029200" cy="22437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7E4A00-4F75-7170-2A46-FD6E090AAD02}"/>
              </a:ext>
            </a:extLst>
          </p:cNvPr>
          <p:cNvSpPr txBox="1"/>
          <p:nvPr/>
        </p:nvSpPr>
        <p:spPr>
          <a:xfrm>
            <a:off x="1045040" y="5361248"/>
            <a:ext cx="79900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domain name space is hierarchically organized into a tree of domains. Some of </a:t>
            </a:r>
          </a:p>
          <a:p>
            <a:r>
              <a:rPr lang="en-US" dirty="0"/>
              <a:t>the nodes are grouped as a non-overlapping zone.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Instead of making a single system to manage all the domain names, we divide the 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component into smaller pieces and different servers manage a </a:t>
            </a:r>
          </a:p>
          <a:p>
            <a:r>
              <a:rPr lang="en-US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certain portion of domain names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853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01FC-7B36-4D6D-A9C0-971EAF47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Techniques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A401-DB27-4A28-AE5A-8B899BCDB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(3) by replication</a:t>
            </a:r>
          </a:p>
          <a:p>
            <a:pPr lvl="1"/>
            <a:r>
              <a:rPr lang="en-US" dirty="0"/>
              <a:t>Increases </a:t>
            </a:r>
            <a:r>
              <a:rPr lang="en-US" dirty="0">
                <a:solidFill>
                  <a:srgbClr val="0070C0"/>
                </a:solidFill>
              </a:rPr>
              <a:t>performance</a:t>
            </a:r>
            <a:r>
              <a:rPr lang="en-US" dirty="0"/>
              <a:t> of a large-scale system by balancing the load on replicated systems.</a:t>
            </a:r>
          </a:p>
          <a:p>
            <a:pPr lvl="1"/>
            <a:r>
              <a:rPr lang="en-US" dirty="0"/>
              <a:t>May address the </a:t>
            </a:r>
            <a:r>
              <a:rPr lang="en-US" dirty="0">
                <a:solidFill>
                  <a:srgbClr val="0070C0"/>
                </a:solidFill>
              </a:rPr>
              <a:t>latency issue </a:t>
            </a:r>
            <a:r>
              <a:rPr lang="en-US" dirty="0"/>
              <a:t>by placing a replicated system nearby.</a:t>
            </a:r>
          </a:p>
          <a:p>
            <a:pPr lvl="1"/>
            <a:r>
              <a:rPr lang="en-US" dirty="0"/>
              <a:t>Drawback (</a:t>
            </a:r>
            <a:r>
              <a:rPr lang="en-US" dirty="0">
                <a:solidFill>
                  <a:srgbClr val="0070C0"/>
                </a:solidFill>
              </a:rPr>
              <a:t>consistency problem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Modifying one copy makes the copy different from the others.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Global synchronization mechanism</a:t>
            </a:r>
          </a:p>
        </p:txBody>
      </p:sp>
    </p:spTree>
    <p:extLst>
      <p:ext uri="{BB962C8B-B14F-4D97-AF65-F5344CB8AC3E}">
        <p14:creationId xmlns:p14="http://schemas.microsoft.com/office/powerpoint/2010/main" val="3011482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A579-E98A-47D2-BD8E-9E9F358E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/>
          <a:lstStyle/>
          <a:p>
            <a:r>
              <a:rPr lang="en-US" dirty="0"/>
              <a:t>Types of Distributed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F89BF-1B81-4523-92C9-FADDFB9CDDB9}"/>
              </a:ext>
            </a:extLst>
          </p:cNvPr>
          <p:cNvSpPr txBox="1"/>
          <p:nvPr/>
        </p:nvSpPr>
        <p:spPr>
          <a:xfrm>
            <a:off x="1155006" y="3733800"/>
            <a:ext cx="6833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Before we discuss the principles of distributed systems, let us first take </a:t>
            </a:r>
          </a:p>
          <a:p>
            <a:pPr algn="ctr"/>
            <a:r>
              <a:rPr lang="en-US" dirty="0"/>
              <a:t>a closer look at the various types of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504774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B896-9D62-4CCC-AE81-53C978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High Performance Distributed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7E2E6-BCE4-498A-A268-2F2B15E9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distributed system for </a:t>
            </a:r>
            <a:r>
              <a:rPr lang="en-US" b="1" dirty="0"/>
              <a:t>high-performance computing</a:t>
            </a:r>
            <a:r>
              <a:rPr lang="en-US" dirty="0"/>
              <a:t> tasks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Cluster computing </a:t>
            </a:r>
          </a:p>
          <a:p>
            <a:pPr lvl="2"/>
            <a:r>
              <a:rPr lang="en-US" dirty="0"/>
              <a:t>Similar workstations/PCs connected via high-speed LAN</a:t>
            </a:r>
          </a:p>
          <a:p>
            <a:pPr lvl="2"/>
            <a:r>
              <a:rPr lang="en-US" dirty="0"/>
              <a:t>Each node runs the same OS (in most cases)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Grid computing</a:t>
            </a:r>
          </a:p>
          <a:p>
            <a:pPr lvl="2"/>
            <a:r>
              <a:rPr lang="en-US" dirty="0"/>
              <a:t>Similar to cluster computing</a:t>
            </a:r>
          </a:p>
          <a:p>
            <a:pPr lvl="2"/>
            <a:r>
              <a:rPr lang="en-US" dirty="0"/>
              <a:t>Constructed as </a:t>
            </a:r>
            <a:r>
              <a:rPr lang="en-US" b="1" dirty="0"/>
              <a:t>federation</a:t>
            </a:r>
            <a:r>
              <a:rPr lang="en-US" dirty="0"/>
              <a:t> of computer systems (</a:t>
            </a:r>
            <a:r>
              <a:rPr lang="en-US" i="1" dirty="0"/>
              <a:t>i.e., </a:t>
            </a:r>
            <a:r>
              <a:rPr lang="en-US" dirty="0"/>
              <a:t>each system falls under </a:t>
            </a:r>
            <a:r>
              <a:rPr lang="en-US" b="1" dirty="0"/>
              <a:t>different administrative domain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e.g., </a:t>
            </a:r>
            <a:r>
              <a:rPr lang="en-US" b="1" dirty="0"/>
              <a:t>Internet:</a:t>
            </a:r>
            <a:r>
              <a:rPr lang="en-US" dirty="0"/>
              <a:t> Different universities, companies, governments, and Internet service providers manage their own networks, but all of those networks communicate using common protocols.</a:t>
            </a:r>
          </a:p>
          <a:p>
            <a:pPr lvl="2"/>
            <a:r>
              <a:rPr lang="en-US" dirty="0"/>
              <a:t>Different hardware, software, network technology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Cloud computing</a:t>
            </a:r>
          </a:p>
          <a:p>
            <a:pPr lvl="2"/>
            <a:r>
              <a:rPr lang="en-US" dirty="0"/>
              <a:t>Similar to grid computing, but focused on providing </a:t>
            </a:r>
            <a:r>
              <a:rPr lang="en-US" dirty="0">
                <a:solidFill>
                  <a:schemeClr val="accent1"/>
                </a:solidFill>
              </a:rPr>
              <a:t>virtualized interface </a:t>
            </a:r>
            <a:r>
              <a:rPr lang="en-US" dirty="0"/>
              <a:t>to users</a:t>
            </a:r>
          </a:p>
        </p:txBody>
      </p:sp>
    </p:spTree>
    <p:extLst>
      <p:ext uri="{BB962C8B-B14F-4D97-AF65-F5344CB8AC3E}">
        <p14:creationId xmlns:p14="http://schemas.microsoft.com/office/powerpoint/2010/main" val="4287527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FE6B-83E7-4E88-BA69-EB34E0DA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 Computing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6F3FE-D545-4EB6-9B04-B3AC613E8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26" y="1166018"/>
            <a:ext cx="8229600" cy="569198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Cluster computing</a:t>
            </a:r>
          </a:p>
          <a:p>
            <a:pPr lvl="1"/>
            <a:r>
              <a:rPr lang="en-US" sz="2000" dirty="0"/>
              <a:t>A collection of computers connected in a high-speed network</a:t>
            </a:r>
          </a:p>
          <a:p>
            <a:pPr lvl="1"/>
            <a:r>
              <a:rPr lang="en-US" sz="2000" dirty="0"/>
              <a:t>Mostly used for </a:t>
            </a:r>
            <a:r>
              <a:rPr lang="en-US" sz="2000" dirty="0">
                <a:solidFill>
                  <a:srgbClr val="0070C0"/>
                </a:solidFill>
              </a:rPr>
              <a:t>parallel programming </a:t>
            </a:r>
            <a:r>
              <a:rPr lang="en-US" sz="2000" dirty="0"/>
              <a:t>(</a:t>
            </a:r>
            <a:r>
              <a:rPr lang="en-US" sz="2000" i="1" dirty="0"/>
              <a:t>i.e., </a:t>
            </a:r>
            <a:r>
              <a:rPr lang="en-US" sz="2000" dirty="0"/>
              <a:t>running a single computation intensive task in parallel on multiple machines)</a:t>
            </a:r>
          </a:p>
          <a:p>
            <a:pPr lvl="1"/>
            <a:r>
              <a:rPr lang="en-US" sz="2000" dirty="0"/>
              <a:t>Each cluster consists of a collection of compute nodes and accessed by means of a single </a:t>
            </a:r>
            <a:r>
              <a:rPr lang="en-US" sz="2000" dirty="0">
                <a:solidFill>
                  <a:srgbClr val="0070C0"/>
                </a:solidFill>
              </a:rPr>
              <a:t>master node</a:t>
            </a:r>
            <a:r>
              <a:rPr lang="en-US" sz="2000" dirty="0"/>
              <a:t>.</a:t>
            </a:r>
          </a:p>
          <a:p>
            <a:pPr lvl="2"/>
            <a:r>
              <a:rPr lang="en-US" sz="1600" b="1" dirty="0"/>
              <a:t>Master node </a:t>
            </a:r>
            <a:r>
              <a:rPr lang="en-US" sz="1600" dirty="0"/>
              <a:t>-&gt; allocation of jobs to nodes, maintenance of a batch queue of jobs submitted, provision of interface to users</a:t>
            </a:r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r>
              <a:rPr lang="en-US" sz="1600" dirty="0"/>
              <a:t>\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9272B327-5BB8-41A8-902B-92626ABFE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12009"/>
            <a:ext cx="5943600" cy="2316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96C114-DD04-8850-4FC5-6B6BFB2DFC3E}"/>
              </a:ext>
            </a:extLst>
          </p:cNvPr>
          <p:cNvSpPr txBox="1"/>
          <p:nvPr/>
        </p:nvSpPr>
        <p:spPr>
          <a:xfrm>
            <a:off x="6855390" y="5368816"/>
            <a:ext cx="2125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 and control </a:t>
            </a:r>
          </a:p>
          <a:p>
            <a:r>
              <a:rPr lang="en-US" dirty="0"/>
              <a:t>the compute nodes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CA4FC-9281-CF93-6071-F1B9CEC964DF}"/>
              </a:ext>
            </a:extLst>
          </p:cNvPr>
          <p:cNvSpPr txBox="1"/>
          <p:nvPr/>
        </p:nvSpPr>
        <p:spPr>
          <a:xfrm>
            <a:off x="4343676" y="6451454"/>
            <a:ext cx="463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Used for transmitting computation-related data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0106BB-553E-B834-F1CB-23B19CA7F537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6328228"/>
            <a:ext cx="228600" cy="148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3CE88F-26BC-D037-506B-B06939EF6B54}"/>
              </a:ext>
            </a:extLst>
          </p:cNvPr>
          <p:cNvCxnSpPr>
            <a:cxnSpLocks/>
          </p:cNvCxnSpPr>
          <p:nvPr/>
        </p:nvCxnSpPr>
        <p:spPr>
          <a:xfrm flipH="1">
            <a:off x="5743401" y="5783497"/>
            <a:ext cx="1096926" cy="176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584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luster Computing - cloudc&amp;clusterc">
            <a:extLst>
              <a:ext uri="{FF2B5EF4-FFF2-40B4-BE49-F238E27FC236}">
                <a16:creationId xmlns:a16="http://schemas.microsoft.com/office/drawing/2014/main" id="{51F15AF9-3F08-6D46-8213-B8B709BA5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pinlab: The Signal Processing and Information Networking Laboratory">
            <a:extLst>
              <a:ext uri="{FF2B5EF4-FFF2-40B4-BE49-F238E27FC236}">
                <a16:creationId xmlns:a16="http://schemas.microsoft.com/office/drawing/2014/main" id="{F86727D8-119A-7AF4-37A4-078F8C4DB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5080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215551-A50C-9B94-53A3-C1920B6BC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700130"/>
            <a:ext cx="56515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25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8011-BA95-11F4-65BB-B933322E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Cluster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F3298-025C-00CF-830A-D9B0243C5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Advantages</a:t>
            </a:r>
          </a:p>
          <a:p>
            <a:pPr lvl="1" algn="just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High Performance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 systems offer better and enhanced performance than that of mainframe computer networks.</a:t>
            </a:r>
          </a:p>
          <a:p>
            <a:pPr lvl="1" algn="just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Easy to manage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Cluster Computing is manageable and easy to implement.</a:t>
            </a:r>
          </a:p>
          <a:p>
            <a:pPr lvl="3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Highly organized and controlled by the master node</a:t>
            </a:r>
          </a:p>
          <a:p>
            <a:pPr lvl="1" algn="just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Scalable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Computer clusters can be expanded easily by adding additional computers to the network.</a:t>
            </a:r>
          </a:p>
          <a:p>
            <a:pPr lvl="1" algn="just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Availability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 other nodes will be active when one node gets failed and will function as a proxy for the failed node. This makes sure for enhanced availability.</a:t>
            </a:r>
          </a:p>
          <a:p>
            <a:pPr lvl="1" algn="just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Flexibility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It can be upgraded to the superior specification or additional nodes with different hardware/software specifications can be added.</a:t>
            </a:r>
          </a:p>
        </p:txBody>
      </p:sp>
    </p:spTree>
    <p:extLst>
      <p:ext uri="{BB962C8B-B14F-4D97-AF65-F5344CB8AC3E}">
        <p14:creationId xmlns:p14="http://schemas.microsoft.com/office/powerpoint/2010/main" val="3256198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FAE1C-A8DA-BFB8-BD1D-C5995319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Cluster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E773-1DFC-CB51-ABD4-5A7172780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Disadvantages</a:t>
            </a:r>
          </a:p>
          <a:p>
            <a:pPr lvl="1" algn="just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High cost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Requires extra hardware and software efforts to build the system.</a:t>
            </a:r>
          </a:p>
          <a:p>
            <a:pPr lvl="1" algn="just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Problem in finding fault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It is difficult to find which component has a fault.</a:t>
            </a:r>
          </a:p>
          <a:p>
            <a:pPr lvl="3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All nodes are tightly 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coordinated and work together</a:t>
            </a:r>
          </a:p>
          <a:p>
            <a:pPr lvl="3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 failure of one node may degrade the overall performance</a:t>
            </a:r>
          </a:p>
          <a:p>
            <a:pPr lvl="1" algn="just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More space is needed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Infrastructure may increase as more nodes are needed to manage and monitor.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87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D4EC-588B-2ADE-C686-58180900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Cluster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53463-1CA6-B784-98A7-E493B4EB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en-US" b="1" i="0" dirty="0">
                <a:solidFill>
                  <a:srgbClr val="0070C0"/>
                </a:solidFill>
                <a:effectLst/>
                <a:latin typeface="urw-din"/>
              </a:rPr>
              <a:t>Applications</a:t>
            </a:r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 of Cluster Computing 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pPr lvl="1" algn="just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Various </a:t>
            </a:r>
            <a:r>
              <a:rPr lang="en-US" b="0" i="0" dirty="0">
                <a:solidFill>
                  <a:srgbClr val="0070C0"/>
                </a:solidFill>
                <a:effectLst/>
                <a:latin typeface="urw-din"/>
              </a:rPr>
              <a:t>complex computational problems 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can be solved.</a:t>
            </a:r>
          </a:p>
          <a:p>
            <a:pPr lvl="2" algn="just" fontAlgn="base"/>
            <a:r>
              <a:rPr lang="en-US" dirty="0">
                <a:solidFill>
                  <a:srgbClr val="273239"/>
                </a:solidFill>
                <a:latin typeface="urw-din"/>
              </a:rPr>
              <a:t>D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ata mining.</a:t>
            </a: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Weather forecasting.</a:t>
            </a: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Image Rendering.</a:t>
            </a: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Various e-commerce applications.</a:t>
            </a: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Earthquake Simulation.</a:t>
            </a:r>
          </a:p>
          <a:p>
            <a:pPr lvl="2" algn="just" fontAlgn="base"/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Petroleum reservoir simulation.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19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FAF9-6B50-421E-B2C4-CE685EDD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/>
              <a:t>Grid Computing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27ABD-100D-44B8-AEEE-5CDEB70C0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1057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Grid computing systems</a:t>
            </a:r>
          </a:p>
          <a:p>
            <a:pPr lvl="1"/>
            <a:r>
              <a:rPr lang="en-US" dirty="0"/>
              <a:t>Similar to cluster computing systems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federation</a:t>
            </a:r>
            <a:r>
              <a:rPr lang="en-US" dirty="0"/>
              <a:t> of systems</a:t>
            </a:r>
          </a:p>
          <a:p>
            <a:pPr lvl="2"/>
            <a:r>
              <a:rPr lang="en-US" dirty="0"/>
              <a:t>Compared to cluster computing, no assumptions on similarity of hardware, OS, networks, admin domains, security policies, </a:t>
            </a:r>
            <a:r>
              <a:rPr lang="en-US" i="1" dirty="0"/>
              <a:t>etc.</a:t>
            </a:r>
          </a:p>
          <a:p>
            <a:pPr lvl="3"/>
            <a:r>
              <a:rPr lang="en-US" i="1" dirty="0"/>
              <a:t>Resources/nodes are spread over different geographical locations with different administrative policies.</a:t>
            </a:r>
          </a:p>
          <a:p>
            <a:r>
              <a:rPr lang="en-US" dirty="0"/>
              <a:t>Benefits compared to cluster computing</a:t>
            </a:r>
          </a:p>
          <a:p>
            <a:pPr lvl="1"/>
            <a:r>
              <a:rPr lang="en-US" b="1" i="0" dirty="0">
                <a:solidFill>
                  <a:srgbClr val="333333"/>
                </a:solidFill>
                <a:effectLst/>
                <a:latin typeface="AmazonEmberBold"/>
              </a:rPr>
              <a:t>Flexibility</a:t>
            </a:r>
            <a:endParaRPr lang="en-US" b="1" i="0" dirty="0">
              <a:solidFill>
                <a:srgbClr val="333333"/>
              </a:solidFill>
              <a:effectLst/>
              <a:latin typeface="AmazonEmber"/>
            </a:endParaRPr>
          </a:p>
          <a:p>
            <a:pPr lvl="2"/>
            <a:r>
              <a:rPr lang="en-US" b="0" i="0" dirty="0">
                <a:solidFill>
                  <a:srgbClr val="333333"/>
                </a:solidFill>
                <a:effectLst/>
                <a:latin typeface="AmazonEmber"/>
              </a:rPr>
              <a:t>Grid computing is not constrained to a specific building or location. You can set up a grid computing network that </a:t>
            </a:r>
            <a:r>
              <a:rPr lang="en-US" b="1" i="0" dirty="0">
                <a:solidFill>
                  <a:srgbClr val="333333"/>
                </a:solidFill>
                <a:effectLst/>
                <a:latin typeface="AmazonEmber"/>
              </a:rPr>
              <a:t>spans several regions</a:t>
            </a:r>
            <a:r>
              <a:rPr lang="en-US" b="0" i="0" dirty="0">
                <a:solidFill>
                  <a:srgbClr val="333333"/>
                </a:solidFill>
                <a:effectLst/>
                <a:latin typeface="AmazonEmber"/>
              </a:rPr>
              <a:t>. This allows researchers in different countries to work collaboratively with the same supercomputing power.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359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E8C5-36B0-DB14-333A-1E55E066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Grid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E4FF6-D19F-65ED-B8A2-5565A9440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47500" lnSpcReduction="20000"/>
          </a:bodyPr>
          <a:lstStyle/>
          <a:p>
            <a:r>
              <a:rPr lang="en-US" sz="5100" dirty="0">
                <a:solidFill>
                  <a:srgbClr val="333333"/>
                </a:solidFill>
                <a:latin typeface="AmazonEmber"/>
              </a:rPr>
              <a:t>Features of grid computing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33"/>
                </a:solidFill>
                <a:latin typeface="AmazonEmber"/>
              </a:rPr>
              <a:t>Large scale</a:t>
            </a:r>
            <a:r>
              <a:rPr lang="en-US" sz="4400" dirty="0">
                <a:solidFill>
                  <a:srgbClr val="333333"/>
                </a:solidFill>
                <a:latin typeface="AmazonEmber"/>
              </a:rPr>
              <a:t>: Resources for grid computing are dispersed over numerous places and are connected through a network.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33"/>
                </a:solidFill>
                <a:latin typeface="AmazonEmber"/>
              </a:rPr>
              <a:t>Heterogeneity: </a:t>
            </a:r>
            <a:r>
              <a:rPr lang="en-US" sz="4400" dirty="0">
                <a:solidFill>
                  <a:srgbClr val="333333"/>
                </a:solidFill>
                <a:latin typeface="AmazonEmber"/>
              </a:rPr>
              <a:t>Grid machines are heterogeneous in nature</a:t>
            </a:r>
            <a:endParaRPr lang="en-US" sz="4400" b="1" dirty="0">
              <a:solidFill>
                <a:srgbClr val="333333"/>
              </a:solidFill>
              <a:latin typeface="AmazonEmber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33"/>
                </a:solidFill>
                <a:latin typeface="AmazonEmber"/>
              </a:rPr>
              <a:t>Loosely coupled</a:t>
            </a:r>
            <a:r>
              <a:rPr lang="en-US" sz="4400" dirty="0">
                <a:solidFill>
                  <a:srgbClr val="333333"/>
                </a:solidFill>
                <a:latin typeface="AmazonEmber"/>
              </a:rPr>
              <a:t>: Changes in one component least affect existence or performance of another component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33"/>
                </a:solidFill>
                <a:latin typeface="AmazonEmber"/>
              </a:rPr>
              <a:t>Resource sharing</a:t>
            </a:r>
            <a:r>
              <a:rPr lang="en-US" sz="4400" dirty="0">
                <a:solidFill>
                  <a:srgbClr val="333333"/>
                </a:solidFill>
                <a:latin typeface="AmazonEmber"/>
              </a:rPr>
              <a:t>: The grid allows organizations to share resources among grid machines.	</a:t>
            </a:r>
          </a:p>
          <a:p>
            <a:pPr lvl="2" fontAlgn="base"/>
            <a:r>
              <a:rPr lang="en-US" sz="4000" dirty="0">
                <a:solidFill>
                  <a:srgbClr val="333333"/>
                </a:solidFill>
                <a:latin typeface="AmazonEmber"/>
              </a:rPr>
              <a:t>CPU, memory, storage, etc.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33"/>
                </a:solidFill>
                <a:latin typeface="AmazonEmber"/>
              </a:rPr>
              <a:t>Multiple administrations</a:t>
            </a:r>
            <a:r>
              <a:rPr lang="en-US" sz="4400" dirty="0">
                <a:solidFill>
                  <a:srgbClr val="333333"/>
                </a:solidFill>
                <a:latin typeface="AmazonEmber"/>
              </a:rPr>
              <a:t>: Administrators can control resources in the grid machine based on their own administrative policy.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33"/>
                </a:solidFill>
                <a:latin typeface="AmazonEmber"/>
              </a:rPr>
              <a:t>Resource coordination</a:t>
            </a:r>
            <a:r>
              <a:rPr lang="en-US" sz="4400" dirty="0">
                <a:solidFill>
                  <a:srgbClr val="333333"/>
                </a:solidFill>
                <a:latin typeface="AmazonEmber"/>
              </a:rPr>
              <a:t>: Resources are not just randomly shared. Nodes communicate to determine how the resources are best utilized.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33"/>
                </a:solidFill>
                <a:latin typeface="AmazonEmber"/>
              </a:rPr>
              <a:t>Quality of Service (QoS)</a:t>
            </a:r>
            <a:r>
              <a:rPr lang="en-US" sz="4400" dirty="0">
                <a:solidFill>
                  <a:srgbClr val="333333"/>
                </a:solidFill>
                <a:latin typeface="AmazonEmber"/>
              </a:rPr>
              <a:t>: Grid uses many machine resources to give customers high-quality services at the desired degree of performance.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333333"/>
                </a:solidFill>
                <a:latin typeface="AmazonEmber"/>
              </a:rPr>
              <a:t>Transparent access</a:t>
            </a:r>
            <a:r>
              <a:rPr lang="en-US" sz="4400" dirty="0">
                <a:solidFill>
                  <a:srgbClr val="333333"/>
                </a:solidFill>
                <a:latin typeface="AmazonEmber"/>
              </a:rPr>
              <a:t>: Despite the grid’s complexity, clients can only perceive it as a single virtual computer operating.</a:t>
            </a:r>
          </a:p>
        </p:txBody>
      </p:sp>
    </p:spTree>
    <p:extLst>
      <p:ext uri="{BB962C8B-B14F-4D97-AF65-F5344CB8AC3E}">
        <p14:creationId xmlns:p14="http://schemas.microsoft.com/office/powerpoint/2010/main" val="1373232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7490-DE6C-D04E-C7D4-26BF2F07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Grid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8594-2150-633D-4B6D-25AE01472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4800" y="1646237"/>
            <a:ext cx="8229600" cy="4525963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Architecture (Foster et al. [2001])</a:t>
            </a:r>
          </a:p>
          <a:p>
            <a:pPr lvl="2"/>
            <a:r>
              <a:rPr lang="en-US" sz="2000" dirty="0"/>
              <a:t>The architecture of grid computing systems consists of four layers. </a:t>
            </a:r>
          </a:p>
          <a:p>
            <a:pPr lvl="3"/>
            <a:r>
              <a:rPr lang="en-US" sz="1800" dirty="0">
                <a:solidFill>
                  <a:srgbClr val="0070C0"/>
                </a:solidFill>
              </a:rPr>
              <a:t>Fabric layer</a:t>
            </a:r>
            <a:r>
              <a:rPr lang="en-US" sz="1800" dirty="0"/>
              <a:t>: provides interfaces to local resources at a specific site</a:t>
            </a:r>
          </a:p>
          <a:p>
            <a:pPr lvl="3"/>
            <a:r>
              <a:rPr lang="en-US" sz="1800" dirty="0">
                <a:solidFill>
                  <a:srgbClr val="0070C0"/>
                </a:solidFill>
              </a:rPr>
              <a:t>Connectivity layer</a:t>
            </a:r>
            <a:r>
              <a:rPr lang="en-US" sz="1800" dirty="0"/>
              <a:t>: consists of communication protocols (</a:t>
            </a:r>
            <a:r>
              <a:rPr lang="en-US" sz="1800" i="1" dirty="0"/>
              <a:t>e.g., </a:t>
            </a:r>
            <a:r>
              <a:rPr lang="en-US" sz="1800" dirty="0"/>
              <a:t>protocols for data transfer)</a:t>
            </a:r>
          </a:p>
          <a:p>
            <a:pPr lvl="3"/>
            <a:r>
              <a:rPr lang="en-US" sz="1800" dirty="0">
                <a:solidFill>
                  <a:srgbClr val="0070C0"/>
                </a:solidFill>
              </a:rPr>
              <a:t>Resource layer</a:t>
            </a:r>
            <a:r>
              <a:rPr lang="en-US" sz="1800" dirty="0"/>
              <a:t>: responsible for managing a resource</a:t>
            </a:r>
          </a:p>
          <a:p>
            <a:pPr lvl="3"/>
            <a:r>
              <a:rPr lang="en-US" sz="1800" dirty="0">
                <a:solidFill>
                  <a:srgbClr val="0070C0"/>
                </a:solidFill>
              </a:rPr>
              <a:t>Collective layer</a:t>
            </a:r>
            <a:r>
              <a:rPr lang="en-US" sz="1800" dirty="0"/>
              <a:t>: deals with handling access to multiple resource, i.e., provides various resource-related services (e.g., resource discovery, allocation and scheduling of tasks)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07F35-3971-2923-5D22-D532FAD6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006" y="4756820"/>
            <a:ext cx="3157987" cy="210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9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53F77-434D-491B-9EA7-5F030659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Computing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252C1-2F78-4B73-BD2E-56114A6D3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Cloud computing</a:t>
            </a:r>
          </a:p>
          <a:p>
            <a:pPr lvl="1"/>
            <a:r>
              <a:rPr lang="en-US" dirty="0"/>
              <a:t>Similar to grid computing, but it opens up resources in a grid computing system to customers</a:t>
            </a:r>
          </a:p>
          <a:p>
            <a:pPr lvl="1"/>
            <a:r>
              <a:rPr lang="en-US" dirty="0"/>
              <a:t>Easily usable and accessible pool of </a:t>
            </a:r>
            <a:r>
              <a:rPr lang="en-US" dirty="0">
                <a:solidFill>
                  <a:srgbClr val="0070C0"/>
                </a:solidFill>
              </a:rPr>
              <a:t>virtualized resources </a:t>
            </a:r>
            <a:r>
              <a:rPr lang="en-US" dirty="0"/>
              <a:t>is provided to customers</a:t>
            </a:r>
          </a:p>
          <a:p>
            <a:pPr lvl="2"/>
            <a:r>
              <a:rPr lang="en-US" dirty="0"/>
              <a:t>Instead of proving actual hardware, an interface is provided to users to utilize the resources</a:t>
            </a:r>
          </a:p>
          <a:p>
            <a:pPr lvl="1"/>
            <a:r>
              <a:rPr lang="en-US" dirty="0"/>
              <a:t>Organized into four layers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Hardware</a:t>
            </a:r>
            <a:r>
              <a:rPr lang="en-US" dirty="0"/>
              <a:t> (actual machines and network devices, </a:t>
            </a:r>
            <a:r>
              <a:rPr lang="en-US" i="1" dirty="0"/>
              <a:t>e.g.</a:t>
            </a:r>
            <a:r>
              <a:rPr lang="en-US" dirty="0"/>
              <a:t>, processors, routers, etc.)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Infrastructure</a:t>
            </a:r>
            <a:r>
              <a:rPr lang="en-US" dirty="0"/>
              <a:t>: backbone for cloud computing systems to make the hardware available to customers; deploys virtualization techniques to provide customers virtual storage, virtual computing resources, etc. 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Platform</a:t>
            </a:r>
            <a:r>
              <a:rPr lang="en-US" dirty="0"/>
              <a:t>: provides environments for customers to develop and deploy applications that run in a cloud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Application: </a:t>
            </a:r>
            <a:r>
              <a:rPr lang="en-US" dirty="0"/>
              <a:t>actual software used by customers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120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96663C-CC2C-6721-1FFB-4755DD446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991833"/>
            <a:ext cx="6367780" cy="33240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98D828-1F95-2DD5-A951-844A286ADD7F}"/>
              </a:ext>
            </a:extLst>
          </p:cNvPr>
          <p:cNvSpPr txBox="1"/>
          <p:nvPr/>
        </p:nvSpPr>
        <p:spPr>
          <a:xfrm>
            <a:off x="88835" y="3449097"/>
            <a:ext cx="21209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Turns hardware into </a:t>
            </a:r>
          </a:p>
          <a:p>
            <a:r>
              <a:rPr lang="en-US" dirty="0"/>
              <a:t>usable virtualized </a:t>
            </a:r>
          </a:p>
          <a:p>
            <a:r>
              <a:rPr lang="en-US" dirty="0"/>
              <a:t>resources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A653F9D-4B77-7EA4-1287-8E9B1416148D}"/>
              </a:ext>
            </a:extLst>
          </p:cNvPr>
          <p:cNvCxnSpPr>
            <a:cxnSpLocks/>
          </p:cNvCxnSpPr>
          <p:nvPr/>
        </p:nvCxnSpPr>
        <p:spPr>
          <a:xfrm>
            <a:off x="1828800" y="3910762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DCDC5E-A61D-2DBE-D7F1-57AA90144B7A}"/>
              </a:ext>
            </a:extLst>
          </p:cNvPr>
          <p:cNvSpPr txBox="1"/>
          <p:nvPr/>
        </p:nvSpPr>
        <p:spPr>
          <a:xfrm>
            <a:off x="7632376" y="3429000"/>
            <a:ext cx="139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(Virtual computing)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B1981-EF5E-D4CF-5603-ABCC735710FE}"/>
              </a:ext>
            </a:extLst>
          </p:cNvPr>
          <p:cNvSpPr txBox="1"/>
          <p:nvPr/>
        </p:nvSpPr>
        <p:spPr>
          <a:xfrm>
            <a:off x="7748238" y="3616042"/>
            <a:ext cx="1201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(Virtual Storage)</a:t>
            </a:r>
          </a:p>
        </p:txBody>
      </p:sp>
    </p:spTree>
    <p:extLst>
      <p:ext uri="{BB962C8B-B14F-4D97-AF65-F5344CB8AC3E}">
        <p14:creationId xmlns:p14="http://schemas.microsoft.com/office/powerpoint/2010/main" val="1710162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CBF8-9153-467F-B2C8-EA18289FA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distributed system for</a:t>
            </a:r>
          </a:p>
          <a:p>
            <a:pPr lvl="1"/>
            <a:r>
              <a:rPr lang="en-US" sz="2400" b="1" u="sng" dirty="0"/>
              <a:t>Distributing processing and/or data across </a:t>
            </a:r>
            <a:r>
              <a:rPr lang="en-US" sz="2400" b="1" u="sng" dirty="0">
                <a:solidFill>
                  <a:srgbClr val="C00000"/>
                </a:solidFill>
              </a:rPr>
              <a:t>heterogeneous servers</a:t>
            </a:r>
            <a:r>
              <a:rPr lang="en-US" sz="2400" b="1" dirty="0"/>
              <a:t> </a:t>
            </a:r>
            <a:r>
              <a:rPr lang="en-US" sz="2400" dirty="0"/>
              <a:t>via multiple communication models</a:t>
            </a:r>
          </a:p>
          <a:p>
            <a:pPr lvl="2"/>
            <a:r>
              <a:rPr lang="en-US" sz="1600" dirty="0"/>
              <a:t>Example: Online shopping mall</a:t>
            </a:r>
          </a:p>
          <a:p>
            <a:pPr lvl="2"/>
            <a:r>
              <a:rPr lang="en-US" sz="1600" dirty="0"/>
              <a:t>Processing is divided among multiple servers (e.g., Web Server, Payment Server, Inventory Server)</a:t>
            </a:r>
          </a:p>
          <a:p>
            <a:pPr lvl="2"/>
            <a:r>
              <a:rPr lang="en-US" sz="1600" dirty="0"/>
              <a:t>Data is stored in different places (e.g., Customer DB, Inventory DB, Billing DB)</a:t>
            </a:r>
            <a:endParaRPr lang="en-US" sz="2000" dirty="0"/>
          </a:p>
          <a:p>
            <a:pPr lvl="1"/>
            <a:r>
              <a:rPr lang="en-US" sz="2400" dirty="0"/>
              <a:t>Two important characteristics</a:t>
            </a:r>
          </a:p>
          <a:p>
            <a:pPr lvl="2"/>
            <a:r>
              <a:rPr lang="en-US" sz="1800" dirty="0"/>
              <a:t>Distributed transaction processing </a:t>
            </a:r>
          </a:p>
          <a:p>
            <a:pPr lvl="3"/>
            <a:r>
              <a:rPr lang="en-US" sz="1400" dirty="0"/>
              <a:t>Operations are performed in the form of a transaction</a:t>
            </a:r>
          </a:p>
          <a:p>
            <a:pPr lvl="3"/>
            <a:r>
              <a:rPr lang="en-US" sz="1400" dirty="0"/>
              <a:t>A transaction is a group of operations that should be treated as one logical unit of work.</a:t>
            </a:r>
          </a:p>
          <a:p>
            <a:pPr lvl="2"/>
            <a:r>
              <a:rPr lang="en-US" sz="1800" dirty="0"/>
              <a:t>Enterprise application integration</a:t>
            </a:r>
          </a:p>
          <a:p>
            <a:pPr lvl="3"/>
            <a:r>
              <a:rPr lang="en-US" sz="1400" dirty="0"/>
              <a:t>connecting different business applications so they can exchange information and work together.</a:t>
            </a:r>
          </a:p>
          <a:p>
            <a:pPr lvl="4"/>
            <a:r>
              <a:rPr lang="en-US" sz="1400" dirty="0"/>
              <a:t>E.g., </a:t>
            </a:r>
            <a:r>
              <a:rPr lang="en-US" sz="1200" dirty="0"/>
              <a:t>customer-management software, payroll software, inventory software, accounting software, shipping software.</a:t>
            </a:r>
          </a:p>
          <a:p>
            <a:pPr lvl="4"/>
            <a:r>
              <a:rPr lang="en-US" sz="1200" dirty="0"/>
              <a:t>the applications exchange information automatically.</a:t>
            </a:r>
            <a:endParaRPr lang="en-US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14BF40B-83D8-4A1F-9C62-433B1F5C3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Distributed Information Systems (1/2)</a:t>
            </a:r>
          </a:p>
        </p:txBody>
      </p:sp>
    </p:spTree>
    <p:extLst>
      <p:ext uri="{BB962C8B-B14F-4D97-AF65-F5344CB8AC3E}">
        <p14:creationId xmlns:p14="http://schemas.microsoft.com/office/powerpoint/2010/main" val="2577055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87747-4D49-3763-F8D8-7DC438AF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CB39A-88F1-586C-EB25-E11013917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Distributed </a:t>
            </a:r>
            <a:r>
              <a:rPr lang="en-US" sz="2800" b="1" u="sng" dirty="0">
                <a:solidFill>
                  <a:srgbClr val="0070C0"/>
                </a:solidFill>
              </a:rPr>
              <a:t>transaction</a:t>
            </a:r>
            <a:r>
              <a:rPr lang="en-US" sz="2800" dirty="0">
                <a:solidFill>
                  <a:srgbClr val="0070C0"/>
                </a:solidFill>
              </a:rPr>
              <a:t> processing </a:t>
            </a:r>
            <a:r>
              <a:rPr lang="en-US" sz="2800" dirty="0"/>
              <a:t>for efficient data access/manipulation</a:t>
            </a:r>
          </a:p>
          <a:p>
            <a:pPr lvl="2"/>
            <a:r>
              <a:rPr lang="en-US" sz="2000" dirty="0"/>
              <a:t>Operations on a resource are carried out in the form of </a:t>
            </a:r>
            <a:r>
              <a:rPr lang="en-US" sz="2000" dirty="0">
                <a:solidFill>
                  <a:srgbClr val="0070C0"/>
                </a:solidFill>
              </a:rPr>
              <a:t>transactions</a:t>
            </a:r>
          </a:p>
          <a:p>
            <a:pPr lvl="3"/>
            <a:r>
              <a:rPr lang="en-US" sz="1800" i="1" dirty="0"/>
              <a:t>e.g., </a:t>
            </a:r>
            <a:r>
              <a:rPr lang="en-US" sz="1800" dirty="0"/>
              <a:t>BEGIN_TRANSACTION and END_TRANSACTION are used to delimit the scope of a transaction; operations between them form the body of the transaction</a:t>
            </a:r>
          </a:p>
          <a:p>
            <a:pPr lvl="2"/>
            <a:r>
              <a:rPr lang="en-US" sz="2000" dirty="0"/>
              <a:t>Why transactions: to achieve </a:t>
            </a:r>
            <a:r>
              <a:rPr lang="en-US" sz="2000" dirty="0">
                <a:solidFill>
                  <a:srgbClr val="0070C0"/>
                </a:solidFill>
              </a:rPr>
              <a:t>ACID properties </a:t>
            </a:r>
            <a:r>
              <a:rPr lang="en-US" sz="2000" dirty="0"/>
              <a:t>of transactions</a:t>
            </a:r>
          </a:p>
          <a:p>
            <a:pPr lvl="3"/>
            <a:r>
              <a:rPr lang="en-US" sz="1800" dirty="0">
                <a:solidFill>
                  <a:srgbClr val="0070C0"/>
                </a:solidFill>
              </a:rPr>
              <a:t>Atomic</a:t>
            </a:r>
            <a:r>
              <a:rPr lang="en-US" sz="1800" dirty="0"/>
              <a:t>: Either the entire transaction happens, or none of it happens.</a:t>
            </a:r>
          </a:p>
          <a:p>
            <a:pPr lvl="3"/>
            <a:r>
              <a:rPr lang="en-US" sz="1800" dirty="0">
                <a:solidFill>
                  <a:srgbClr val="0070C0"/>
                </a:solidFill>
              </a:rPr>
              <a:t>Consistent</a:t>
            </a:r>
            <a:r>
              <a:rPr lang="en-US" sz="1800" dirty="0"/>
              <a:t>: data access/manipulation does not violate system invariants</a:t>
            </a:r>
          </a:p>
          <a:p>
            <a:pPr lvl="3"/>
            <a:r>
              <a:rPr lang="en-US" sz="1800" dirty="0">
                <a:solidFill>
                  <a:srgbClr val="0070C0"/>
                </a:solidFill>
              </a:rPr>
              <a:t>Isolated</a:t>
            </a:r>
            <a:r>
              <a:rPr lang="en-US" sz="1800" dirty="0"/>
              <a:t>: data access/manipulation does not interfere with each other </a:t>
            </a:r>
          </a:p>
          <a:p>
            <a:pPr lvl="3"/>
            <a:r>
              <a:rPr lang="en-US" sz="1800" dirty="0">
                <a:solidFill>
                  <a:srgbClr val="0070C0"/>
                </a:solidFill>
              </a:rPr>
              <a:t>Durable</a:t>
            </a:r>
            <a:r>
              <a:rPr lang="en-US" sz="1800" dirty="0"/>
              <a:t>: Once a transaction commits, the changes are permanent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209F2D-75C2-FE55-B315-DE35FBC0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Distributed Information Systems (2/3)</a:t>
            </a:r>
          </a:p>
        </p:txBody>
      </p:sp>
    </p:spTree>
    <p:extLst>
      <p:ext uri="{BB962C8B-B14F-4D97-AF65-F5344CB8AC3E}">
        <p14:creationId xmlns:p14="http://schemas.microsoft.com/office/powerpoint/2010/main" val="1249709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B50B-8D11-4AC5-8418-5C8A8050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Information Systems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5EF46-FF68-4988-B31A-13D91264C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8418"/>
            <a:ext cx="8229600" cy="538718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Enterprise application integration</a:t>
            </a:r>
          </a:p>
          <a:p>
            <a:pPr lvl="1"/>
            <a:r>
              <a:rPr lang="en-US" sz="2400" dirty="0"/>
              <a:t>A framework that enables different applications within a business environment to communicate and work together seamlessly.</a:t>
            </a:r>
          </a:p>
          <a:p>
            <a:pPr lvl="1"/>
            <a:r>
              <a:rPr lang="en-US" sz="2400" dirty="0"/>
              <a:t>Integration methods</a:t>
            </a:r>
          </a:p>
          <a:p>
            <a:pPr lvl="2"/>
            <a:r>
              <a:rPr lang="en-US" sz="2000" dirty="0">
                <a:solidFill>
                  <a:srgbClr val="0070C0"/>
                </a:solidFill>
              </a:rPr>
              <a:t>Middleware</a:t>
            </a:r>
          </a:p>
          <a:p>
            <a:pPr lvl="3"/>
            <a:r>
              <a:rPr lang="en-US" sz="1800" dirty="0"/>
              <a:t>Enable applications to communicate without modifying their code</a:t>
            </a:r>
          </a:p>
          <a:p>
            <a:pPr lvl="2"/>
            <a:r>
              <a:rPr lang="en-US" sz="2000" dirty="0">
                <a:solidFill>
                  <a:srgbClr val="0070C0"/>
                </a:solidFill>
              </a:rPr>
              <a:t>APIs</a:t>
            </a:r>
          </a:p>
          <a:p>
            <a:pPr lvl="3"/>
            <a:r>
              <a:rPr lang="en-US" sz="1800" dirty="0"/>
              <a:t>Sets of rules and specifications that apps can follow to communicate with each other</a:t>
            </a:r>
          </a:p>
          <a:p>
            <a:pPr lvl="2"/>
            <a:r>
              <a:rPr lang="en-US" sz="2000" dirty="0">
                <a:solidFill>
                  <a:srgbClr val="0070C0"/>
                </a:solidFill>
              </a:rPr>
              <a:t>Message Brokers</a:t>
            </a:r>
          </a:p>
          <a:p>
            <a:pPr lvl="3"/>
            <a:r>
              <a:rPr lang="en-US" sz="1800" dirty="0"/>
              <a:t>Tools that ensure the delivery of messages between heterogeneous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095039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09958-8C02-4345-ABD3-C5F992C85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The distributed systems discussed so far are characterized by </a:t>
            </a:r>
            <a:r>
              <a:rPr lang="en-US" dirty="0">
                <a:solidFill>
                  <a:srgbClr val="0070C0"/>
                </a:solidFill>
              </a:rPr>
              <a:t>stability</a:t>
            </a:r>
            <a:r>
              <a:rPr lang="en-US" dirty="0"/>
              <a:t> (</a:t>
            </a:r>
            <a:r>
              <a:rPr lang="en-US" i="1" dirty="0"/>
              <a:t>i.e., </a:t>
            </a:r>
            <a:r>
              <a:rPr lang="en-US" dirty="0"/>
              <a:t>nodes are fixed; permanent high-speed network)</a:t>
            </a:r>
          </a:p>
          <a:p>
            <a:r>
              <a:rPr lang="en-US" dirty="0">
                <a:solidFill>
                  <a:srgbClr val="0070C0"/>
                </a:solidFill>
              </a:rPr>
              <a:t>Pervasive systems</a:t>
            </a:r>
          </a:p>
          <a:p>
            <a:pPr lvl="1"/>
            <a:r>
              <a:rPr lang="en-US" dirty="0"/>
              <a:t>Consists of mobile and embedded computing devices</a:t>
            </a:r>
          </a:p>
          <a:p>
            <a:pPr lvl="1"/>
            <a:r>
              <a:rPr lang="en-US" dirty="0"/>
              <a:t>Separation between users and system components are blurred </a:t>
            </a:r>
          </a:p>
          <a:p>
            <a:pPr lvl="2"/>
            <a:r>
              <a:rPr lang="en-US" b="1" dirty="0"/>
              <a:t>No actual users</a:t>
            </a:r>
            <a:r>
              <a:rPr lang="en-US" dirty="0"/>
              <a:t>; instead, there are sensors and actuators.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39DCF1-B91B-4631-B16E-DE934F5E2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Pervasive Systems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0253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B3B7-0733-7B3A-53F8-37864F6D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Pervasive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20758-C5B4-2AA7-EE87-1A78D2EE6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home systems</a:t>
            </a:r>
          </a:p>
          <a:p>
            <a:r>
              <a:rPr lang="en-US" dirty="0"/>
              <a:t>Wearable technologies</a:t>
            </a:r>
          </a:p>
          <a:p>
            <a:r>
              <a:rPr lang="en-US" dirty="0"/>
              <a:t>Healthcare monitoring systems</a:t>
            </a:r>
          </a:p>
          <a:p>
            <a:r>
              <a:rPr lang="en-US" dirty="0"/>
              <a:t>Smart cities</a:t>
            </a:r>
          </a:p>
          <a:p>
            <a:r>
              <a:rPr lang="en-US" dirty="0"/>
              <a:t>Environmental monitoring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71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2527</Words>
  <Application>Microsoft Macintosh PowerPoint</Application>
  <PresentationFormat>On-screen Show (4:3)</PresentationFormat>
  <Paragraphs>290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AmazonEmber</vt:lpstr>
      <vt:lpstr>AmazonEmberBold</vt:lpstr>
      <vt:lpstr>urw-din</vt:lpstr>
      <vt:lpstr>Arial</vt:lpstr>
      <vt:lpstr>Calibri</vt:lpstr>
      <vt:lpstr>Office Theme</vt:lpstr>
      <vt:lpstr>COMP 7212: Operating/Distributed Systems Chapter 1: Introduction</vt:lpstr>
      <vt:lpstr>Outline</vt:lpstr>
      <vt:lpstr>What is a distributed system?</vt:lpstr>
      <vt:lpstr>What is a distributed system?</vt:lpstr>
      <vt:lpstr>What is a distributed system?</vt:lpstr>
      <vt:lpstr>Characteristic 1: Collection of Autonomous Computing Elements (1/3)</vt:lpstr>
      <vt:lpstr>Characteristic 1: Collection of Autonomous Computing Elements (2/3)</vt:lpstr>
      <vt:lpstr>Characteristic 1: Collection of Autonomous Computing Elements (3/3)</vt:lpstr>
      <vt:lpstr>Characteristic 2:  Single Coherent System</vt:lpstr>
      <vt:lpstr>Middleware and Distributed Systems (1/3)</vt:lpstr>
      <vt:lpstr>Middleware and Distributed Systems (2/3)</vt:lpstr>
      <vt:lpstr>Middleware and Distributed Systems (3/3)</vt:lpstr>
      <vt:lpstr>Design Goals</vt:lpstr>
      <vt:lpstr>Supporting Resource Sharing</vt:lpstr>
      <vt:lpstr>Making Distribution Transparent (1/2)</vt:lpstr>
      <vt:lpstr>Making Distribution Transparent (2/2)</vt:lpstr>
      <vt:lpstr>Being Open</vt:lpstr>
      <vt:lpstr>Being Scalable</vt:lpstr>
      <vt:lpstr>Scaling Techniques (1/3)</vt:lpstr>
      <vt:lpstr>Scaling Techniques (2/3)</vt:lpstr>
      <vt:lpstr>Scaling Techniques (3/3)</vt:lpstr>
      <vt:lpstr>Types of Distributed Systems</vt:lpstr>
      <vt:lpstr>High Performance Distributed Systems</vt:lpstr>
      <vt:lpstr>Cluster Computing Systems</vt:lpstr>
      <vt:lpstr>PowerPoint Presentation</vt:lpstr>
      <vt:lpstr>More on Cluster Computing</vt:lpstr>
      <vt:lpstr>More on Cluster Computing</vt:lpstr>
      <vt:lpstr>More on Cluster Computing</vt:lpstr>
      <vt:lpstr>Grid Computing Systems</vt:lpstr>
      <vt:lpstr>More on Grid Computing</vt:lpstr>
      <vt:lpstr>More on Grid Computing</vt:lpstr>
      <vt:lpstr>Cloud Computing Systems</vt:lpstr>
      <vt:lpstr>PowerPoint Presentation</vt:lpstr>
      <vt:lpstr>Distributed Information Systems (1/2)</vt:lpstr>
      <vt:lpstr>Distributed Information Systems (2/3)</vt:lpstr>
      <vt:lpstr>Distributed Information Systems (3/3)</vt:lpstr>
      <vt:lpstr>Pervasive Systems</vt:lpstr>
      <vt:lpstr>Examples of Pervasive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539</cp:revision>
  <dcterms:created xsi:type="dcterms:W3CDTF">2006-08-16T00:00:00Z</dcterms:created>
  <dcterms:modified xsi:type="dcterms:W3CDTF">2026-09-01T19:15:43Z</dcterms:modified>
</cp:coreProperties>
</file>