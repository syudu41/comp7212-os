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85" r:id="rId5"/>
    <p:sldId id="259" r:id="rId6"/>
    <p:sldId id="290" r:id="rId7"/>
    <p:sldId id="260" r:id="rId8"/>
    <p:sldId id="261" r:id="rId9"/>
    <p:sldId id="262" r:id="rId10"/>
    <p:sldId id="263" r:id="rId11"/>
    <p:sldId id="292" r:id="rId12"/>
    <p:sldId id="287" r:id="rId13"/>
    <p:sldId id="293" r:id="rId14"/>
    <p:sldId id="294" r:id="rId15"/>
    <p:sldId id="264" r:id="rId16"/>
    <p:sldId id="289" r:id="rId17"/>
    <p:sldId id="265" r:id="rId18"/>
    <p:sldId id="266" r:id="rId19"/>
    <p:sldId id="288" r:id="rId20"/>
    <p:sldId id="267" r:id="rId21"/>
    <p:sldId id="268" r:id="rId22"/>
    <p:sldId id="286" r:id="rId23"/>
    <p:sldId id="295" r:id="rId24"/>
    <p:sldId id="296" r:id="rId25"/>
    <p:sldId id="297" r:id="rId26"/>
    <p:sldId id="298" r:id="rId27"/>
    <p:sldId id="299" r:id="rId28"/>
    <p:sldId id="271" r:id="rId29"/>
    <p:sldId id="270" r:id="rId30"/>
    <p:sldId id="272" r:id="rId31"/>
    <p:sldId id="300" r:id="rId32"/>
    <p:sldId id="301" r:id="rId33"/>
    <p:sldId id="273" r:id="rId34"/>
    <p:sldId id="274" r:id="rId35"/>
    <p:sldId id="276" r:id="rId36"/>
    <p:sldId id="277" r:id="rId37"/>
    <p:sldId id="278" r:id="rId38"/>
    <p:sldId id="279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582"/>
  </p:normalViewPr>
  <p:slideViewPr>
    <p:cSldViewPr>
      <p:cViewPr varScale="1">
        <p:scale>
          <a:sx n="120" d="100"/>
          <a:sy n="120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78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92B2-E0FF-7800-A6FE-5CE3C83A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6C553-677D-F833-16E3-0D5220326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FB7DC-D629-636C-0837-26143ED10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D84C6-942B-06A2-2FF2-C32516107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01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9372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 7212: Operating/Distributed Systems</a:t>
            </a:r>
            <a:br>
              <a:rPr lang="en-US" dirty="0"/>
            </a:br>
            <a:r>
              <a:rPr lang="en-US" dirty="0"/>
              <a:t>Chapter 2: Architectures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Dr. Myounggyu Won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76C6-D20E-45D7-81C1-CB6AEE533F90}"/>
              </a:ext>
            </a:extLst>
          </p:cNvPr>
          <p:cNvSpPr txBox="1"/>
          <p:nvPr/>
        </p:nvSpPr>
        <p:spPr>
          <a:xfrm>
            <a:off x="0" y="6450568"/>
            <a:ext cx="669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Distributed Systems: Principles and Paradigms (3</a:t>
            </a:r>
            <a:r>
              <a:rPr lang="en-US" baseline="30000" dirty="0"/>
              <a:t>rd</a:t>
            </a:r>
            <a:r>
              <a:rPr lang="en-US" dirty="0"/>
              <a:t> Edition)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CDCB-6CD2-4E75-AB6F-9BEB229B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EEAC-1689-4FCA-B75D-F8413C4A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64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Architectural styles (</a:t>
            </a:r>
            <a:r>
              <a:rPr lang="en-US" dirty="0">
                <a:solidFill>
                  <a:srgbClr val="0070C0"/>
                </a:solidFill>
              </a:rPr>
              <a:t>logical organization/software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architecture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Layered architectures</a:t>
            </a:r>
          </a:p>
          <a:p>
            <a:pPr lvl="1"/>
            <a:r>
              <a:rPr lang="en-US" dirty="0"/>
              <a:t>Object-based and service-oriented architectures</a:t>
            </a:r>
          </a:p>
          <a:p>
            <a:pPr lvl="1"/>
            <a:r>
              <a:rPr lang="en-US" dirty="0"/>
              <a:t>Resource-based architectures</a:t>
            </a:r>
          </a:p>
          <a:p>
            <a:pPr lvl="1"/>
            <a:r>
              <a:rPr lang="en-US" dirty="0"/>
              <a:t>Publish-subscribe architectures</a:t>
            </a:r>
          </a:p>
          <a:p>
            <a:r>
              <a:rPr lang="en-US" dirty="0">
                <a:solidFill>
                  <a:srgbClr val="0070C0"/>
                </a:solidFill>
              </a:rPr>
              <a:t>Middleware</a:t>
            </a:r>
            <a:r>
              <a:rPr lang="en-US" dirty="0"/>
              <a:t> organization (various techniques to adjust the middleware to meet the needs of applications)</a:t>
            </a:r>
          </a:p>
          <a:p>
            <a:pPr lvl="1"/>
            <a:r>
              <a:rPr lang="en-US" dirty="0"/>
              <a:t>Wrappers</a:t>
            </a:r>
          </a:p>
          <a:p>
            <a:pPr lvl="1"/>
            <a:r>
              <a:rPr lang="en-US" dirty="0"/>
              <a:t>Interceptors</a:t>
            </a:r>
          </a:p>
          <a:p>
            <a:r>
              <a:rPr lang="en-US" dirty="0"/>
              <a:t>System architecture (</a:t>
            </a:r>
            <a:r>
              <a:rPr lang="en-US" dirty="0">
                <a:solidFill>
                  <a:srgbClr val="0070C0"/>
                </a:solidFill>
              </a:rPr>
              <a:t>physical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organization/hardware architecture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Centralized organizations (server and client)</a:t>
            </a:r>
          </a:p>
          <a:p>
            <a:pPr lvl="1"/>
            <a:r>
              <a:rPr lang="en-US" dirty="0"/>
              <a:t>Decentralized organizations (peer-to-peer systems)</a:t>
            </a:r>
          </a:p>
          <a:p>
            <a:pPr lvl="1"/>
            <a:r>
              <a:rPr lang="en-US" dirty="0"/>
              <a:t>Hybrid architecture (centralized + decentralized)</a:t>
            </a:r>
          </a:p>
        </p:txBody>
      </p:sp>
    </p:spTree>
    <p:extLst>
      <p:ext uri="{BB962C8B-B14F-4D97-AF65-F5344CB8AC3E}">
        <p14:creationId xmlns:p14="http://schemas.microsoft.com/office/powerpoint/2010/main" val="89704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Architectural Styles</a:t>
            </a:r>
          </a:p>
        </p:txBody>
      </p:sp>
    </p:spTree>
    <p:extLst>
      <p:ext uri="{BB962C8B-B14F-4D97-AF65-F5344CB8AC3E}">
        <p14:creationId xmlns:p14="http://schemas.microsoft.com/office/powerpoint/2010/main" val="222616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5C52-80AF-465E-A913-C7D791CD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55B8-EB1F-4B76-8CF7-78B43DA0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Component</a:t>
            </a:r>
            <a:r>
              <a:rPr lang="en-US" dirty="0"/>
              <a:t>: a modular unit with well-defined interfaces. </a:t>
            </a:r>
          </a:p>
          <a:p>
            <a:pPr lvl="1"/>
            <a:r>
              <a:rPr lang="en-US" i="1" dirty="0"/>
              <a:t>e.g., </a:t>
            </a:r>
            <a:r>
              <a:rPr lang="en-US" dirty="0"/>
              <a:t>nodes, processes, hardware resources, </a:t>
            </a:r>
            <a:r>
              <a:rPr lang="en-US" i="1" dirty="0"/>
              <a:t>etc.</a:t>
            </a:r>
          </a:p>
          <a:p>
            <a:r>
              <a:rPr lang="en-US" dirty="0">
                <a:solidFill>
                  <a:srgbClr val="0070C0"/>
                </a:solidFill>
              </a:rPr>
              <a:t>Connector</a:t>
            </a:r>
            <a:r>
              <a:rPr lang="en-US" dirty="0"/>
              <a:t>: a mechanism for communication and coordination among components</a:t>
            </a:r>
          </a:p>
          <a:p>
            <a:pPr lvl="1"/>
            <a:r>
              <a:rPr lang="en-US" i="1" dirty="0"/>
              <a:t>e.g., </a:t>
            </a:r>
            <a:r>
              <a:rPr lang="en-US" dirty="0"/>
              <a:t>remote procedure calls (RPC), message passing.</a:t>
            </a:r>
          </a:p>
          <a:p>
            <a:r>
              <a:rPr lang="en-US" dirty="0"/>
              <a:t>Using components and connectors, various configurations can be created, which is called </a:t>
            </a:r>
            <a:r>
              <a:rPr lang="en-US" dirty="0">
                <a:solidFill>
                  <a:srgbClr val="0070C0"/>
                </a:solidFill>
              </a:rPr>
              <a:t>architectural styles</a:t>
            </a:r>
          </a:p>
          <a:p>
            <a:pPr lvl="1"/>
            <a:r>
              <a:rPr lang="en-US" dirty="0"/>
              <a:t>Layered architectures</a:t>
            </a:r>
          </a:p>
          <a:p>
            <a:pPr lvl="1"/>
            <a:r>
              <a:rPr lang="en-US" dirty="0"/>
              <a:t>Object-oriented architectures</a:t>
            </a:r>
          </a:p>
          <a:p>
            <a:pPr lvl="1"/>
            <a:r>
              <a:rPr lang="en-US" dirty="0"/>
              <a:t>Resource-centered architectures</a:t>
            </a:r>
          </a:p>
          <a:p>
            <a:pPr lvl="1"/>
            <a:r>
              <a:rPr lang="en-US" dirty="0"/>
              <a:t>Event-based architectures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00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E4F0-59F1-4779-914C-28C2F1EE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BD03-2563-429D-9C1E-A0ECCF6EB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Basic idea: components are organized in a </a:t>
            </a:r>
            <a:r>
              <a:rPr lang="en-US" dirty="0">
                <a:solidFill>
                  <a:srgbClr val="0070C0"/>
                </a:solidFill>
              </a:rPr>
              <a:t>layered fashion </a:t>
            </a:r>
          </a:p>
          <a:p>
            <a:pPr lvl="1"/>
            <a:r>
              <a:rPr lang="en-US" sz="2400" dirty="0"/>
              <a:t>A component at a layer can make a </a:t>
            </a:r>
            <a:r>
              <a:rPr lang="en-US" sz="2400" dirty="0">
                <a:solidFill>
                  <a:srgbClr val="0070C0"/>
                </a:solidFill>
              </a:rPr>
              <a:t>down call </a:t>
            </a:r>
            <a:r>
              <a:rPr lang="en-US" sz="2400" dirty="0"/>
              <a:t>to the component at a lower layer (and generally expects a response).</a:t>
            </a:r>
          </a:p>
          <a:p>
            <a:pPr lvl="1"/>
            <a:r>
              <a:rPr lang="en-US" sz="2400" dirty="0"/>
              <a:t>An </a:t>
            </a:r>
            <a:r>
              <a:rPr lang="en-US" sz="2400" dirty="0">
                <a:solidFill>
                  <a:srgbClr val="0070C0"/>
                </a:solidFill>
              </a:rPr>
              <a:t>up call </a:t>
            </a:r>
            <a:r>
              <a:rPr lang="en-US" sz="2400" dirty="0"/>
              <a:t>is made in only exceptional cases.</a:t>
            </a:r>
          </a:p>
          <a:p>
            <a:pPr lvl="2"/>
            <a:r>
              <a:rPr lang="en-US" dirty="0"/>
              <a:t>Increase the </a:t>
            </a:r>
            <a:r>
              <a:rPr lang="en-US" dirty="0">
                <a:solidFill>
                  <a:srgbClr val="C00000"/>
                </a:solidFill>
              </a:rPr>
              <a:t>complexity</a:t>
            </a:r>
            <a:r>
              <a:rPr lang="en-US" dirty="0"/>
              <a:t> of the system, leading to higher burden and potentially more bugs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Performance degradation</a:t>
            </a:r>
            <a:r>
              <a:rPr lang="en-US" dirty="0"/>
              <a:t>; upper layers might not be optimized for frequent interruptions from lower layers </a:t>
            </a:r>
          </a:p>
          <a:p>
            <a:pPr lvl="2"/>
            <a:r>
              <a:rPr lang="en-US" dirty="0"/>
              <a:t>Up calls are typically used in exceptional circumstances where an event or error detected at a lower layer must be communicated immediately to higher layers.</a:t>
            </a:r>
          </a:p>
        </p:txBody>
      </p:sp>
    </p:spTree>
    <p:extLst>
      <p:ext uri="{BB962C8B-B14F-4D97-AF65-F5344CB8AC3E}">
        <p14:creationId xmlns:p14="http://schemas.microsoft.com/office/powerpoint/2010/main" val="771075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5850-7D6E-43EA-A13D-B4BDBADA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70E3-8AC1-7CBF-2063-656FAD83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0A50-B148-5B1D-5400-E1A6DE928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Three common layered architectures: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FF90C66-BEF6-E466-03EF-B2DD89630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362200"/>
            <a:ext cx="5833336" cy="3283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C32F8-49C5-33FD-E171-2C70D13B357A}"/>
              </a:ext>
            </a:extLst>
          </p:cNvPr>
          <p:cNvSpPr txBox="1"/>
          <p:nvPr/>
        </p:nvSpPr>
        <p:spPr>
          <a:xfrm>
            <a:off x="3657600" y="5622338"/>
            <a:ext cx="298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to both upper layers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EE02FC-D23A-F472-7048-D6629DE28FAD}"/>
              </a:ext>
            </a:extLst>
          </p:cNvPr>
          <p:cNvCxnSpPr>
            <a:cxnSpLocks/>
          </p:cNvCxnSpPr>
          <p:nvPr/>
        </p:nvCxnSpPr>
        <p:spPr>
          <a:xfrm flipH="1" flipV="1">
            <a:off x="5105400" y="4876801"/>
            <a:ext cx="76200" cy="745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845BE45-607D-B5B5-D9C2-EAB222273AA8}"/>
              </a:ext>
            </a:extLst>
          </p:cNvPr>
          <p:cNvSpPr txBox="1"/>
          <p:nvPr/>
        </p:nvSpPr>
        <p:spPr>
          <a:xfrm>
            <a:off x="6652459" y="4574583"/>
            <a:ext cx="2377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Up call </a:t>
            </a:r>
            <a:r>
              <a:rPr lang="en-US" dirty="0"/>
              <a:t>only at an </a:t>
            </a:r>
          </a:p>
          <a:p>
            <a:r>
              <a:rPr lang="en-US" dirty="0"/>
              <a:t>exceptional case, </a:t>
            </a:r>
            <a:r>
              <a:rPr lang="en-US" i="1" dirty="0"/>
              <a:t>e.g.</a:t>
            </a:r>
            <a:r>
              <a:rPr lang="en-US" dirty="0"/>
              <a:t>, </a:t>
            </a:r>
          </a:p>
          <a:p>
            <a:r>
              <a:rPr lang="en-US" dirty="0"/>
              <a:t>when an error happens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0D4851-FE4E-D312-46F5-59E863920526}"/>
              </a:ext>
            </a:extLst>
          </p:cNvPr>
          <p:cNvCxnSpPr>
            <a:cxnSpLocks/>
          </p:cNvCxnSpPr>
          <p:nvPr/>
        </p:nvCxnSpPr>
        <p:spPr>
          <a:xfrm flipH="1" flipV="1">
            <a:off x="7239000" y="4191000"/>
            <a:ext cx="304800" cy="45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7D1293-522D-CCF8-CAC2-4E94CC51EF4B}"/>
              </a:ext>
            </a:extLst>
          </p:cNvPr>
          <p:cNvSpPr txBox="1"/>
          <p:nvPr/>
        </p:nvSpPr>
        <p:spPr>
          <a:xfrm>
            <a:off x="533400" y="5483838"/>
            <a:ext cx="2709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organization with</a:t>
            </a:r>
          </a:p>
          <a:p>
            <a:r>
              <a:rPr lang="en-US" dirty="0"/>
              <a:t>only down calls</a:t>
            </a:r>
          </a:p>
        </p:txBody>
      </p:sp>
    </p:spTree>
    <p:extLst>
      <p:ext uri="{BB962C8B-B14F-4D97-AF65-F5344CB8AC3E}">
        <p14:creationId xmlns:p14="http://schemas.microsoft.com/office/powerpoint/2010/main" val="201466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0083-A63B-4738-B018-2BD63007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8617-5A7B-44BF-8D7B-7FCD798A1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well-known layered architecture is that of </a:t>
            </a:r>
            <a:r>
              <a:rPr lang="en-US" dirty="0">
                <a:solidFill>
                  <a:srgbClr val="0070C0"/>
                </a:solidFill>
              </a:rPr>
              <a:t>communication protocol stacks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Each layer implements one or more </a:t>
            </a:r>
            <a:r>
              <a:rPr lang="en-US" dirty="0">
                <a:solidFill>
                  <a:srgbClr val="0070C0"/>
                </a:solidFill>
              </a:rPr>
              <a:t>communication services</a:t>
            </a:r>
          </a:p>
          <a:p>
            <a:pPr lvl="1"/>
            <a:r>
              <a:rPr lang="en-US" dirty="0"/>
              <a:t>Each layer offers an </a:t>
            </a:r>
            <a:r>
              <a:rPr lang="en-US" dirty="0">
                <a:solidFill>
                  <a:srgbClr val="0070C0"/>
                </a:solidFill>
              </a:rPr>
              <a:t>interface</a:t>
            </a:r>
            <a:r>
              <a:rPr lang="en-US" dirty="0"/>
              <a:t> specifying the functions (of that layer) that can be called</a:t>
            </a:r>
          </a:p>
          <a:p>
            <a:pPr lvl="2"/>
            <a:r>
              <a:rPr lang="en-US" dirty="0"/>
              <a:t>The interface hides the actual implementation of service.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, transmission control protocol (TCP)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354BA-E43E-0431-7375-3E1DDE939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6933"/>
            <a:ext cx="2895600" cy="2429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86D247-899E-1036-B440-96D582A7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60" y="3821112"/>
            <a:ext cx="2469776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0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3846-79AB-4A8C-B808-B9C6A603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AB48-7EFF-48C3-B657-B91A70DEB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Application layering </a:t>
            </a:r>
            <a:r>
              <a:rPr lang="en-US" dirty="0"/>
              <a:t>(the application layer can be further divided into sub-layers)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application interface level</a:t>
            </a:r>
          </a:p>
          <a:p>
            <a:pPr lvl="2"/>
            <a:r>
              <a:rPr lang="en-US" dirty="0"/>
              <a:t>Handles interaction with the user or other applications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processing level</a:t>
            </a:r>
          </a:p>
          <a:p>
            <a:pPr lvl="2"/>
            <a:r>
              <a:rPr lang="en-US" dirty="0"/>
              <a:t>Performs main operations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The data level</a:t>
            </a:r>
          </a:p>
          <a:p>
            <a:pPr lvl="2"/>
            <a:r>
              <a:rPr lang="en-US" dirty="0"/>
              <a:t>Represents data for the application</a:t>
            </a:r>
          </a:p>
          <a:p>
            <a:r>
              <a:rPr lang="en-US" dirty="0"/>
              <a:t>Example: Internet search engine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Interface</a:t>
            </a:r>
            <a:r>
              <a:rPr lang="en-US" dirty="0"/>
              <a:t>: user types in a keyword and is presented with a list of web pages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Processing</a:t>
            </a:r>
            <a:r>
              <a:rPr lang="en-US" dirty="0"/>
              <a:t>: transforms a keyword into database queries, ranks the results, transforms the results into a series of HTML pages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Data</a:t>
            </a:r>
            <a:r>
              <a:rPr lang="en-US" dirty="0"/>
              <a:t>: a huge database of web pages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2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D365-0031-42D0-9A21-BEE8F8D4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Object-based and Service-oriented Architectures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7D56-71E0-42E5-9D2E-604E3347D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Object-based architecture</a:t>
            </a:r>
          </a:p>
          <a:p>
            <a:pPr lvl="1"/>
            <a:r>
              <a:rPr lang="en-US" sz="2000" dirty="0"/>
              <a:t>Each </a:t>
            </a:r>
            <a:r>
              <a:rPr lang="en-US" sz="2000" dirty="0">
                <a:solidFill>
                  <a:srgbClr val="0070C0"/>
                </a:solidFill>
              </a:rPr>
              <a:t>object</a:t>
            </a:r>
            <a:r>
              <a:rPr lang="en-US" sz="2000" dirty="0"/>
              <a:t> corresponds to a </a:t>
            </a:r>
            <a:r>
              <a:rPr lang="en-US" sz="2000" dirty="0">
                <a:solidFill>
                  <a:srgbClr val="0070C0"/>
                </a:solidFill>
              </a:rPr>
              <a:t>component</a:t>
            </a:r>
            <a:r>
              <a:rPr lang="en-US" sz="2000" dirty="0"/>
              <a:t> which is connected through a </a:t>
            </a:r>
            <a:r>
              <a:rPr lang="en-US" sz="2000" dirty="0">
                <a:solidFill>
                  <a:srgbClr val="0070C0"/>
                </a:solidFill>
              </a:rPr>
              <a:t>procedure call mechanism (procedure call can happen remotely).</a:t>
            </a:r>
          </a:p>
          <a:p>
            <a:pPr lvl="1"/>
            <a:r>
              <a:rPr lang="en-US" sz="2000" dirty="0"/>
              <a:t>Advantage: data and operations are </a:t>
            </a:r>
            <a:r>
              <a:rPr lang="en-US" sz="2000" dirty="0">
                <a:solidFill>
                  <a:srgbClr val="0070C0"/>
                </a:solidFill>
              </a:rPr>
              <a:t>encapsulated </a:t>
            </a:r>
            <a:r>
              <a:rPr lang="en-US" sz="2000" dirty="0"/>
              <a:t>into a single entity.</a:t>
            </a:r>
          </a:p>
          <a:p>
            <a:pPr lvl="1"/>
            <a:r>
              <a:rPr lang="en-US" sz="2000" dirty="0"/>
              <a:t>Only an </a:t>
            </a:r>
            <a:r>
              <a:rPr lang="en-US" sz="2000" dirty="0">
                <a:solidFill>
                  <a:srgbClr val="0070C0"/>
                </a:solidFill>
              </a:rPr>
              <a:t>interface</a:t>
            </a:r>
            <a:r>
              <a:rPr lang="en-US" sz="2000" dirty="0"/>
              <a:t> is exposed concealing the details.</a:t>
            </a:r>
          </a:p>
          <a:p>
            <a:pPr lvl="2"/>
            <a:r>
              <a:rPr lang="en-US" sz="1800" dirty="0"/>
              <a:t>This means that an object can be easily replaced if the interface is untouched.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A54729E-4747-4B9D-825F-48B511315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237657"/>
            <a:ext cx="4252913" cy="204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7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C680-78B0-4134-A7B4-05F44C4A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Object-based and Service-oriented Architectures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70B6B-82BC-4638-A570-187E68119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This separation between interface and objects allows us to</a:t>
            </a:r>
          </a:p>
          <a:p>
            <a:pPr lvl="2"/>
            <a:r>
              <a:rPr lang="en-US" sz="2000" dirty="0"/>
              <a:t>Place an interface at one machine, while the object itself resides on another machine (</a:t>
            </a:r>
            <a:r>
              <a:rPr lang="en-US" sz="2000" dirty="0">
                <a:solidFill>
                  <a:srgbClr val="0070C0"/>
                </a:solidFill>
              </a:rPr>
              <a:t>distributed object</a:t>
            </a:r>
            <a:r>
              <a:rPr lang="en-US" sz="2000" dirty="0"/>
              <a:t>)</a:t>
            </a:r>
          </a:p>
          <a:p>
            <a:pPr lvl="2"/>
            <a:r>
              <a:rPr lang="en-US" sz="2000" dirty="0"/>
              <a:t>When a client accesses a distributed object, a </a:t>
            </a:r>
            <a:r>
              <a:rPr lang="en-US" sz="2000" dirty="0">
                <a:solidFill>
                  <a:srgbClr val="0070C0"/>
                </a:solidFill>
              </a:rPr>
              <a:t>proxy</a:t>
            </a:r>
            <a:r>
              <a:rPr lang="en-US" sz="2000" dirty="0"/>
              <a:t> (an implementation of the object’s interface) is loaded in the client’s address space.</a:t>
            </a:r>
          </a:p>
          <a:p>
            <a:r>
              <a:rPr lang="en-US" sz="2200" dirty="0"/>
              <a:t>The </a:t>
            </a:r>
            <a:r>
              <a:rPr lang="en-US" sz="2200" dirty="0">
                <a:solidFill>
                  <a:srgbClr val="0070C0"/>
                </a:solidFill>
              </a:rPr>
              <a:t>proxy</a:t>
            </a:r>
            <a:r>
              <a:rPr lang="en-US" sz="2200" dirty="0"/>
              <a:t> acts as an intermediary, allowing clients to interact with the remote object as if it were local to them.</a:t>
            </a:r>
          </a:p>
          <a:p>
            <a:pPr lvl="1"/>
            <a:r>
              <a:rPr lang="en-US" sz="1900" dirty="0"/>
              <a:t>Abstracts the complexity of network communication</a:t>
            </a:r>
          </a:p>
          <a:p>
            <a:pPr lvl="1"/>
            <a:r>
              <a:rPr lang="en-US" sz="1900" dirty="0"/>
              <a:t>Hides the location of the remote object the client is communicating with </a:t>
            </a:r>
          </a:p>
          <a:p>
            <a:pPr lvl="1"/>
            <a:r>
              <a:rPr lang="en-US" sz="1900" dirty="0"/>
              <a:t>Provides an additional security layer</a:t>
            </a:r>
          </a:p>
          <a:p>
            <a:pPr lvl="1"/>
            <a:r>
              <a:rPr lang="en-US" sz="1900" dirty="0"/>
              <a:t>Performs load balancing regarding client requests to access remote objects</a:t>
            </a:r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6374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F915-03DC-EB94-E6C5-5024F1B2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1F06-E595-32AD-1C01-D59EC53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Object-based and Service-oriented Architectures (3/4)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DEA31-FA24-46A7-3AE7-9EA40572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28800"/>
            <a:ext cx="8646685" cy="447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2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5352-617C-DCA9-2552-869195DF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Object-based and Service-oriented Architectures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E2A1-D232-3228-A757-21876ED1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Service-oriented architectures</a:t>
            </a:r>
          </a:p>
          <a:p>
            <a:pPr lvl="1"/>
            <a:r>
              <a:rPr lang="en-US" dirty="0"/>
              <a:t>A distributed system is essentially a composition of many different </a:t>
            </a:r>
            <a:r>
              <a:rPr lang="en-US" dirty="0">
                <a:solidFill>
                  <a:schemeClr val="accent1"/>
                </a:solidFill>
              </a:rPr>
              <a:t>services</a:t>
            </a:r>
          </a:p>
          <a:p>
            <a:pPr lvl="1"/>
            <a:r>
              <a:rPr lang="en-US" i="1" dirty="0"/>
              <a:t>Components are organized based on services </a:t>
            </a:r>
          </a:p>
          <a:p>
            <a:pPr lvl="1"/>
            <a:r>
              <a:rPr lang="en-US" i="1" dirty="0"/>
              <a:t>e.g., </a:t>
            </a:r>
            <a:r>
              <a:rPr lang="en-US" dirty="0"/>
              <a:t>online shopping platform. Payment processing, receiving orders, etc. are services, and components can be organized based on that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886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770F-573C-E5FE-F41D-A3A9FDF8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Examples of Object-based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12B9C-7C54-F915-012D-3F9C5E79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Distributed Component Object Model (DCOM)</a:t>
            </a:r>
          </a:p>
          <a:p>
            <a:pPr lvl="1"/>
            <a:r>
              <a:rPr lang="en-US" dirty="0"/>
              <a:t>A Microsoft technology for software components distributed across several networked computers to communicate with each other.</a:t>
            </a:r>
          </a:p>
          <a:p>
            <a:r>
              <a:rPr lang="en-US" dirty="0">
                <a:solidFill>
                  <a:srgbClr val="0070C0"/>
                </a:solidFill>
              </a:rPr>
              <a:t>Java RMI (Remote Method Invocation)</a:t>
            </a:r>
          </a:p>
          <a:p>
            <a:pPr lvl="1"/>
            <a:r>
              <a:rPr lang="en-US" dirty="0"/>
              <a:t>A Java-specific technology that allows Java objects to invoke methods on Java objects located remotely, supporting the development of distributed Java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3570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E047-FBF6-7B94-AC25-D174E853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FEA64-0535-5CC6-2D0B-672C5BE8D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Amazon S3 (Simple Storage Service)</a:t>
            </a:r>
          </a:p>
          <a:p>
            <a:pPr lvl="1"/>
            <a:r>
              <a:rPr lang="en-US" dirty="0"/>
              <a:t>S3 uses the concept of objects to store data. Each object in S3 is stored with its metadata and is identified by a unique key, embodying principles of object-based architecture in a distributed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37560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DE41-CE90-438E-A8DF-995CCEED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Resource-based Architectures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DFC5-7662-47CF-8A8F-60A6A7908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Resource-based architectures</a:t>
            </a:r>
          </a:p>
          <a:p>
            <a:pPr lvl="1"/>
            <a:r>
              <a:rPr lang="en-US" sz="2000" dirty="0"/>
              <a:t>View a distributed system as a huge collection of </a:t>
            </a:r>
            <a:r>
              <a:rPr lang="en-US" sz="2000" dirty="0">
                <a:solidFill>
                  <a:srgbClr val="0070C0"/>
                </a:solidFill>
              </a:rPr>
              <a:t>resources</a:t>
            </a:r>
            <a:r>
              <a:rPr lang="en-US" sz="2000" dirty="0"/>
              <a:t> that are individually managed by components </a:t>
            </a:r>
          </a:p>
          <a:p>
            <a:pPr lvl="1"/>
            <a:r>
              <a:rPr lang="en-US" sz="2000" dirty="0"/>
              <a:t>Resources can be added, removed, retrieved, or modified</a:t>
            </a:r>
          </a:p>
          <a:p>
            <a:pPr lvl="1"/>
            <a:r>
              <a:rPr lang="en-US" sz="2000" dirty="0"/>
              <a:t>Widely adopted for the </a:t>
            </a:r>
            <a:r>
              <a:rPr lang="en-US" sz="2000" dirty="0">
                <a:solidFill>
                  <a:srgbClr val="0070C0"/>
                </a:solidFill>
              </a:rPr>
              <a:t>Web</a:t>
            </a:r>
            <a:r>
              <a:rPr lang="en-US" sz="2000" dirty="0"/>
              <a:t> and known as </a:t>
            </a:r>
            <a:r>
              <a:rPr lang="en-US" sz="2000" dirty="0">
                <a:solidFill>
                  <a:srgbClr val="0070C0"/>
                </a:solidFill>
              </a:rPr>
              <a:t>RESTful architecture</a:t>
            </a:r>
          </a:p>
          <a:p>
            <a:pPr lvl="1"/>
            <a:r>
              <a:rPr lang="en-US" sz="2000" dirty="0"/>
              <a:t>Key characteristics of the RESTful architecture</a:t>
            </a:r>
          </a:p>
          <a:p>
            <a:pPr lvl="2"/>
            <a:r>
              <a:rPr lang="en-US" sz="1800" dirty="0"/>
              <a:t>Resources are identified by a single naming scheme (</a:t>
            </a:r>
            <a:r>
              <a:rPr lang="en-US" sz="1800" i="1" dirty="0"/>
              <a:t>e.g., </a:t>
            </a:r>
            <a:r>
              <a:rPr lang="en-US" sz="1800" dirty="0"/>
              <a:t>URL)</a:t>
            </a:r>
          </a:p>
          <a:p>
            <a:pPr lvl="2"/>
            <a:r>
              <a:rPr lang="en-US" sz="1800" dirty="0"/>
              <a:t>All services offer </a:t>
            </a:r>
            <a:r>
              <a:rPr lang="en-US" sz="1800" dirty="0">
                <a:solidFill>
                  <a:srgbClr val="0070C0"/>
                </a:solidFill>
              </a:rPr>
              <a:t>the same interface </a:t>
            </a:r>
            <a:r>
              <a:rPr lang="en-US" sz="1800" dirty="0"/>
              <a:t>consisting of at most four operations</a:t>
            </a:r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Messages sent to/from a service are </a:t>
            </a:r>
            <a:r>
              <a:rPr lang="en-US" sz="1800" dirty="0">
                <a:solidFill>
                  <a:srgbClr val="0070C0"/>
                </a:solidFill>
              </a:rPr>
              <a:t>self-described</a:t>
            </a:r>
          </a:p>
          <a:p>
            <a:pPr lvl="3"/>
            <a:r>
              <a:rPr lang="en-US" sz="1200" dirty="0"/>
              <a:t>each request or response contains enough information for the receiver to understand what the message is, how to interpret it, and what to do with it.</a:t>
            </a:r>
            <a:endParaRPr lang="en-US" sz="1400" dirty="0">
              <a:solidFill>
                <a:srgbClr val="0070C0"/>
              </a:solidFill>
            </a:endParaRPr>
          </a:p>
          <a:p>
            <a:pPr lvl="2"/>
            <a:r>
              <a:rPr lang="en-US" sz="1800" dirty="0">
                <a:solidFill>
                  <a:srgbClr val="0070C0"/>
                </a:solidFill>
              </a:rPr>
              <a:t>Stateless</a:t>
            </a:r>
            <a:r>
              <a:rPr lang="en-US" sz="1800" dirty="0"/>
              <a:t>, </a:t>
            </a:r>
            <a:r>
              <a:rPr lang="en-US" sz="1800" i="1" dirty="0"/>
              <a:t>i.e., </a:t>
            </a:r>
            <a:r>
              <a:rPr lang="en-US" sz="1800" dirty="0"/>
              <a:t>after executing an operation at a service, that component forgets everything about the caller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1E586-6B25-310D-D3FF-1538C4A0C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495800"/>
            <a:ext cx="4495800" cy="100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05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1BE6-0B83-4805-9537-580D636A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Resource-based Architectures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9E3FA-BB97-95EC-9D02-31457DCC2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Benefits of RESTful Architecture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Scalability</a:t>
            </a:r>
          </a:p>
          <a:p>
            <a:pPr lvl="2"/>
            <a:r>
              <a:rPr lang="en-US" dirty="0"/>
              <a:t>Due to stateless (no need to store) and </a:t>
            </a:r>
            <a:r>
              <a:rPr lang="en-US" dirty="0" err="1"/>
              <a:t>cacheability</a:t>
            </a:r>
            <a:r>
              <a:rPr lang="en-US" dirty="0"/>
              <a:t> (</a:t>
            </a:r>
            <a:r>
              <a:rPr lang="en-US" i="1" dirty="0"/>
              <a:t>e.g.,</a:t>
            </a:r>
            <a:r>
              <a:rPr lang="en-US" dirty="0"/>
              <a:t> HTTP responses can be cashed and retrieved later, i.e., fewer requests) properties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Interoperability</a:t>
            </a:r>
          </a:p>
          <a:p>
            <a:pPr lvl="2"/>
            <a:r>
              <a:rPr lang="en-US" dirty="0"/>
              <a:t>Use the same interface (operations focused on managing resources)</a:t>
            </a:r>
          </a:p>
          <a:p>
            <a:pPr lvl="2"/>
            <a:r>
              <a:rPr lang="en-US" i="1" dirty="0"/>
              <a:t>e.g.,</a:t>
            </a:r>
            <a:r>
              <a:rPr lang="en-US" dirty="0"/>
              <a:t> Web is accessible with web browsers, mobile devices, </a:t>
            </a:r>
            <a:r>
              <a:rPr lang="en-US" i="1" dirty="0"/>
              <a:t>etc.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Simplicity</a:t>
            </a:r>
          </a:p>
          <a:p>
            <a:pPr lvl="2"/>
            <a:r>
              <a:rPr lang="en-US" dirty="0"/>
              <a:t>The simple interface</a:t>
            </a:r>
          </a:p>
          <a:p>
            <a:pPr lvl="2"/>
            <a:r>
              <a:rPr lang="en-US" dirty="0"/>
              <a:t>Messages are self-described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Flexibility</a:t>
            </a:r>
          </a:p>
          <a:p>
            <a:pPr lvl="2"/>
            <a:r>
              <a:rPr lang="en-US" dirty="0"/>
              <a:t>Not tied to specific technology or platform.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740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620F-8C96-4536-887F-EEA3AB7C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Publish-Subscribe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88E71-C2B7-464A-80B0-21EE999AA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Publish-subscribe architectures</a:t>
            </a:r>
          </a:p>
          <a:p>
            <a:pPr lvl="1"/>
            <a:r>
              <a:rPr lang="en-US" sz="1800" dirty="0"/>
              <a:t>In many systems, processes/components are becoming more autonomous, </a:t>
            </a:r>
            <a:r>
              <a:rPr lang="en-US" sz="1800" i="1" dirty="0"/>
              <a:t>i.e.</a:t>
            </a:r>
            <a:r>
              <a:rPr lang="en-US" sz="1800" dirty="0"/>
              <a:t>, easily join or leave the system</a:t>
            </a:r>
          </a:p>
          <a:p>
            <a:pPr lvl="1"/>
            <a:r>
              <a:rPr lang="en-US" sz="1800" dirty="0"/>
              <a:t>Thus, an architecture in which dependencies between processes/components are as </a:t>
            </a:r>
            <a:r>
              <a:rPr lang="en-US" sz="1800" dirty="0">
                <a:solidFill>
                  <a:srgbClr val="0070C0"/>
                </a:solidFill>
              </a:rPr>
              <a:t>loose</a:t>
            </a:r>
            <a:r>
              <a:rPr lang="en-US" sz="1800" dirty="0"/>
              <a:t> as possible is needed</a:t>
            </a:r>
          </a:p>
          <a:p>
            <a:pPr lvl="1"/>
            <a:r>
              <a:rPr lang="en-US" sz="1800" dirty="0"/>
              <a:t>In particular, </a:t>
            </a:r>
            <a:r>
              <a:rPr lang="en-US" sz="1800" dirty="0" err="1"/>
              <a:t>Cabri</a:t>
            </a:r>
            <a:r>
              <a:rPr lang="en-US" sz="1800" dirty="0"/>
              <a:t> et al. [2000] define four different models for process/component dependency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Referentially coupled</a:t>
            </a:r>
            <a:r>
              <a:rPr lang="en-US" sz="1600" dirty="0"/>
              <a:t>: use naming for communication</a:t>
            </a:r>
          </a:p>
          <a:p>
            <a:pPr lvl="3"/>
            <a:r>
              <a:rPr lang="en-US" sz="1200" dirty="0"/>
              <a:t>e.g., Direct communication, Mailbox-based communication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Temporally coupled</a:t>
            </a:r>
            <a:r>
              <a:rPr lang="en-US" sz="1600" dirty="0"/>
              <a:t>: processes communicating should be up and running</a:t>
            </a:r>
          </a:p>
          <a:p>
            <a:pPr lvl="3"/>
            <a:r>
              <a:rPr lang="en-US" sz="1200" dirty="0"/>
              <a:t>e.g., event-based coordination: no name is needed; just publish a notification of an event; subscribers should be up and running</a:t>
            </a:r>
          </a:p>
          <a:p>
            <a:pPr lvl="3"/>
            <a:r>
              <a:rPr lang="en-US" sz="1200" dirty="0"/>
              <a:t>Shared data space: processes do not need to be up and running; they can read shared data at any time 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C188DAE9-B78E-4388-8622-7DB3877A6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440" y="4800600"/>
            <a:ext cx="5141119" cy="192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54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Middleware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4C9C2-ED35-4E37-BC87-5F69082F7AF1}"/>
              </a:ext>
            </a:extLst>
          </p:cNvPr>
          <p:cNvSpPr txBox="1"/>
          <p:nvPr/>
        </p:nvSpPr>
        <p:spPr>
          <a:xfrm>
            <a:off x="1850517" y="4267200"/>
            <a:ext cx="5760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“Let’s zoom into the actual organization of the middleware”.</a:t>
            </a:r>
          </a:p>
        </p:txBody>
      </p:sp>
    </p:spTree>
    <p:extLst>
      <p:ext uri="{BB962C8B-B14F-4D97-AF65-F5344CB8AC3E}">
        <p14:creationId xmlns:p14="http://schemas.microsoft.com/office/powerpoint/2010/main" val="1111984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650B-5B00-B8E7-DE59-33E3F36D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851B-01B5-5FB7-B55D-6C4E98F57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>
            <a:normAutofit lnSpcReduction="10000"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Distributed systems are becoming </a:t>
            </a:r>
            <a:r>
              <a:rPr lang="en-US" b="0" i="0" dirty="0">
                <a:solidFill>
                  <a:srgbClr val="C00000"/>
                </a:solidFill>
                <a:effectLst/>
                <a:latin typeface="urw-din"/>
              </a:rPr>
              <a:t>increasingly complex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.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One way to achieve the integration of heterogeneous software and hardware is through the use of </a:t>
            </a:r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middleware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. 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urw-din"/>
              </a:rPr>
              <a:t>M</a:t>
            </a:r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iddleware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is a software component that provides services between two or more heterogeneous components.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07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3120-B139-4C6C-9E8A-BA07085C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57E0A-F821-4FE2-BE80-EFF7BCFC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important </a:t>
            </a:r>
            <a:r>
              <a:rPr lang="en-US" b="1" dirty="0">
                <a:solidFill>
                  <a:srgbClr val="0070C0"/>
                </a:solidFill>
              </a:rPr>
              <a:t>design patterns </a:t>
            </a:r>
            <a:r>
              <a:rPr lang="en-US" dirty="0"/>
              <a:t>applied to organization of middleware to act as an intermediary between heterogeneous components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Wrappers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interceptors</a:t>
            </a:r>
          </a:p>
          <a:p>
            <a:pPr lvl="1"/>
            <a:r>
              <a:rPr lang="en-US" dirty="0"/>
              <a:t>A means to extend and adapt the middleware</a:t>
            </a:r>
          </a:p>
        </p:txBody>
      </p:sp>
    </p:spTree>
    <p:extLst>
      <p:ext uri="{BB962C8B-B14F-4D97-AF65-F5344CB8AC3E}">
        <p14:creationId xmlns:p14="http://schemas.microsoft.com/office/powerpoint/2010/main" val="3437991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8AAA-F16C-4F10-BB21-C80CAB91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9E48A-2D21-4F83-88C8-E45374F4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44036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Problem</a:t>
            </a:r>
            <a:r>
              <a:rPr lang="en-US" sz="2400" dirty="0"/>
              <a:t>: the interfaces of one component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may not be suitable/compatible for another component.</a:t>
            </a:r>
          </a:p>
          <a:p>
            <a:r>
              <a:rPr lang="en-US" sz="2400" dirty="0"/>
              <a:t>A </a:t>
            </a:r>
            <a:r>
              <a:rPr lang="en-US" sz="2400" dirty="0">
                <a:solidFill>
                  <a:srgbClr val="0070C0"/>
                </a:solidFill>
              </a:rPr>
              <a:t>wrapper</a:t>
            </a:r>
            <a:r>
              <a:rPr lang="en-US" sz="2400" dirty="0"/>
              <a:t> (or </a:t>
            </a:r>
            <a:r>
              <a:rPr lang="en-US" sz="2400" dirty="0">
                <a:solidFill>
                  <a:srgbClr val="0070C0"/>
                </a:solidFill>
              </a:rPr>
              <a:t>adaptor</a:t>
            </a:r>
            <a:r>
              <a:rPr lang="en-US" sz="2400" dirty="0"/>
              <a:t>) solves the problem of the </a:t>
            </a:r>
            <a:r>
              <a:rPr lang="en-US" sz="2400" dirty="0">
                <a:solidFill>
                  <a:srgbClr val="C00000"/>
                </a:solidFill>
              </a:rPr>
              <a:t>incompatible interfaces</a:t>
            </a:r>
          </a:p>
          <a:p>
            <a:pPr lvl="1"/>
            <a:r>
              <a:rPr lang="en-US" sz="2400" dirty="0"/>
              <a:t>A software module that converts one interface to another, and vice versa.</a:t>
            </a:r>
          </a:p>
          <a:p>
            <a:r>
              <a:rPr lang="en-US" sz="2400" dirty="0"/>
              <a:t>With N components, we would, in theory, need to develop </a:t>
            </a:r>
            <a:r>
              <a:rPr lang="en-US" sz="2400" dirty="0">
                <a:solidFill>
                  <a:srgbClr val="C00000"/>
                </a:solidFill>
              </a:rPr>
              <a:t>N*(N-1) = O(N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) wrappers </a:t>
            </a:r>
            <a:r>
              <a:rPr lang="en-US" sz="2400" dirty="0"/>
              <a:t>to enable each pair of applications communicate with no compatibility issue</a:t>
            </a:r>
          </a:p>
          <a:p>
            <a:pPr lvl="1"/>
            <a:r>
              <a:rPr lang="en-US" sz="2400" dirty="0"/>
              <a:t>Note that each application needs N-1 wrappers.</a:t>
            </a:r>
          </a:p>
          <a:p>
            <a:r>
              <a:rPr lang="en-US" sz="2400" dirty="0"/>
              <a:t>A reduction of the number of wrappers is done by using a </a:t>
            </a:r>
            <a:r>
              <a:rPr lang="en-US" sz="2400" dirty="0">
                <a:solidFill>
                  <a:srgbClr val="0070C0"/>
                </a:solidFill>
              </a:rPr>
              <a:t>broker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broker</a:t>
            </a:r>
            <a:r>
              <a:rPr lang="en-US" sz="2400" dirty="0"/>
              <a:t>: component that has all interfaces of components</a:t>
            </a:r>
          </a:p>
          <a:p>
            <a:pPr lvl="2"/>
            <a:r>
              <a:rPr lang="en-US" sz="1800" dirty="0"/>
              <a:t>Because a broker offers an interface to each component, only need 2N wrappers</a:t>
            </a:r>
            <a:r>
              <a:rPr lang="en-US" sz="1800" i="1" dirty="0"/>
              <a:t>, i.e., </a:t>
            </a:r>
            <a:r>
              <a:rPr lang="en-US" sz="1800" dirty="0">
                <a:solidFill>
                  <a:srgbClr val="0070C0"/>
                </a:solidFill>
              </a:rPr>
              <a:t>O(N)</a:t>
            </a:r>
            <a:r>
              <a:rPr lang="en-US" sz="1800" dirty="0"/>
              <a:t>, instead of </a:t>
            </a:r>
            <a:r>
              <a:rPr lang="en-US" sz="1800" dirty="0">
                <a:solidFill>
                  <a:srgbClr val="C00000"/>
                </a:solidFill>
              </a:rPr>
              <a:t>O(N</a:t>
            </a:r>
            <a:r>
              <a:rPr lang="en-US" sz="1800" baseline="30000" dirty="0">
                <a:solidFill>
                  <a:srgbClr val="C00000"/>
                </a:solidFill>
              </a:rPr>
              <a:t>2</a:t>
            </a:r>
            <a:r>
              <a:rPr lang="en-US" sz="1800" dirty="0">
                <a:solidFill>
                  <a:srgbClr val="C00000"/>
                </a:solidFill>
              </a:rPr>
              <a:t>)</a:t>
            </a:r>
          </a:p>
          <a:p>
            <a:pPr lvl="3"/>
            <a:r>
              <a:rPr lang="en-US" sz="1600" i="1" dirty="0"/>
              <a:t>i.e., </a:t>
            </a:r>
            <a:r>
              <a:rPr lang="en-US" sz="1600" dirty="0"/>
              <a:t>each component maintains a wrapper to communicate with the broker, and the broker maintains a wrapper for each component.</a:t>
            </a:r>
          </a:p>
        </p:txBody>
      </p:sp>
    </p:spTree>
    <p:extLst>
      <p:ext uri="{BB962C8B-B14F-4D97-AF65-F5344CB8AC3E}">
        <p14:creationId xmlns:p14="http://schemas.microsoft.com/office/powerpoint/2010/main" val="3364041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5D72-D87D-4403-B4CC-0967C24B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11F4C-7E09-4395-AF49-80F0A0762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640AE-9E7D-486A-A410-9D61F46A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200"/>
            <a:ext cx="9144000" cy="3315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FE4899-7D47-45BD-A329-DF11F2189C89}"/>
              </a:ext>
            </a:extLst>
          </p:cNvPr>
          <p:cNvSpPr txBox="1"/>
          <p:nvPr/>
        </p:nvSpPr>
        <p:spPr>
          <a:xfrm>
            <a:off x="1905000" y="5759868"/>
            <a:ext cx="1634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 wrappers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BA03F-5875-44EF-8DAC-2A819B0A4A8B}"/>
              </a:ext>
            </a:extLst>
          </p:cNvPr>
          <p:cNvSpPr txBox="1"/>
          <p:nvPr/>
        </p:nvSpPr>
        <p:spPr>
          <a:xfrm>
            <a:off x="6812569" y="5717351"/>
            <a:ext cx="1556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O(N) wrappers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F18A4-5E5D-3DB6-23E1-1F9C37A1728D}"/>
              </a:ext>
            </a:extLst>
          </p:cNvPr>
          <p:cNvSpPr txBox="1"/>
          <p:nvPr/>
        </p:nvSpPr>
        <p:spPr>
          <a:xfrm>
            <a:off x="4429877" y="1712832"/>
            <a:ext cx="4485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component can communicate with another </a:t>
            </a:r>
          </a:p>
          <a:p>
            <a:r>
              <a:rPr lang="en-US" dirty="0"/>
              <a:t>component via the broker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57699D-D359-9A95-FB1A-34673E82A124}"/>
              </a:ext>
            </a:extLst>
          </p:cNvPr>
          <p:cNvCxnSpPr>
            <a:cxnSpLocks/>
          </p:cNvCxnSpPr>
          <p:nvPr/>
        </p:nvCxnSpPr>
        <p:spPr>
          <a:xfrm>
            <a:off x="6477000" y="2362200"/>
            <a:ext cx="76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328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5FCD-304F-70D1-D303-F6336800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2655-C352-D680-0143-27CB548B5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 application that requires interaction with multiple types of databases.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database middleware wrapper </a:t>
            </a:r>
          </a:p>
          <a:p>
            <a:pPr lvl="2"/>
            <a:r>
              <a:rPr lang="en-US" dirty="0"/>
              <a:t>provides a uniform API to execute queries</a:t>
            </a:r>
          </a:p>
          <a:p>
            <a:pPr lvl="2"/>
            <a:r>
              <a:rPr lang="en-US" dirty="0"/>
              <a:t>manages connections across different database systems (like MySQL, PostgreSQL, and MongoDB).</a:t>
            </a:r>
          </a:p>
        </p:txBody>
      </p:sp>
    </p:spTree>
    <p:extLst>
      <p:ext uri="{BB962C8B-B14F-4D97-AF65-F5344CB8AC3E}">
        <p14:creationId xmlns:p14="http://schemas.microsoft.com/office/powerpoint/2010/main" val="2869742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F3CA-3CDF-6C36-F2AA-E7E55639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Interceptors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696B8-7016-E5CE-E3A7-81228799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Problem</a:t>
            </a:r>
            <a:r>
              <a:rPr lang="en-US" dirty="0"/>
              <a:t>: Components are </a:t>
            </a:r>
            <a:r>
              <a:rPr lang="en-US" dirty="0">
                <a:solidFill>
                  <a:srgbClr val="C00000"/>
                </a:solidFill>
              </a:rPr>
              <a:t>highly interconnected</a:t>
            </a:r>
            <a:r>
              <a:rPr lang="en-US" dirty="0"/>
              <a:t>, making it difficult to add or modify their functions.</a:t>
            </a:r>
          </a:p>
          <a:p>
            <a:r>
              <a:rPr lang="en-US" dirty="0">
                <a:solidFill>
                  <a:srgbClr val="0070C0"/>
                </a:solidFill>
              </a:rPr>
              <a:t>Interceptor</a:t>
            </a:r>
          </a:p>
          <a:p>
            <a:pPr lvl="1"/>
            <a:r>
              <a:rPr lang="en-US" dirty="0"/>
              <a:t>A mechanism for altering or augmenting the function of a component </a:t>
            </a:r>
            <a:r>
              <a:rPr lang="en-US" dirty="0">
                <a:solidFill>
                  <a:srgbClr val="0070C0"/>
                </a:solidFill>
              </a:rPr>
              <a:t>without modifying its core functionality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Allow for the </a:t>
            </a:r>
            <a:r>
              <a:rPr lang="en-US" dirty="0">
                <a:solidFill>
                  <a:srgbClr val="0070C0"/>
                </a:solidFill>
              </a:rPr>
              <a:t>dynamic injection of functions </a:t>
            </a:r>
            <a:r>
              <a:rPr lang="en-US" dirty="0"/>
              <a:t>such as logging, security (like authentication and authorization), and error processing.</a:t>
            </a:r>
          </a:p>
        </p:txBody>
      </p:sp>
    </p:spTree>
    <p:extLst>
      <p:ext uri="{BB962C8B-B14F-4D97-AF65-F5344CB8AC3E}">
        <p14:creationId xmlns:p14="http://schemas.microsoft.com/office/powerpoint/2010/main" val="3451780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6317-6B29-66E5-9923-FA58F79D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Interceptors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DA0F-6581-128B-7C2A-B5F65BE0C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06" y="1616149"/>
            <a:ext cx="4099793" cy="463225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“</a:t>
            </a:r>
            <a:r>
              <a:rPr lang="en-US" dirty="0">
                <a:solidFill>
                  <a:srgbClr val="0070C0"/>
                </a:solidFill>
              </a:rPr>
              <a:t>filters</a:t>
            </a:r>
            <a:r>
              <a:rPr lang="en-US" dirty="0"/>
              <a:t>” that are placed into the execution path between different middleware layers.</a:t>
            </a:r>
          </a:p>
          <a:p>
            <a:pPr lvl="1"/>
            <a:r>
              <a:rPr lang="en-US" dirty="0"/>
              <a:t>When a request is made from one component to another, it passes through the interceptor, which can then execute </a:t>
            </a:r>
            <a:r>
              <a:rPr lang="en-US" dirty="0">
                <a:solidFill>
                  <a:srgbClr val="0070C0"/>
                </a:solidFill>
              </a:rPr>
              <a:t>predefined operations </a:t>
            </a:r>
            <a:r>
              <a:rPr lang="en-US" dirty="0"/>
              <a:t>before passing the request along to the next component in the chain.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6BCC7AB-F13F-BDEA-307D-403ED92E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1" y="1981200"/>
            <a:ext cx="4861793" cy="3696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AF7FDA-ED73-C9DF-2CAD-6388C94E3740}"/>
              </a:ext>
            </a:extLst>
          </p:cNvPr>
          <p:cNvSpPr txBox="1"/>
          <p:nvPr/>
        </p:nvSpPr>
        <p:spPr>
          <a:xfrm>
            <a:off x="4419600" y="3520698"/>
            <a:ext cx="1398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e.g., authentication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58BFA-01CA-DAB4-30E0-4C59A1B54D35}"/>
              </a:ext>
            </a:extLst>
          </p:cNvPr>
          <p:cNvSpPr txBox="1"/>
          <p:nvPr/>
        </p:nvSpPr>
        <p:spPr>
          <a:xfrm>
            <a:off x="4572000" y="4599067"/>
            <a:ext cx="1176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e.g., encryption</a:t>
            </a:r>
          </a:p>
        </p:txBody>
      </p:sp>
    </p:spTree>
    <p:extLst>
      <p:ext uri="{BB962C8B-B14F-4D97-AF65-F5344CB8AC3E}">
        <p14:creationId xmlns:p14="http://schemas.microsoft.com/office/powerpoint/2010/main" val="2890626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0A51-C039-62A8-12D5-E5CF746FA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Interceptors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836CA-18B3-58EE-0D5E-41EB0784E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Types of operations performed by interceptors</a:t>
            </a:r>
          </a:p>
          <a:p>
            <a:pPr lvl="1"/>
            <a:r>
              <a:rPr lang="en-US" b="1" dirty="0"/>
              <a:t>Logging</a:t>
            </a:r>
          </a:p>
          <a:p>
            <a:pPr lvl="2"/>
            <a:r>
              <a:rPr lang="en-US" dirty="0"/>
              <a:t>Recording details about requests and responses.</a:t>
            </a:r>
          </a:p>
          <a:p>
            <a:pPr lvl="1"/>
            <a:r>
              <a:rPr lang="en-US" b="1" dirty="0"/>
              <a:t>Authentication and Authorization</a:t>
            </a:r>
          </a:p>
          <a:p>
            <a:pPr lvl="2"/>
            <a:r>
              <a:rPr lang="en-US" dirty="0"/>
              <a:t>Checking credentials to ensure that the requester has the right to access the requested resources.</a:t>
            </a:r>
          </a:p>
          <a:p>
            <a:pPr lvl="1"/>
            <a:r>
              <a:rPr lang="en-US" b="1" dirty="0"/>
              <a:t>Data Validation</a:t>
            </a:r>
          </a:p>
          <a:p>
            <a:pPr lvl="2"/>
            <a:r>
              <a:rPr lang="en-US" dirty="0"/>
              <a:t>Ensuring that incoming data meets the required criteria before it is processed by the application.</a:t>
            </a:r>
          </a:p>
          <a:p>
            <a:pPr lvl="1"/>
            <a:r>
              <a:rPr lang="en-US" b="1" dirty="0"/>
              <a:t>Error Handling</a:t>
            </a:r>
          </a:p>
          <a:p>
            <a:pPr lvl="2"/>
            <a:r>
              <a:rPr lang="en-US" dirty="0"/>
              <a:t>Catching and managing errors.</a:t>
            </a:r>
          </a:p>
          <a:p>
            <a:pPr lvl="1"/>
            <a:r>
              <a:rPr lang="en-US" b="1" dirty="0"/>
              <a:t>Performance Monitoring</a:t>
            </a:r>
          </a:p>
          <a:p>
            <a:pPr lvl="2"/>
            <a:r>
              <a:rPr lang="en-US" dirty="0"/>
              <a:t>Collecting data on performance metrics to monitor the health and efficiency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578703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50C9-6681-E97F-EFF0-4750D58D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Interceptors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B3F11-4FEF-6A80-6A8F-15DA290D6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Practical Example</a:t>
            </a:r>
          </a:p>
          <a:p>
            <a:pPr lvl="1"/>
            <a:r>
              <a:rPr lang="en-US" dirty="0"/>
              <a:t>Consider an </a:t>
            </a:r>
            <a:r>
              <a:rPr lang="en-US" dirty="0">
                <a:solidFill>
                  <a:srgbClr val="0070C0"/>
                </a:solidFill>
              </a:rPr>
              <a:t>e-commerce application </a:t>
            </a:r>
            <a:r>
              <a:rPr lang="en-US" dirty="0"/>
              <a:t>that needs to ensure that only authenticated users can place orders.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0070C0"/>
                </a:solidFill>
              </a:rPr>
              <a:t>interceptor</a:t>
            </a:r>
            <a:r>
              <a:rPr lang="en-US" dirty="0"/>
              <a:t> can be used to check if there is a valid authentication token in the request headers before the request reaches the order processing logic.</a:t>
            </a:r>
          </a:p>
          <a:p>
            <a:pPr lvl="1"/>
            <a:r>
              <a:rPr lang="en-US" dirty="0"/>
              <a:t>If the token is not valid, the interceptor can block the request and return an error response.</a:t>
            </a:r>
          </a:p>
          <a:p>
            <a:pPr lvl="1"/>
            <a:r>
              <a:rPr lang="en-US" dirty="0"/>
              <a:t>This keeps the authentication logic separate from the business logic of order processing, making the system </a:t>
            </a:r>
            <a:r>
              <a:rPr lang="en-US" dirty="0">
                <a:solidFill>
                  <a:srgbClr val="0070C0"/>
                </a:solidFill>
              </a:rPr>
              <a:t>more modular and easier to maintain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7891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5A6-C76A-4E73-BF12-17B03D2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51941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37BC-A1D4-44D5-A263-0C47ABE9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Organizations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8B4E9-FCDA-4C1B-9DD2-C3BC238DE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this architecture, there is a node (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) that implements a specific service, and other nodes (</a:t>
            </a:r>
            <a:r>
              <a:rPr lang="en-US" dirty="0">
                <a:solidFill>
                  <a:srgbClr val="0070C0"/>
                </a:solidFill>
              </a:rPr>
              <a:t>clients</a:t>
            </a:r>
            <a:r>
              <a:rPr lang="en-US" dirty="0"/>
              <a:t>) use the service.</a:t>
            </a:r>
          </a:p>
          <a:p>
            <a:r>
              <a:rPr lang="en-US" dirty="0">
                <a:solidFill>
                  <a:srgbClr val="0070C0"/>
                </a:solidFill>
              </a:rPr>
              <a:t>Client-server architecture</a:t>
            </a:r>
          </a:p>
          <a:p>
            <a:pPr lvl="1"/>
            <a:r>
              <a:rPr lang="en-US" dirty="0"/>
              <a:t>Nodes are divided into two groups (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client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server</a:t>
            </a:r>
            <a:r>
              <a:rPr lang="en-US" dirty="0"/>
              <a:t> implements a specific service (</a:t>
            </a:r>
            <a:r>
              <a:rPr lang="en-US" i="1" dirty="0"/>
              <a:t>e.g., </a:t>
            </a:r>
            <a:r>
              <a:rPr lang="en-US" dirty="0"/>
              <a:t>file system, database system)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client</a:t>
            </a:r>
            <a:r>
              <a:rPr lang="en-US" dirty="0"/>
              <a:t> is a process that requests a service</a:t>
            </a:r>
          </a:p>
          <a:p>
            <a:pPr lvl="1"/>
            <a:r>
              <a:rPr lang="en-US" dirty="0"/>
              <a:t>Communication between a server and a client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Connectionless communication </a:t>
            </a:r>
            <a:r>
              <a:rPr lang="en-US" dirty="0"/>
              <a:t>(used in a reliable network, </a:t>
            </a:r>
            <a:r>
              <a:rPr lang="en-US" i="1" dirty="0"/>
              <a:t>e.g., </a:t>
            </a:r>
            <a:r>
              <a:rPr lang="en-US" dirty="0">
                <a:solidFill>
                  <a:srgbClr val="0070C0"/>
                </a:solidFill>
              </a:rPr>
              <a:t>LAN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A client just transmits a request, and a server keeps waiting for a request</a:t>
            </a:r>
          </a:p>
          <a:p>
            <a:pPr lvl="3"/>
            <a:r>
              <a:rPr lang="en-US" dirty="0"/>
              <a:t>Efficient, but messages can be lost; simple retransmission may not work for some applications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Connection-oriented communication</a:t>
            </a:r>
          </a:p>
          <a:p>
            <a:pPr lvl="3"/>
            <a:r>
              <a:rPr lang="en-US" dirty="0"/>
              <a:t>A client first </a:t>
            </a:r>
            <a:r>
              <a:rPr lang="en-US" b="1" dirty="0"/>
              <a:t>sets up a connection </a:t>
            </a:r>
            <a:r>
              <a:rPr lang="en-US" dirty="0"/>
              <a:t>to a server</a:t>
            </a:r>
          </a:p>
          <a:p>
            <a:pPr lvl="3"/>
            <a:r>
              <a:rPr lang="en-US" dirty="0"/>
              <a:t>A message exchange is done via the established connection</a:t>
            </a:r>
          </a:p>
          <a:p>
            <a:pPr lvl="3"/>
            <a:r>
              <a:rPr lang="en-US" dirty="0"/>
              <a:t>Once communication is done, the connection is torn down	</a:t>
            </a:r>
          </a:p>
          <a:p>
            <a:pPr lvl="3"/>
            <a:r>
              <a:rPr lang="en-US" dirty="0"/>
              <a:t>More appropriate for a </a:t>
            </a:r>
            <a:r>
              <a:rPr lang="en-US" dirty="0">
                <a:solidFill>
                  <a:srgbClr val="0070C0"/>
                </a:solidFill>
              </a:rPr>
              <a:t>wide-area network </a:t>
            </a:r>
            <a:r>
              <a:rPr lang="en-US" dirty="0"/>
              <a:t>which is inherently unreliable</a:t>
            </a:r>
          </a:p>
        </p:txBody>
      </p:sp>
    </p:spTree>
    <p:extLst>
      <p:ext uri="{BB962C8B-B14F-4D97-AF65-F5344CB8AC3E}">
        <p14:creationId xmlns:p14="http://schemas.microsoft.com/office/powerpoint/2010/main" val="242352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ACF8-7D0A-4298-A007-047F54D8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Organizations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9AEE-56D3-47FD-B89C-8116EAB4E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Multitiered architectures </a:t>
            </a:r>
            <a:r>
              <a:rPr lang="en-US" sz="2400" dirty="0"/>
              <a:t>(a variant of the server-client architecture)</a:t>
            </a:r>
          </a:p>
          <a:p>
            <a:pPr lvl="1"/>
            <a:r>
              <a:rPr lang="en-US" sz="2000" dirty="0"/>
              <a:t>Recall </a:t>
            </a:r>
            <a:r>
              <a:rPr lang="en-US" sz="2000" dirty="0">
                <a:solidFill>
                  <a:srgbClr val="0070C0"/>
                </a:solidFill>
              </a:rPr>
              <a:t>application layering</a:t>
            </a:r>
          </a:p>
          <a:p>
            <a:pPr lvl="2"/>
            <a:r>
              <a:rPr lang="en-US" sz="1800" dirty="0"/>
              <a:t>The application interface level </a:t>
            </a:r>
          </a:p>
          <a:p>
            <a:pPr lvl="2"/>
            <a:r>
              <a:rPr lang="en-US" sz="1800" dirty="0"/>
              <a:t>The processing level </a:t>
            </a:r>
          </a:p>
          <a:p>
            <a:pPr lvl="2"/>
            <a:r>
              <a:rPr lang="en-US" sz="1800" dirty="0"/>
              <a:t>The data level </a:t>
            </a:r>
          </a:p>
          <a:p>
            <a:pPr lvl="1"/>
            <a:r>
              <a:rPr lang="en-US" sz="2000" dirty="0"/>
              <a:t>The idea is to </a:t>
            </a:r>
            <a:r>
              <a:rPr lang="en-US" sz="2000" dirty="0">
                <a:solidFill>
                  <a:srgbClr val="0070C0"/>
                </a:solidFill>
              </a:rPr>
              <a:t>distribute these layers across different machines</a:t>
            </a:r>
          </a:p>
          <a:p>
            <a:pPr lvl="1"/>
            <a:r>
              <a:rPr lang="en-US" sz="2000" dirty="0"/>
              <a:t>allows for greater flexibility, scalability, and maintainability</a:t>
            </a:r>
          </a:p>
          <a:p>
            <a:pPr lvl="2"/>
            <a:r>
              <a:rPr lang="en-US" sz="1600" dirty="0"/>
              <a:t>Flexibility: each layer can be changed independently. </a:t>
            </a:r>
          </a:p>
          <a:p>
            <a:pPr lvl="2"/>
            <a:r>
              <a:rPr lang="en-US" sz="1600" dirty="0"/>
              <a:t>Scalability: application tasks can be distributed to multiple machines, reducing the burden. </a:t>
            </a:r>
          </a:p>
          <a:p>
            <a:pPr lvl="2"/>
            <a:r>
              <a:rPr lang="en-US" sz="1600" dirty="0"/>
              <a:t>Maintainability: Because responsibilities are separated, changes and bugs are easier to isolate.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52241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9B3D-6542-F7EF-20E5-275BE882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BE16-C3CF-4A37-63A8-3F1DCB7F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Organizations (3/4)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A68017B-6A26-1394-A60F-DD76105DF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38400"/>
            <a:ext cx="6858000" cy="3016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689331-EC6D-2D63-C620-50E63E7547F0}"/>
              </a:ext>
            </a:extLst>
          </p:cNvPr>
          <p:cNvSpPr txBox="1"/>
          <p:nvPr/>
        </p:nvSpPr>
        <p:spPr>
          <a:xfrm>
            <a:off x="228600" y="1985836"/>
            <a:ext cx="1571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part of</a:t>
            </a:r>
          </a:p>
          <a:p>
            <a:r>
              <a:rPr lang="en-US" dirty="0"/>
              <a:t>Interface</a:t>
            </a:r>
          </a:p>
          <a:p>
            <a:r>
              <a:rPr lang="en-US" dirty="0"/>
              <a:t>(e.g., terminal)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95DA1-1650-97A8-AEBF-8294F7EB1D6E}"/>
              </a:ext>
            </a:extLst>
          </p:cNvPr>
          <p:cNvSpPr txBox="1"/>
          <p:nvPr/>
        </p:nvSpPr>
        <p:spPr>
          <a:xfrm>
            <a:off x="2143849" y="2331131"/>
            <a:ext cx="162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Entire interface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A1BA6F-A685-682B-2807-283FC61F6E06}"/>
              </a:ext>
            </a:extLst>
          </p:cNvPr>
          <p:cNvCxnSpPr>
            <a:cxnSpLocks/>
          </p:cNvCxnSpPr>
          <p:nvPr/>
        </p:nvCxnSpPr>
        <p:spPr>
          <a:xfrm>
            <a:off x="1051813" y="2820722"/>
            <a:ext cx="580939" cy="272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FE39BF-CBAC-3D99-2A1F-2BF18BF34948}"/>
              </a:ext>
            </a:extLst>
          </p:cNvPr>
          <p:cNvCxnSpPr>
            <a:cxnSpLocks/>
          </p:cNvCxnSpPr>
          <p:nvPr/>
        </p:nvCxnSpPr>
        <p:spPr>
          <a:xfrm>
            <a:off x="2748480" y="2617692"/>
            <a:ext cx="45192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5909EA-EDE4-37D1-9243-54954D60FD5E}"/>
              </a:ext>
            </a:extLst>
          </p:cNvPr>
          <p:cNvSpPr txBox="1"/>
          <p:nvPr/>
        </p:nvSpPr>
        <p:spPr>
          <a:xfrm>
            <a:off x="4486818" y="2155712"/>
            <a:ext cx="309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of application (processing)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0C234A-52AB-D0DD-3641-31FA2AC2F293}"/>
              </a:ext>
            </a:extLst>
          </p:cNvPr>
          <p:cNvCxnSpPr>
            <a:cxnSpLocks/>
          </p:cNvCxnSpPr>
          <p:nvPr/>
        </p:nvCxnSpPr>
        <p:spPr>
          <a:xfrm flipH="1">
            <a:off x="5334000" y="2433026"/>
            <a:ext cx="304800" cy="812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B46D3D-619A-6052-567D-9646CC1A5DE4}"/>
              </a:ext>
            </a:extLst>
          </p:cNvPr>
          <p:cNvSpPr txBox="1"/>
          <p:nvPr/>
        </p:nvSpPr>
        <p:spPr>
          <a:xfrm>
            <a:off x="6438711" y="2447501"/>
            <a:ext cx="182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Entire application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24BF0E-8AE6-5B89-5373-6DE0AF05C5A4}"/>
              </a:ext>
            </a:extLst>
          </p:cNvPr>
          <p:cNvCxnSpPr>
            <a:cxnSpLocks/>
          </p:cNvCxnSpPr>
          <p:nvPr/>
        </p:nvCxnSpPr>
        <p:spPr>
          <a:xfrm flipH="1">
            <a:off x="6705600" y="2710025"/>
            <a:ext cx="219035" cy="535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991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8A9F-2BC5-254C-4E5B-4D8540C7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Organizations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AB0A-9336-3CE2-6EAD-07A8919E0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Real-world example of distributed systems built based on multi-tiered architecture</a:t>
            </a:r>
          </a:p>
          <a:p>
            <a:pPr lvl="1"/>
            <a:r>
              <a:rPr lang="en-US" dirty="0"/>
              <a:t>E-commerce platforms like Amazon</a:t>
            </a:r>
          </a:p>
          <a:p>
            <a:pPr lvl="2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user interface </a:t>
            </a:r>
            <a:r>
              <a:rPr lang="en-US" dirty="0"/>
              <a:t>displayed on the user's web browser.</a:t>
            </a:r>
            <a:r>
              <a:rPr lang="en-US" b="1" dirty="0"/>
              <a:t> </a:t>
            </a:r>
          </a:p>
          <a:p>
            <a:pPr lvl="2"/>
            <a:r>
              <a:rPr lang="en-US" dirty="0"/>
              <a:t>Server-side scripts that handle the </a:t>
            </a:r>
            <a:r>
              <a:rPr lang="en-US" dirty="0">
                <a:solidFill>
                  <a:srgbClr val="0070C0"/>
                </a:solidFill>
              </a:rPr>
              <a:t>processing</a:t>
            </a:r>
            <a:r>
              <a:rPr lang="en-US" dirty="0"/>
              <a:t> of user requests, business rules, transactions, and communications.</a:t>
            </a:r>
            <a:r>
              <a:rPr lang="en-US" b="1" dirty="0"/>
              <a:t> </a:t>
            </a:r>
          </a:p>
          <a:p>
            <a:pPr lvl="2"/>
            <a:r>
              <a:rPr lang="en-US" dirty="0"/>
              <a:t>Components that handle </a:t>
            </a:r>
            <a:r>
              <a:rPr lang="en-US" dirty="0">
                <a:solidFill>
                  <a:srgbClr val="0070C0"/>
                </a:solidFill>
              </a:rPr>
              <a:t>data management and storage</a:t>
            </a:r>
            <a:r>
              <a:rPr lang="en-US" dirty="0"/>
              <a:t>. This layer communicates with databases to retrieve, update, and manage data.</a:t>
            </a:r>
            <a:r>
              <a:rPr lang="en-US" b="1" dirty="0"/>
              <a:t> </a:t>
            </a:r>
          </a:p>
          <a:p>
            <a:pPr lvl="2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actual databases or storage systems </a:t>
            </a:r>
            <a:r>
              <a:rPr lang="en-US" dirty="0"/>
              <a:t>where data like user profiles, product information, and transactions are stored.</a:t>
            </a:r>
          </a:p>
        </p:txBody>
      </p:sp>
    </p:spTree>
    <p:extLst>
      <p:ext uri="{BB962C8B-B14F-4D97-AF65-F5344CB8AC3E}">
        <p14:creationId xmlns:p14="http://schemas.microsoft.com/office/powerpoint/2010/main" val="513062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38A5-7BF4-4148-A360-BC40ECB1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Organizations: Peer-to-Peer Systems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BDF0-B770-4FFF-9195-7C9E98CC9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972" y="18288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Peer-to-peer systems</a:t>
            </a:r>
          </a:p>
          <a:p>
            <a:pPr lvl="1"/>
            <a:r>
              <a:rPr lang="en-US" dirty="0"/>
              <a:t>Each node acts as a client and a server at the same time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Filesharing networks (</a:t>
            </a:r>
            <a:r>
              <a:rPr lang="en-US" i="1" dirty="0"/>
              <a:t>e.g.,</a:t>
            </a:r>
            <a:r>
              <a:rPr lang="en-US" dirty="0"/>
              <a:t> BitTorrent)</a:t>
            </a:r>
          </a:p>
          <a:p>
            <a:pPr lvl="2"/>
            <a:r>
              <a:rPr lang="en-US" dirty="0"/>
              <a:t>Cryptocurrencies (</a:t>
            </a:r>
            <a:r>
              <a:rPr lang="en-US" i="1" dirty="0"/>
              <a:t>e.g.,</a:t>
            </a:r>
            <a:r>
              <a:rPr lang="en-US" dirty="0"/>
              <a:t> Bitcoin)</a:t>
            </a:r>
          </a:p>
          <a:p>
            <a:pPr lvl="2"/>
            <a:r>
              <a:rPr lang="en-US" dirty="0"/>
              <a:t>Communication services (</a:t>
            </a:r>
            <a:r>
              <a:rPr lang="en-US" i="1" dirty="0"/>
              <a:t>e.g.,</a:t>
            </a:r>
            <a:r>
              <a:rPr lang="en-US" dirty="0"/>
              <a:t> Skype)</a:t>
            </a:r>
          </a:p>
          <a:p>
            <a:pPr lvl="2"/>
            <a:r>
              <a:rPr lang="en-US" dirty="0"/>
              <a:t>Storage systems (</a:t>
            </a:r>
            <a:r>
              <a:rPr lang="en-US" i="1" dirty="0"/>
              <a:t>e.g.,</a:t>
            </a:r>
            <a:r>
              <a:rPr lang="en-US" dirty="0"/>
              <a:t> </a:t>
            </a:r>
            <a:r>
              <a:rPr lang="en-US" dirty="0" err="1"/>
              <a:t>Storj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question is how to organize the nodes in an </a:t>
            </a:r>
            <a:r>
              <a:rPr lang="en-US" b="1" u="sng" dirty="0"/>
              <a:t>overlay network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Structured P2P systems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Unstructured P2P systems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Hierarchically organized P2P networks</a:t>
            </a:r>
          </a:p>
        </p:txBody>
      </p:sp>
    </p:spTree>
    <p:extLst>
      <p:ext uri="{BB962C8B-B14F-4D97-AF65-F5344CB8AC3E}">
        <p14:creationId xmlns:p14="http://schemas.microsoft.com/office/powerpoint/2010/main" val="1683886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38A5-7BF4-4148-A360-BC40ECB1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Organizations: Peer-to-Peer Systems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BDF0-B770-4FFF-9195-7C9E98CC9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Structured peer-to-peer systems</a:t>
            </a:r>
          </a:p>
          <a:p>
            <a:pPr lvl="1"/>
            <a:r>
              <a:rPr lang="en-US" dirty="0"/>
              <a:t>Nodes are organized in an overlay that adheres to </a:t>
            </a:r>
            <a:r>
              <a:rPr lang="en-US" b="1" u="sng" dirty="0"/>
              <a:t>a specific, deterministic topology</a:t>
            </a:r>
            <a:r>
              <a:rPr lang="en-US" dirty="0"/>
              <a:t> (</a:t>
            </a:r>
            <a:r>
              <a:rPr lang="en-US" i="1" dirty="0"/>
              <a:t>e.g., </a:t>
            </a:r>
            <a:r>
              <a:rPr lang="en-US" dirty="0"/>
              <a:t>ring, tree, grid, </a:t>
            </a:r>
            <a:r>
              <a:rPr lang="en-US" i="1" dirty="0"/>
              <a:t>etc.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Used to efficiently look up data.</a:t>
            </a:r>
          </a:p>
          <a:p>
            <a:pPr lvl="1"/>
            <a:r>
              <a:rPr lang="en-US" dirty="0"/>
              <a:t>One characteristic is that each </a:t>
            </a:r>
            <a:r>
              <a:rPr lang="en-US" dirty="0">
                <a:solidFill>
                  <a:srgbClr val="0070C0"/>
                </a:solidFill>
              </a:rPr>
              <a:t>data item </a:t>
            </a:r>
            <a:r>
              <a:rPr lang="en-US" dirty="0"/>
              <a:t>is uniquely associated with a </a:t>
            </a:r>
            <a:r>
              <a:rPr lang="en-US" dirty="0">
                <a:solidFill>
                  <a:srgbClr val="0070C0"/>
                </a:solidFill>
              </a:rPr>
              <a:t>key</a:t>
            </a:r>
          </a:p>
          <a:p>
            <a:pPr lvl="1"/>
            <a:r>
              <a:rPr lang="en-US" dirty="0"/>
              <a:t>Each node is responsible for storing </a:t>
            </a:r>
            <a:r>
              <a:rPr lang="en-US" dirty="0">
                <a:solidFill>
                  <a:srgbClr val="0070C0"/>
                </a:solidFill>
              </a:rPr>
              <a:t>data associated with</a:t>
            </a:r>
            <a:r>
              <a:rPr lang="en-US" dirty="0"/>
              <a:t> a </a:t>
            </a:r>
            <a:r>
              <a:rPr lang="en-US" dirty="0">
                <a:solidFill>
                  <a:srgbClr val="0070C0"/>
                </a:solidFill>
              </a:rPr>
              <a:t>specific subset of keys</a:t>
            </a:r>
          </a:p>
          <a:p>
            <a:pPr lvl="1"/>
            <a:r>
              <a:rPr lang="en-US" dirty="0"/>
              <a:t>The system provides an efficient mechanism to </a:t>
            </a:r>
            <a:r>
              <a:rPr lang="en-US" dirty="0">
                <a:solidFill>
                  <a:srgbClr val="0070C0"/>
                </a:solidFill>
              </a:rPr>
              <a:t>map a key to an existing node</a:t>
            </a:r>
          </a:p>
          <a:p>
            <a:pPr lvl="2"/>
            <a:r>
              <a:rPr lang="en-US" dirty="0"/>
              <a:t>Existing node = lookup(key)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566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38A5-7BF4-4148-A360-BC40ECB1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Organizations: Peer-to-Peer Systems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BDF0-B770-4FFF-9195-7C9E98CC9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Unstructured peer-to-peer systems</a:t>
            </a:r>
          </a:p>
          <a:p>
            <a:pPr lvl="1"/>
            <a:r>
              <a:rPr lang="en-US" dirty="0"/>
              <a:t>Each node maintains an </a:t>
            </a:r>
            <a:r>
              <a:rPr lang="en-US" dirty="0">
                <a:solidFill>
                  <a:srgbClr val="0070C0"/>
                </a:solidFill>
              </a:rPr>
              <a:t>ad hoc list of neighbors</a:t>
            </a:r>
          </a:p>
          <a:p>
            <a:pPr lvl="2"/>
            <a:r>
              <a:rPr lang="en-US" dirty="0"/>
              <a:t>An overlay network is represented as a </a:t>
            </a:r>
            <a:r>
              <a:rPr lang="en-US" dirty="0">
                <a:solidFill>
                  <a:srgbClr val="0070C0"/>
                </a:solidFill>
              </a:rPr>
              <a:t>random graph </a:t>
            </a:r>
            <a:r>
              <a:rPr lang="en-US" dirty="0"/>
              <a:t>where an edge between two nodes exists with a certain probability.</a:t>
            </a:r>
          </a:p>
          <a:p>
            <a:pPr lvl="1"/>
            <a:r>
              <a:rPr lang="en-US" dirty="0"/>
              <a:t>A node changes its list of neighbors continuously</a:t>
            </a:r>
          </a:p>
          <a:p>
            <a:pPr lvl="1"/>
            <a:r>
              <a:rPr lang="en-US" dirty="0"/>
              <a:t>When a node joins, it contacts a </a:t>
            </a:r>
            <a:r>
              <a:rPr lang="en-US" dirty="0">
                <a:solidFill>
                  <a:srgbClr val="0070C0"/>
                </a:solidFill>
              </a:rPr>
              <a:t>well-known node </a:t>
            </a:r>
            <a:r>
              <a:rPr lang="en-US" dirty="0"/>
              <a:t>to obtain a starting list of other peers</a:t>
            </a:r>
          </a:p>
          <a:p>
            <a:pPr lvl="1"/>
            <a:r>
              <a:rPr lang="en-US" dirty="0"/>
              <a:t>Unlike structured peer-to-peer system, looking up data cannot follow a predetermined route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Flooding</a:t>
            </a:r>
          </a:p>
          <a:p>
            <a:pPr lvl="3"/>
            <a:r>
              <a:rPr lang="en-US" dirty="0"/>
              <a:t>A request for a data item is passed to all nodes.</a:t>
            </a:r>
          </a:p>
          <a:p>
            <a:pPr lvl="3"/>
            <a:r>
              <a:rPr lang="en-US" dirty="0"/>
              <a:t>Very expensive -&gt; a </a:t>
            </a:r>
            <a:r>
              <a:rPr lang="en-US" dirty="0">
                <a:solidFill>
                  <a:srgbClr val="0070C0"/>
                </a:solidFill>
              </a:rPr>
              <a:t>time-to-live (TTL) value</a:t>
            </a:r>
            <a:r>
              <a:rPr lang="en-US" dirty="0"/>
              <a:t> is used to specify the maximum number of hops (node-to-node transmission) a request is allowed to be forwarded.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Random walks</a:t>
            </a:r>
          </a:p>
          <a:p>
            <a:pPr lvl="3"/>
            <a:r>
              <a:rPr lang="en-US" dirty="0"/>
              <a:t>Send a request to a </a:t>
            </a:r>
            <a:r>
              <a:rPr lang="en-US" b="1" u="sng" dirty="0"/>
              <a:t>randomly chosen neighbor</a:t>
            </a:r>
            <a:r>
              <a:rPr lang="en-US" b="1" dirty="0"/>
              <a:t> </a:t>
            </a:r>
            <a:r>
              <a:rPr lang="en-US" dirty="0"/>
              <a:t>-&gt; if there is no data, forward the request to its randomly chosen neighbor, and so on.</a:t>
            </a:r>
          </a:p>
          <a:p>
            <a:pPr lvl="3"/>
            <a:r>
              <a:rPr lang="en-US" dirty="0"/>
              <a:t>Less network traffic</a:t>
            </a:r>
          </a:p>
          <a:p>
            <a:pPr lvl="3"/>
            <a:r>
              <a:rPr lang="en-US" dirty="0"/>
              <a:t>But </a:t>
            </a:r>
            <a:r>
              <a:rPr lang="en-US" dirty="0">
                <a:solidFill>
                  <a:srgbClr val="C00000"/>
                </a:solidFill>
              </a:rPr>
              <a:t>takes longer </a:t>
            </a:r>
            <a:r>
              <a:rPr lang="en-US" dirty="0"/>
              <a:t>to find data items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2368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38A5-7BF4-4148-A360-BC40ECB1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Decentralized Organizations: Peer-to-Peer Systems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BDF0-B770-4FFF-9195-7C9E98CC9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Hierarchically organized peer-to-peer networks</a:t>
            </a:r>
          </a:p>
          <a:p>
            <a:pPr lvl="1"/>
            <a:r>
              <a:rPr lang="en-US" sz="2400" dirty="0"/>
              <a:t>In unstructured peer-to-peer systems, locating data can be problematic as </a:t>
            </a:r>
            <a:r>
              <a:rPr lang="en-US" sz="2400" dirty="0">
                <a:solidFill>
                  <a:srgbClr val="C00000"/>
                </a:solidFill>
              </a:rPr>
              <a:t>the network size </a:t>
            </a:r>
            <a:r>
              <a:rPr lang="en-US" sz="2400" dirty="0"/>
              <a:t>grows</a:t>
            </a:r>
          </a:p>
          <a:p>
            <a:pPr lvl="1"/>
            <a:r>
              <a:rPr lang="en-US" sz="2400" dirty="0"/>
              <a:t>As an alternative, use special nodes (called </a:t>
            </a:r>
            <a:r>
              <a:rPr lang="en-US" sz="2400" dirty="0">
                <a:solidFill>
                  <a:srgbClr val="0070C0"/>
                </a:solidFill>
              </a:rPr>
              <a:t>super peers</a:t>
            </a:r>
            <a:r>
              <a:rPr lang="en-US" sz="2400" dirty="0"/>
              <a:t>) that maintain an index of data items</a:t>
            </a:r>
          </a:p>
          <a:p>
            <a:pPr lvl="2"/>
            <a:r>
              <a:rPr lang="en-US" sz="2000" dirty="0"/>
              <a:t>The </a:t>
            </a:r>
            <a:r>
              <a:rPr lang="en-US" sz="2000" b="1" u="sng" dirty="0"/>
              <a:t>leader election problem</a:t>
            </a:r>
            <a:r>
              <a:rPr lang="en-US" sz="2000" b="1" dirty="0"/>
              <a:t> </a:t>
            </a:r>
            <a:r>
              <a:rPr lang="en-US" sz="2000" dirty="0"/>
              <a:t>arises to select super nodes.</a:t>
            </a:r>
          </a:p>
          <a:p>
            <a:pPr lvl="1"/>
            <a:endParaRPr lang="en-US" sz="2400" dirty="0"/>
          </a:p>
        </p:txBody>
      </p:sp>
      <p:pic>
        <p:nvPicPr>
          <p:cNvPr id="5" name="Picture 4" descr="A picture containing indoor, device, accessory&#10;&#10;Description automatically generated">
            <a:extLst>
              <a:ext uri="{FF2B5EF4-FFF2-40B4-BE49-F238E27FC236}">
                <a16:creationId xmlns:a16="http://schemas.microsoft.com/office/drawing/2014/main" id="{16908BCE-E0F0-4CFC-9236-0BFE08C1B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4183062"/>
            <a:ext cx="4800600" cy="2400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19E71B-0487-4C7D-B0BD-30FD6D5AC8CA}"/>
              </a:ext>
            </a:extLst>
          </p:cNvPr>
          <p:cNvSpPr txBox="1"/>
          <p:nvPr/>
        </p:nvSpPr>
        <p:spPr>
          <a:xfrm>
            <a:off x="160180" y="5267581"/>
            <a:ext cx="3726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 peers are connected to a super </a:t>
            </a:r>
          </a:p>
          <a:p>
            <a:r>
              <a:rPr lang="en-US" dirty="0"/>
              <a:t>peer. All communication from and to </a:t>
            </a:r>
          </a:p>
          <a:p>
            <a:r>
              <a:rPr lang="en-US" dirty="0"/>
              <a:t>a weak peer proceeds through that </a:t>
            </a:r>
          </a:p>
          <a:p>
            <a:r>
              <a:rPr lang="en-US" dirty="0"/>
              <a:t>node’s super peer.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78475D-D21D-4583-9CFE-8574DE8A5C80}"/>
              </a:ext>
            </a:extLst>
          </p:cNvPr>
          <p:cNvCxnSpPr>
            <a:cxnSpLocks/>
          </p:cNvCxnSpPr>
          <p:nvPr/>
        </p:nvCxnSpPr>
        <p:spPr>
          <a:xfrm flipV="1">
            <a:off x="3810000" y="5383212"/>
            <a:ext cx="373220" cy="33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355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6777-F297-4EBD-90B8-784FA069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Architectures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04189-45D6-4603-BBCB-43174451A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0070C0"/>
                </a:solidFill>
              </a:rPr>
              <a:t>client-server architecture </a:t>
            </a:r>
            <a:r>
              <a:rPr lang="en-US" sz="2400" dirty="0"/>
              <a:t>combined with a </a:t>
            </a:r>
            <a:r>
              <a:rPr lang="en-US" sz="2400" dirty="0">
                <a:solidFill>
                  <a:srgbClr val="0070C0"/>
                </a:solidFill>
              </a:rPr>
              <a:t>peer-to-peer architecture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Edge-server systems</a:t>
            </a:r>
          </a:p>
          <a:p>
            <a:pPr lvl="1"/>
            <a:r>
              <a:rPr lang="en-US" sz="2000" dirty="0"/>
              <a:t>These systems are deployed on the Internet where servers are placed “at the edge” of the network, </a:t>
            </a:r>
            <a:r>
              <a:rPr lang="en-US" sz="2000" i="1" dirty="0"/>
              <a:t>i.e., </a:t>
            </a:r>
            <a:r>
              <a:rPr lang="en-US" sz="2000" dirty="0"/>
              <a:t>boundary between enterprise networks and the actual Internet</a:t>
            </a:r>
          </a:p>
          <a:p>
            <a:pPr lvl="1"/>
            <a:r>
              <a:rPr lang="en-US" sz="2000" dirty="0"/>
              <a:t>The servers coordinate like a peer-to-peer system to optimize content distribution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111CF47-599D-4F66-AF92-76B8726C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72222"/>
            <a:ext cx="4789260" cy="1884362"/>
          </a:xfrm>
          <a:prstGeom prst="rect">
            <a:avLst/>
          </a:prstGeom>
        </p:spPr>
      </p:pic>
      <p:pic>
        <p:nvPicPr>
          <p:cNvPr id="1026" name="Picture 2" descr="Advantages of Having a Cell Phone Tower | Tower Leases">
            <a:extLst>
              <a:ext uri="{FF2B5EF4-FFF2-40B4-BE49-F238E27FC236}">
                <a16:creationId xmlns:a16="http://schemas.microsoft.com/office/drawing/2014/main" id="{76B60A00-BB1E-AA42-777E-B82A9FF8A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842" y="4272222"/>
            <a:ext cx="2846558" cy="188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427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FC9E-8180-4F23-813F-152175AD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Architectures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15F76-9650-4304-A388-93EE40974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Collaborative distributed systems</a:t>
            </a:r>
          </a:p>
          <a:p>
            <a:pPr lvl="1"/>
            <a:r>
              <a:rPr lang="en-US" dirty="0"/>
              <a:t>When the system is started, a </a:t>
            </a:r>
            <a:r>
              <a:rPr lang="en-US" dirty="0">
                <a:solidFill>
                  <a:srgbClr val="0070C0"/>
                </a:solidFill>
              </a:rPr>
              <a:t>traditional client-server scheme</a:t>
            </a:r>
            <a:r>
              <a:rPr lang="en-US" dirty="0"/>
              <a:t> is used</a:t>
            </a:r>
          </a:p>
          <a:p>
            <a:pPr lvl="1"/>
            <a:r>
              <a:rPr lang="en-US" dirty="0"/>
              <a:t>Once a node has joined the system, it can use a </a:t>
            </a:r>
            <a:r>
              <a:rPr lang="en-US" dirty="0">
                <a:solidFill>
                  <a:srgbClr val="0070C0"/>
                </a:solidFill>
              </a:rPr>
              <a:t>fully decentralized scheme for collaboration</a:t>
            </a:r>
          </a:p>
          <a:p>
            <a:pPr lvl="1"/>
            <a:r>
              <a:rPr lang="en-US" i="1" dirty="0"/>
              <a:t>e.g., </a:t>
            </a:r>
            <a:r>
              <a:rPr lang="en-US" dirty="0"/>
              <a:t>BitTorrent</a:t>
            </a:r>
          </a:p>
          <a:p>
            <a:pPr lvl="2"/>
            <a:r>
              <a:rPr lang="en-US" dirty="0"/>
              <a:t>To download a file, a user accesses a global directory</a:t>
            </a:r>
          </a:p>
          <a:p>
            <a:pPr lvl="2"/>
            <a:r>
              <a:rPr lang="en-US" dirty="0"/>
              <a:t>A node is forced to help others by providing chunks of file it is downloading.  </a:t>
            </a:r>
          </a:p>
        </p:txBody>
      </p:sp>
    </p:spTree>
    <p:extLst>
      <p:ext uri="{BB962C8B-B14F-4D97-AF65-F5344CB8AC3E}">
        <p14:creationId xmlns:p14="http://schemas.microsoft.com/office/powerpoint/2010/main" val="2253579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4243</TotalTime>
  <Words>2702</Words>
  <Application>Microsoft Macintosh PowerPoint</Application>
  <PresentationFormat>On-screen Show (4:3)</PresentationFormat>
  <Paragraphs>282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urw-din</vt:lpstr>
      <vt:lpstr>Arial</vt:lpstr>
      <vt:lpstr>Calibri</vt:lpstr>
      <vt:lpstr>Office Theme</vt:lpstr>
      <vt:lpstr>COMP 7212: Operating/Distributed Systems Chapter 2: Architectures</vt:lpstr>
      <vt:lpstr>Outline</vt:lpstr>
      <vt:lpstr>Architectural Styles</vt:lpstr>
      <vt:lpstr>Basics</vt:lpstr>
      <vt:lpstr>Layered Architectures (1/4)</vt:lpstr>
      <vt:lpstr>Layered Architectures (2/4)</vt:lpstr>
      <vt:lpstr>Layered Architectures (3/4)</vt:lpstr>
      <vt:lpstr>Layered Architectures (4/4)</vt:lpstr>
      <vt:lpstr>Object-based and Service-oriented Architectures (1/4)</vt:lpstr>
      <vt:lpstr>Object-based and Service-oriented Architectures (2/4)</vt:lpstr>
      <vt:lpstr>Object-based and Service-oriented Architectures (3/4)</vt:lpstr>
      <vt:lpstr>Object-based and Service-oriented Architectures (4/4)</vt:lpstr>
      <vt:lpstr>Real-World Examples of Object-based Architectures</vt:lpstr>
      <vt:lpstr>Real-World Examples</vt:lpstr>
      <vt:lpstr>Resource-based Architectures (1/2)</vt:lpstr>
      <vt:lpstr>Resource-based Architectures (2/2)</vt:lpstr>
      <vt:lpstr>Publish-Subscribe Architectures</vt:lpstr>
      <vt:lpstr>Middleware Organization</vt:lpstr>
      <vt:lpstr>Middleware</vt:lpstr>
      <vt:lpstr>Middleware Organization</vt:lpstr>
      <vt:lpstr>Wrappers (1/2)</vt:lpstr>
      <vt:lpstr>Wrappers (2/2)</vt:lpstr>
      <vt:lpstr>Example Use Case</vt:lpstr>
      <vt:lpstr>Interceptors (1/4)</vt:lpstr>
      <vt:lpstr>Interceptors (2/4)</vt:lpstr>
      <vt:lpstr>Interceptors (3/4)</vt:lpstr>
      <vt:lpstr>Interceptors (4/4)</vt:lpstr>
      <vt:lpstr>System Architecture</vt:lpstr>
      <vt:lpstr>Centralized Organizations (1/4)</vt:lpstr>
      <vt:lpstr>Centralized Organizations (2/4)</vt:lpstr>
      <vt:lpstr>Centralized Organizations (3/4)</vt:lpstr>
      <vt:lpstr>Centralized Organizations (4/4)</vt:lpstr>
      <vt:lpstr>Decentralized Organizations: Peer-to-Peer Systems (1/4)</vt:lpstr>
      <vt:lpstr>Decentralized Organizations: Peer-to-Peer Systems (2/4)</vt:lpstr>
      <vt:lpstr>Decentralized Organizations: Peer-to-Peer Systems (3/4)</vt:lpstr>
      <vt:lpstr>Decentralized Organizations: Peer-to-Peer Systems (4/4)</vt:lpstr>
      <vt:lpstr>Hybrid Architectures (1/2)</vt:lpstr>
      <vt:lpstr>Hybrid Architectures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559</cp:revision>
  <dcterms:created xsi:type="dcterms:W3CDTF">2006-08-16T00:00:00Z</dcterms:created>
  <dcterms:modified xsi:type="dcterms:W3CDTF">2026-09-08T19:04:57Z</dcterms:modified>
</cp:coreProperties>
</file>