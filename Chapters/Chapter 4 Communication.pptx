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75" r:id="rId4"/>
    <p:sldId id="258" r:id="rId5"/>
    <p:sldId id="276" r:id="rId6"/>
    <p:sldId id="314" r:id="rId7"/>
    <p:sldId id="316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318" r:id="rId17"/>
    <p:sldId id="317" r:id="rId18"/>
    <p:sldId id="286" r:id="rId19"/>
    <p:sldId id="323" r:id="rId20"/>
    <p:sldId id="287" r:id="rId21"/>
    <p:sldId id="288" r:id="rId22"/>
    <p:sldId id="324" r:id="rId23"/>
    <p:sldId id="289" r:id="rId24"/>
    <p:sldId id="290" r:id="rId25"/>
    <p:sldId id="320" r:id="rId26"/>
    <p:sldId id="291" r:id="rId27"/>
    <p:sldId id="292" r:id="rId28"/>
    <p:sldId id="293" r:id="rId29"/>
    <p:sldId id="294" r:id="rId30"/>
    <p:sldId id="295" r:id="rId31"/>
    <p:sldId id="325" r:id="rId32"/>
    <p:sldId id="296" r:id="rId33"/>
    <p:sldId id="326" r:id="rId34"/>
    <p:sldId id="297" r:id="rId35"/>
    <p:sldId id="298" r:id="rId36"/>
    <p:sldId id="321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8" r:id="rId45"/>
    <p:sldId id="309" r:id="rId46"/>
    <p:sldId id="315" r:id="rId47"/>
    <p:sldId id="319" r:id="rId48"/>
    <p:sldId id="310" r:id="rId49"/>
    <p:sldId id="322" r:id="rId50"/>
    <p:sldId id="311" r:id="rId51"/>
    <p:sldId id="312" r:id="rId52"/>
    <p:sldId id="313" r:id="rId53"/>
    <p:sldId id="327" r:id="rId54"/>
    <p:sldId id="328" r:id="rId55"/>
    <p:sldId id="329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3" autoAdjust="0"/>
    <p:restoredTop sz="94307" autoAdjust="0"/>
  </p:normalViewPr>
  <p:slideViewPr>
    <p:cSldViewPr>
      <p:cViewPr varScale="1">
        <p:scale>
          <a:sx n="119" d="100"/>
          <a:sy n="119" d="100"/>
        </p:scale>
        <p:origin x="12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6019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2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75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9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9372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 7212: Operating/Distributed Systems</a:t>
            </a:r>
            <a:br>
              <a:rPr lang="en-US" dirty="0"/>
            </a:br>
            <a:r>
              <a:rPr lang="en-US" dirty="0"/>
              <a:t>Chapter 4: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Dr. Myounggyu Won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76C6-D20E-45D7-81C1-CB6AEE533F90}"/>
              </a:ext>
            </a:extLst>
          </p:cNvPr>
          <p:cNvSpPr txBox="1"/>
          <p:nvPr/>
        </p:nvSpPr>
        <p:spPr>
          <a:xfrm>
            <a:off x="0" y="6450568"/>
            <a:ext cx="669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Distributed Systems: Principles and Paradigms (3</a:t>
            </a:r>
            <a:r>
              <a:rPr lang="en-US" baseline="30000" dirty="0"/>
              <a:t>rd</a:t>
            </a:r>
            <a:r>
              <a:rPr lang="en-US" dirty="0"/>
              <a:t> Edition)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132CB-3E67-48EB-BECE-F717988FB116}"/>
              </a:ext>
            </a:extLst>
          </p:cNvPr>
          <p:cNvSpPr txBox="1"/>
          <p:nvPr/>
        </p:nvSpPr>
        <p:spPr>
          <a:xfrm>
            <a:off x="1111341" y="4953000"/>
            <a:ext cx="692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“Inter-process communication is at the heart of all distributed systems.”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CDCB-6CD2-4E75-AB6F-9BEB229B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EEAC-1689-4FCA-B75D-F8413C4A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Foundations</a:t>
            </a:r>
          </a:p>
          <a:p>
            <a:pPr lvl="1"/>
            <a:r>
              <a:rPr lang="en-US" dirty="0"/>
              <a:t>Layered protocols</a:t>
            </a:r>
          </a:p>
          <a:p>
            <a:pPr lvl="1"/>
            <a:r>
              <a:rPr lang="en-US" dirty="0"/>
              <a:t>Types of communication</a:t>
            </a:r>
          </a:p>
          <a:p>
            <a:pPr lvl="2"/>
            <a:r>
              <a:rPr lang="en-US" dirty="0"/>
              <a:t>Two widely used communication methods</a:t>
            </a:r>
          </a:p>
          <a:p>
            <a:r>
              <a:rPr lang="en-US" dirty="0"/>
              <a:t>Remote Procedure Call</a:t>
            </a:r>
          </a:p>
          <a:p>
            <a:pPr lvl="1"/>
            <a:r>
              <a:rPr lang="en-US" dirty="0"/>
              <a:t>Basic operation</a:t>
            </a:r>
          </a:p>
          <a:p>
            <a:pPr lvl="1"/>
            <a:r>
              <a:rPr lang="en-US" dirty="0"/>
              <a:t>Parameter passing</a:t>
            </a:r>
          </a:p>
          <a:p>
            <a:pPr lvl="1"/>
            <a:r>
              <a:rPr lang="en-US" dirty="0"/>
              <a:t>RPC-based application support</a:t>
            </a:r>
          </a:p>
          <a:p>
            <a:pPr lvl="1"/>
            <a:r>
              <a:rPr lang="en-US" dirty="0"/>
              <a:t>Validations on RPC</a:t>
            </a:r>
          </a:p>
          <a:p>
            <a:r>
              <a:rPr lang="en-US" dirty="0"/>
              <a:t>Message-oriented Communication</a:t>
            </a:r>
          </a:p>
          <a:p>
            <a:pPr lvl="1"/>
            <a:r>
              <a:rPr lang="en-US" dirty="0"/>
              <a:t>Simple transient messaging with sockets</a:t>
            </a:r>
          </a:p>
          <a:p>
            <a:pPr lvl="1"/>
            <a:r>
              <a:rPr lang="en-US" dirty="0"/>
              <a:t>Advanced transient messaging</a:t>
            </a:r>
          </a:p>
          <a:p>
            <a:pPr lvl="1"/>
            <a:r>
              <a:rPr lang="en-US" dirty="0"/>
              <a:t>Message-oriented persistent communication</a:t>
            </a:r>
          </a:p>
          <a:p>
            <a:r>
              <a:rPr lang="en-US" dirty="0"/>
              <a:t>Multicast Communication</a:t>
            </a:r>
          </a:p>
          <a:p>
            <a:pPr lvl="1"/>
            <a:r>
              <a:rPr lang="en-US" dirty="0"/>
              <a:t>Application-level tree-based multicast</a:t>
            </a:r>
          </a:p>
          <a:p>
            <a:pPr lvl="1"/>
            <a:r>
              <a:rPr lang="en-US" dirty="0"/>
              <a:t>Flooding-based multicasting</a:t>
            </a:r>
          </a:p>
          <a:p>
            <a:pPr lvl="1"/>
            <a:r>
              <a:rPr lang="en-US" dirty="0"/>
              <a:t>Gossip-based data dissemination</a:t>
            </a:r>
          </a:p>
        </p:txBody>
      </p:sp>
    </p:spTree>
    <p:extLst>
      <p:ext uri="{BB962C8B-B14F-4D97-AF65-F5344CB8AC3E}">
        <p14:creationId xmlns:p14="http://schemas.microsoft.com/office/powerpoint/2010/main" val="89704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Foundations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976A9-1C23-4125-B7D3-EE0FAF2585A2}"/>
              </a:ext>
            </a:extLst>
          </p:cNvPr>
          <p:cNvSpPr txBox="1"/>
          <p:nvPr/>
        </p:nvSpPr>
        <p:spPr>
          <a:xfrm>
            <a:off x="704242" y="4000500"/>
            <a:ext cx="7379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“Let’s first recap some of the fundamental issues related to communication.”</a:t>
            </a:r>
          </a:p>
        </p:txBody>
      </p:sp>
    </p:spTree>
    <p:extLst>
      <p:ext uri="{BB962C8B-B14F-4D97-AF65-F5344CB8AC3E}">
        <p14:creationId xmlns:p14="http://schemas.microsoft.com/office/powerpoint/2010/main" val="241318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60E8-2A83-4B38-8F72-B10BE01A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Protocols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DE4E-7CF0-469E-B544-1CE2B929B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inter-process communication in distributed systems is mostly based on sending and receiving </a:t>
            </a:r>
            <a:r>
              <a:rPr lang="en-US" dirty="0">
                <a:solidFill>
                  <a:srgbClr val="0070C0"/>
                </a:solidFill>
              </a:rPr>
              <a:t>messages</a:t>
            </a:r>
          </a:p>
          <a:p>
            <a:r>
              <a:rPr lang="en-US" dirty="0"/>
              <a:t>Sender P and receiver Q should agree on how a message is transmitted and interpreted (</a:t>
            </a:r>
            <a:r>
              <a:rPr lang="en-US" i="1" dirty="0"/>
              <a:t>i.e., </a:t>
            </a:r>
            <a:r>
              <a:rPr lang="en-US" dirty="0">
                <a:solidFill>
                  <a:srgbClr val="0070C0"/>
                </a:solidFill>
              </a:rPr>
              <a:t>protocols</a:t>
            </a:r>
            <a:r>
              <a:rPr lang="en-US" dirty="0"/>
              <a:t>)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Communication protocols </a:t>
            </a:r>
            <a:r>
              <a:rPr lang="en-US" dirty="0"/>
              <a:t>form the basis for any distributed system.</a:t>
            </a:r>
          </a:p>
          <a:p>
            <a:r>
              <a:rPr lang="en-US" dirty="0"/>
              <a:t>Typically, layers of protocols are used.</a:t>
            </a:r>
          </a:p>
          <a:p>
            <a:pPr lvl="1"/>
            <a:r>
              <a:rPr lang="en-US" i="1" dirty="0"/>
              <a:t>e.g., </a:t>
            </a:r>
            <a:r>
              <a:rPr lang="en-US" dirty="0">
                <a:solidFill>
                  <a:srgbClr val="0070C0"/>
                </a:solidFill>
              </a:rPr>
              <a:t>the OSI </a:t>
            </a:r>
            <a:r>
              <a:rPr lang="en-US" dirty="0"/>
              <a:t>(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Open Systems Interconnection) </a:t>
            </a:r>
            <a:r>
              <a:rPr lang="en-US" dirty="0">
                <a:solidFill>
                  <a:srgbClr val="0070C0"/>
                </a:solidFill>
              </a:rPr>
              <a:t>reference model</a:t>
            </a:r>
          </a:p>
          <a:p>
            <a:pPr lvl="2"/>
            <a:r>
              <a:rPr lang="en-US" dirty="0"/>
              <a:t>Seven layers, each providing </a:t>
            </a:r>
            <a:r>
              <a:rPr lang="en-US" dirty="0">
                <a:solidFill>
                  <a:srgbClr val="0070C0"/>
                </a:solidFill>
              </a:rPr>
              <a:t>communication service</a:t>
            </a:r>
            <a:endParaRPr lang="en-US" dirty="0"/>
          </a:p>
          <a:p>
            <a:pPr lvl="2"/>
            <a:r>
              <a:rPr lang="en-US" dirty="0"/>
              <a:t>Each layer provides an </a:t>
            </a:r>
            <a:r>
              <a:rPr lang="en-US" dirty="0">
                <a:solidFill>
                  <a:srgbClr val="0070C0"/>
                </a:solidFill>
              </a:rPr>
              <a:t>interface</a:t>
            </a:r>
            <a:r>
              <a:rPr lang="en-US" dirty="0"/>
              <a:t> to the one above it</a:t>
            </a:r>
          </a:p>
          <a:p>
            <a:pPr lvl="3"/>
            <a:r>
              <a:rPr lang="en-US" dirty="0"/>
              <a:t>This way, the problem of getting a message from P to Q can be divided into manageable pieces.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7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EB8B-061B-4C05-9D17-B0A06141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Protocols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0708-D616-46B8-8693-9AE6E5B1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The OSI model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Physical layer</a:t>
            </a:r>
            <a:r>
              <a:rPr lang="en-US" sz="2400" dirty="0"/>
              <a:t>: standardizes how two computers communicate at the physical level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Data link layer:</a:t>
            </a:r>
            <a:r>
              <a:rPr lang="en-US" sz="2400" dirty="0"/>
              <a:t> provides services related to error detection/correction and access control (</a:t>
            </a:r>
            <a:r>
              <a:rPr lang="en-US" sz="2400" i="1" dirty="0"/>
              <a:t>e.g., </a:t>
            </a:r>
            <a:r>
              <a:rPr lang="en-US" sz="2400" dirty="0"/>
              <a:t>two or more devices are connected to the same communication medium)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Network layer</a:t>
            </a:r>
            <a:r>
              <a:rPr lang="en-US" sz="2400" dirty="0"/>
              <a:t>: defines how a message is routed over multiple nodes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Transport layer</a:t>
            </a:r>
            <a:r>
              <a:rPr lang="en-US" sz="2400" dirty="0"/>
              <a:t>: provides services related to connection management and reliable delivery 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Session layer</a:t>
            </a:r>
            <a:r>
              <a:rPr lang="en-US" sz="2400" dirty="0"/>
              <a:t>: provides support for managing and controlling the interactions between applications.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Presentation layer</a:t>
            </a:r>
            <a:r>
              <a:rPr lang="en-US" sz="2400" dirty="0"/>
              <a:t>: prescribes how data are represented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Application layer</a:t>
            </a:r>
            <a:r>
              <a:rPr lang="en-US" sz="2400" dirty="0"/>
              <a:t>: defines protocols specific for different applications, </a:t>
            </a:r>
            <a:r>
              <a:rPr lang="en-US" sz="2400" i="1" dirty="0"/>
              <a:t>e.g.</a:t>
            </a:r>
            <a:r>
              <a:rPr lang="en-US" sz="2400" dirty="0"/>
              <a:t>, e-mail protocols, file-transfer protocols, </a:t>
            </a:r>
            <a:r>
              <a:rPr lang="en-US" sz="2400" i="1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75724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C4D574-EF7C-4C7D-A5C0-6EAB3BCC2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43"/>
            <a:ext cx="9144000" cy="649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1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ED72AA-92CD-46A8-AC3A-F5CCE90EF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1" y="533400"/>
            <a:ext cx="7736838" cy="4470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EFD9C9-E510-438E-F8D2-7E0CB90F2580}"/>
              </a:ext>
            </a:extLst>
          </p:cNvPr>
          <p:cNvSpPr txBox="1"/>
          <p:nvPr/>
        </p:nvSpPr>
        <p:spPr>
          <a:xfrm>
            <a:off x="705639" y="5105400"/>
            <a:ext cx="7734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data moves from the application layer down to the physical layer for transmission, each layer adds its </a:t>
            </a:r>
            <a:r>
              <a:rPr lang="en-US" dirty="0">
                <a:solidFill>
                  <a:srgbClr val="0070C0"/>
                </a:solidFill>
              </a:rPr>
              <a:t>header</a:t>
            </a:r>
            <a:r>
              <a:rPr lang="en-US" dirty="0"/>
              <a:t> to the data from the upper layer.</a:t>
            </a:r>
          </a:p>
        </p:txBody>
      </p:sp>
    </p:spTree>
    <p:extLst>
      <p:ext uri="{BB962C8B-B14F-4D97-AF65-F5344CB8AC3E}">
        <p14:creationId xmlns:p14="http://schemas.microsoft.com/office/powerpoint/2010/main" val="4282971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CA9F-EC08-4844-878C-BCD73FA8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Protocols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16425-65FB-4B4D-8423-0B337F4A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Adapted reference model</a:t>
            </a:r>
          </a:p>
          <a:p>
            <a:pPr lvl="1"/>
            <a:r>
              <a:rPr lang="en-US" sz="2000" dirty="0"/>
              <a:t>A simplified conceptual model for the </a:t>
            </a:r>
            <a:r>
              <a:rPr lang="en-US" sz="2000"/>
              <a:t>four layered distributed </a:t>
            </a:r>
            <a:r>
              <a:rPr lang="en-US" sz="2000" dirty="0"/>
              <a:t>systems</a:t>
            </a:r>
          </a:p>
          <a:p>
            <a:pPr lvl="1"/>
            <a:r>
              <a:rPr lang="en-US" sz="2000" dirty="0"/>
              <a:t>The session and presentation layer are replaced by a </a:t>
            </a:r>
            <a:r>
              <a:rPr lang="en-US" sz="2000" dirty="0">
                <a:solidFill>
                  <a:srgbClr val="0070C0"/>
                </a:solidFill>
              </a:rPr>
              <a:t>middleware layer</a:t>
            </a:r>
            <a:r>
              <a:rPr lang="en-US" sz="2000" dirty="0"/>
              <a:t>.</a:t>
            </a:r>
          </a:p>
          <a:p>
            <a:pPr lvl="2"/>
            <a:r>
              <a:rPr lang="en-US" sz="1600" dirty="0"/>
              <a:t>Hide data representation and access methods </a:t>
            </a:r>
          </a:p>
          <a:p>
            <a:pPr lvl="1"/>
            <a:r>
              <a:rPr lang="en-US" sz="2000" dirty="0"/>
              <a:t>The network and transport layers are grouped into communication services of OS (</a:t>
            </a:r>
            <a:r>
              <a:rPr lang="en-US" sz="2000" dirty="0">
                <a:solidFill>
                  <a:srgbClr val="0070C0"/>
                </a:solidFill>
              </a:rPr>
              <a:t>OS layer</a:t>
            </a:r>
            <a:r>
              <a:rPr lang="en-US" sz="2000" dirty="0"/>
              <a:t>)</a:t>
            </a:r>
          </a:p>
          <a:p>
            <a:pPr lvl="2"/>
            <a:r>
              <a:rPr lang="en-US" sz="1600" dirty="0"/>
              <a:t>Handles message forwarding</a:t>
            </a:r>
          </a:p>
          <a:p>
            <a:pPr lvl="1"/>
            <a:r>
              <a:rPr lang="en-US" sz="2000" dirty="0"/>
              <a:t>The data link and physical layers are grouped into the physical/link-level protocol (</a:t>
            </a:r>
            <a:r>
              <a:rPr lang="en-US" sz="2000" dirty="0">
                <a:solidFill>
                  <a:srgbClr val="0070C0"/>
                </a:solidFill>
              </a:rPr>
              <a:t>hardware layer</a:t>
            </a:r>
            <a:r>
              <a:rPr lang="en-US" sz="2000" dirty="0"/>
              <a:t>)</a:t>
            </a:r>
          </a:p>
          <a:p>
            <a:endParaRPr lang="en-US" sz="2400" dirty="0"/>
          </a:p>
        </p:txBody>
      </p:sp>
      <p:pic>
        <p:nvPicPr>
          <p:cNvPr id="4" name="Picture 3" descr="Diagram, box and whisker chart&#10;&#10;Description automatically generated">
            <a:extLst>
              <a:ext uri="{FF2B5EF4-FFF2-40B4-BE49-F238E27FC236}">
                <a16:creationId xmlns:a16="http://schemas.microsoft.com/office/drawing/2014/main" id="{BD585D76-547A-476D-A3F2-FF6D2D37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206032"/>
            <a:ext cx="4114800" cy="263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7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41FE-B038-4AEA-8604-4FAC251C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Communication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B603-42E2-4527-8848-94AD613E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70C0"/>
                </a:solidFill>
              </a:rPr>
              <a:t>Persistent communication</a:t>
            </a:r>
          </a:p>
          <a:p>
            <a:pPr lvl="1"/>
            <a:r>
              <a:rPr lang="en-US" dirty="0"/>
              <a:t>A message that has been submitted for transmission is stored by the communication middleware as long as it takes to deliver it to the receiver, </a:t>
            </a:r>
            <a:r>
              <a:rPr lang="en-US" u="sng" dirty="0"/>
              <a:t>regardless whether the sending and receiving applications are executing</a:t>
            </a:r>
          </a:p>
          <a:p>
            <a:pPr lvl="1"/>
            <a:r>
              <a:rPr lang="en-US" dirty="0"/>
              <a:t>Examples: E-mail services, social media platforms, Google docs</a:t>
            </a:r>
          </a:p>
          <a:p>
            <a:r>
              <a:rPr lang="en-US" dirty="0">
                <a:solidFill>
                  <a:srgbClr val="0070C0"/>
                </a:solidFill>
              </a:rPr>
              <a:t>Transient communication</a:t>
            </a:r>
          </a:p>
          <a:p>
            <a:pPr lvl="1"/>
            <a:r>
              <a:rPr lang="en-US" dirty="0"/>
              <a:t>A message is stored only as long as the sending and receiving applications are executing</a:t>
            </a:r>
          </a:p>
          <a:p>
            <a:pPr lvl="1"/>
            <a:r>
              <a:rPr lang="en-US" dirty="0"/>
              <a:t>Examples: real-time apps, streaming apps</a:t>
            </a:r>
          </a:p>
        </p:txBody>
      </p:sp>
    </p:spTree>
    <p:extLst>
      <p:ext uri="{BB962C8B-B14F-4D97-AF65-F5344CB8AC3E}">
        <p14:creationId xmlns:p14="http://schemas.microsoft.com/office/powerpoint/2010/main" val="1628762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DC3B-30CA-4B12-AB58-AAFBD424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Communication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DB908-1CF6-45E1-8A25-C9CD18C23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70C0"/>
                </a:solidFill>
              </a:rPr>
              <a:t>Asynchronous communication</a:t>
            </a:r>
          </a:p>
          <a:p>
            <a:pPr lvl="1"/>
            <a:r>
              <a:rPr lang="en-US" dirty="0"/>
              <a:t>A sender continues immediately after it has submitted its message for transmission</a:t>
            </a:r>
          </a:p>
          <a:p>
            <a:r>
              <a:rPr lang="en-US" dirty="0">
                <a:solidFill>
                  <a:srgbClr val="0070C0"/>
                </a:solidFill>
              </a:rPr>
              <a:t>Synchronous communication</a:t>
            </a:r>
          </a:p>
          <a:p>
            <a:pPr lvl="1"/>
            <a:r>
              <a:rPr lang="en-US" dirty="0"/>
              <a:t>A sender is blocked until its request is known to be accepted </a:t>
            </a:r>
          </a:p>
          <a:p>
            <a:pPr lvl="1"/>
            <a:r>
              <a:rPr lang="en-US" dirty="0"/>
              <a:t>Three points when the sender is released:</a:t>
            </a:r>
          </a:p>
          <a:p>
            <a:pPr lvl="2"/>
            <a:r>
              <a:rPr lang="en-US" dirty="0"/>
              <a:t>Until the middleware acknowledges reception of the request</a:t>
            </a:r>
          </a:p>
          <a:p>
            <a:pPr lvl="2"/>
            <a:r>
              <a:rPr lang="en-US" dirty="0"/>
              <a:t>Until the request has been sent to the receiver</a:t>
            </a:r>
          </a:p>
          <a:p>
            <a:pPr lvl="2"/>
            <a:r>
              <a:rPr lang="en-US" dirty="0"/>
              <a:t>Until the response is received from the receiver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29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Remote Procedure Call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976A9-1C23-4125-B7D3-EE0FAF2585A2}"/>
              </a:ext>
            </a:extLst>
          </p:cNvPr>
          <p:cNvSpPr txBox="1"/>
          <p:nvPr/>
        </p:nvSpPr>
        <p:spPr>
          <a:xfrm>
            <a:off x="695554" y="4000500"/>
            <a:ext cx="7752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“We will discuss the concept, implementation, strengths, and weaknesses of the </a:t>
            </a:r>
          </a:p>
          <a:p>
            <a:pPr algn="ctr"/>
            <a:r>
              <a:rPr lang="en-US" dirty="0"/>
              <a:t>remote procedure call method”.</a:t>
            </a:r>
          </a:p>
        </p:txBody>
      </p:sp>
    </p:spTree>
    <p:extLst>
      <p:ext uri="{BB962C8B-B14F-4D97-AF65-F5344CB8AC3E}">
        <p14:creationId xmlns:p14="http://schemas.microsoft.com/office/powerpoint/2010/main" val="347358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22E5-8DC1-4B1B-BDA5-004FBEAB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RPC Operation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92F71-2330-4F78-B92C-EF1B8DBD4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1451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It allows programs to call procedures located on remote machines.</a:t>
            </a:r>
          </a:p>
          <a:p>
            <a:r>
              <a:rPr lang="en-US" sz="2400" dirty="0"/>
              <a:t>The goal is to make a remote procedure call look as much as like a local call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Distribution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transparency</a:t>
            </a:r>
            <a:r>
              <a:rPr lang="en-US" sz="2000" dirty="0"/>
              <a:t> – a calling procedure does not know the called procedure is executing on a different machine</a:t>
            </a:r>
          </a:p>
          <a:p>
            <a:r>
              <a:rPr lang="en-US" sz="2400" dirty="0"/>
              <a:t>To achieve </a:t>
            </a:r>
            <a:r>
              <a:rPr lang="en-US" sz="2400" dirty="0">
                <a:solidFill>
                  <a:srgbClr val="0070C0"/>
                </a:solidFill>
              </a:rPr>
              <a:t>distribution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transparency</a:t>
            </a:r>
            <a:r>
              <a:rPr lang="en-US" sz="2400" dirty="0"/>
              <a:t>, a </a:t>
            </a:r>
            <a:r>
              <a:rPr lang="en-US" sz="2400" dirty="0">
                <a:solidFill>
                  <a:srgbClr val="0070C0"/>
                </a:solidFill>
              </a:rPr>
              <a:t>client stub </a:t>
            </a:r>
            <a:r>
              <a:rPr lang="en-US" sz="2400" dirty="0"/>
              <a:t>is used</a:t>
            </a:r>
          </a:p>
          <a:p>
            <a:pPr lvl="1"/>
            <a:r>
              <a:rPr lang="en-US" sz="2000" dirty="0"/>
              <a:t>It packs the parameters in a message to be sent to the server.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8BA4443-44BF-4ED5-A87F-BF94DF9E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256828"/>
            <a:ext cx="5233988" cy="260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63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983A-48DD-4F10-80E8-D086460A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RPC Operation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0E09D-658D-41E9-BAB5-7990C936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When the message arrives at the server, the server’s operating system passes it to a </a:t>
            </a:r>
            <a:r>
              <a:rPr lang="en-US" dirty="0">
                <a:solidFill>
                  <a:srgbClr val="0070C0"/>
                </a:solidFill>
              </a:rPr>
              <a:t>server stub</a:t>
            </a:r>
          </a:p>
          <a:p>
            <a:pPr lvl="2"/>
            <a:r>
              <a:rPr lang="en-US" dirty="0"/>
              <a:t>Transforms requests coming in over the network into local procedure calls with unpacked parameters</a:t>
            </a:r>
          </a:p>
          <a:p>
            <a:pPr lvl="2"/>
            <a:r>
              <a:rPr lang="en-US" dirty="0"/>
              <a:t>After a procedure execution is completed, the result is packed in a message and returned to the client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client stub </a:t>
            </a:r>
            <a:r>
              <a:rPr lang="en-US" dirty="0"/>
              <a:t>inspects the message, unpacks the result, copies it to its caller, and returns</a:t>
            </a:r>
          </a:p>
          <a:p>
            <a:pPr lvl="1"/>
            <a:r>
              <a:rPr lang="en-US" dirty="0"/>
              <a:t>All the details on the message exchanges are not exposed to users.</a:t>
            </a:r>
          </a:p>
        </p:txBody>
      </p:sp>
    </p:spTree>
    <p:extLst>
      <p:ext uri="{BB962C8B-B14F-4D97-AF65-F5344CB8AC3E}">
        <p14:creationId xmlns:p14="http://schemas.microsoft.com/office/powerpoint/2010/main" val="284617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8B89-F7AA-470D-B109-AF7A2608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RPC Operation (3/3)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5CA8-D2E3-19A8-ABC0-C68675B7E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8" y="1524000"/>
            <a:ext cx="8443023" cy="42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9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8C14-5389-4C62-AB0E-4FFFDF85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Passing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7057-C1E5-4C99-9812-A3F0644D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Packing parameters into a message is called </a:t>
            </a:r>
            <a:r>
              <a:rPr lang="en-US" dirty="0">
                <a:solidFill>
                  <a:srgbClr val="0070C0"/>
                </a:solidFill>
              </a:rPr>
              <a:t>parameter marshaling </a:t>
            </a:r>
          </a:p>
          <a:p>
            <a:r>
              <a:rPr lang="en-US" dirty="0"/>
              <a:t>Two </a:t>
            </a:r>
            <a:r>
              <a:rPr lang="en-US" dirty="0">
                <a:solidFill>
                  <a:srgbClr val="C00000"/>
                </a:solidFill>
              </a:rPr>
              <a:t>challenges</a:t>
            </a:r>
          </a:p>
          <a:p>
            <a:pPr lvl="1"/>
            <a:r>
              <a:rPr lang="en-US" dirty="0"/>
              <a:t>How does the server recognize the </a:t>
            </a:r>
            <a:r>
              <a:rPr lang="en-US" b="1" dirty="0"/>
              <a:t>meta-information</a:t>
            </a:r>
            <a:r>
              <a:rPr lang="en-US" dirty="0"/>
              <a:t> in a message?</a:t>
            </a:r>
          </a:p>
          <a:p>
            <a:pPr lvl="2"/>
            <a:r>
              <a:rPr lang="en-US" i="1" dirty="0"/>
              <a:t>e.g.</a:t>
            </a:r>
            <a:r>
              <a:rPr lang="en-US" dirty="0"/>
              <a:t>, which part of incoming bits are function name and parameters </a:t>
            </a:r>
          </a:p>
          <a:p>
            <a:pPr lvl="1"/>
            <a:r>
              <a:rPr lang="en-US" dirty="0"/>
              <a:t>How do we ensure correct information transfer between machines with different architectures (</a:t>
            </a:r>
            <a:r>
              <a:rPr lang="en-US" i="1" dirty="0"/>
              <a:t>e.g., </a:t>
            </a:r>
            <a:r>
              <a:rPr lang="en-US" dirty="0"/>
              <a:t>Intel vs ARM)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Little endian </a:t>
            </a:r>
            <a:r>
              <a:rPr lang="en-US" dirty="0"/>
              <a:t>vs </a:t>
            </a:r>
            <a:r>
              <a:rPr lang="en-US" dirty="0">
                <a:solidFill>
                  <a:srgbClr val="0070C0"/>
                </a:solidFill>
              </a:rPr>
              <a:t>big endian</a:t>
            </a:r>
          </a:p>
          <a:p>
            <a:pPr lvl="3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Two different ways of storing multibyte data-types. </a:t>
            </a:r>
          </a:p>
          <a:p>
            <a:pPr lvl="3"/>
            <a:r>
              <a:rPr lang="en-US" dirty="0">
                <a:solidFill>
                  <a:srgbClr val="0070C0"/>
                </a:solidFill>
                <a:latin typeface="urw-din"/>
              </a:rPr>
              <a:t>L</a:t>
            </a:r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ittle endian machines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(Intel) – the last byte of the multibyte data-type is stored first in memory. </a:t>
            </a:r>
          </a:p>
          <a:p>
            <a:pPr lvl="3"/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Big endian machines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(ARM) – the first byte of the multibyte data-type is stored first in memory.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03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D0F9-0E54-4316-93B3-7D9C4041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E622B-87D0-4C0C-8973-4687CF44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557"/>
            <a:ext cx="9144000" cy="628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B2D05B-E629-40FD-913D-A1FE9DAE3820}"/>
              </a:ext>
            </a:extLst>
          </p:cNvPr>
          <p:cNvSpPr txBox="1"/>
          <p:nvPr/>
        </p:nvSpPr>
        <p:spPr>
          <a:xfrm>
            <a:off x="3852700" y="6488668"/>
            <a:ext cx="1438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 emory.edu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A98E5-254F-65DA-A492-2F2997710BA6}"/>
              </a:ext>
            </a:extLst>
          </p:cNvPr>
          <p:cNvSpPr txBox="1"/>
          <p:nvPr/>
        </p:nvSpPr>
        <p:spPr>
          <a:xfrm>
            <a:off x="609600" y="621268"/>
            <a:ext cx="5324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with the remaining bytes stored in the decreasing order of significance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27A24-94A9-2E40-E1EB-A5DB7E6E1ADF}"/>
              </a:ext>
            </a:extLst>
          </p:cNvPr>
          <p:cNvSpPr txBox="1"/>
          <p:nvPr/>
        </p:nvSpPr>
        <p:spPr>
          <a:xfrm>
            <a:off x="597568" y="3799264"/>
            <a:ext cx="5276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with the remaining bytes stored in the increasing order of significance</a:t>
            </a:r>
          </a:p>
        </p:txBody>
      </p:sp>
    </p:spTree>
    <p:extLst>
      <p:ext uri="{BB962C8B-B14F-4D97-AF65-F5344CB8AC3E}">
        <p14:creationId xmlns:p14="http://schemas.microsoft.com/office/powerpoint/2010/main" val="3362273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AA91-CFE2-409D-B0FE-8AE6ABF7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Passing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56630-7750-416F-A7DE-887B30552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4403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solution is to transform data into a </a:t>
            </a:r>
            <a:r>
              <a:rPr lang="en-US" dirty="0">
                <a:solidFill>
                  <a:srgbClr val="0070C0"/>
                </a:solidFill>
              </a:rPr>
              <a:t>machine- and network-independent format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is what </a:t>
            </a:r>
            <a:r>
              <a:rPr lang="en-US" dirty="0">
                <a:solidFill>
                  <a:srgbClr val="0070C0"/>
                </a:solidFill>
              </a:rPr>
              <a:t>marshaling</a:t>
            </a:r>
            <a:r>
              <a:rPr lang="en-US" dirty="0"/>
              <a:t> is designed for, </a:t>
            </a:r>
            <a:r>
              <a:rPr lang="en-US" i="1" dirty="0"/>
              <a:t>i.e.</a:t>
            </a:r>
            <a:r>
              <a:rPr lang="en-US" dirty="0"/>
              <a:t>, it makes sure that bytes in the message are stored in </a:t>
            </a:r>
            <a:r>
              <a:rPr lang="en-US" b="1" u="sng" dirty="0"/>
              <a:t>a predefined order (Discussed more in the later slide)</a:t>
            </a:r>
            <a:r>
              <a:rPr lang="en-US" dirty="0"/>
              <a:t> that both the client and server agree.</a:t>
            </a:r>
          </a:p>
          <a:p>
            <a:r>
              <a:rPr lang="en-US" dirty="0"/>
              <a:t>How about </a:t>
            </a:r>
            <a:r>
              <a:rPr lang="en-US" dirty="0">
                <a:solidFill>
                  <a:srgbClr val="0070C0"/>
                </a:solidFill>
              </a:rPr>
              <a:t>pointers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 pointer that refers to memory location in the local address space may point to something completely different on other machines!</a:t>
            </a:r>
          </a:p>
          <a:p>
            <a:pPr lvl="1"/>
            <a:r>
              <a:rPr lang="en-US" dirty="0"/>
              <a:t>Pass a </a:t>
            </a:r>
            <a:r>
              <a:rPr lang="en-US" dirty="0">
                <a:solidFill>
                  <a:srgbClr val="C00000"/>
                </a:solidFill>
              </a:rPr>
              <a:t>copy of the entire data structure</a:t>
            </a:r>
          </a:p>
          <a:p>
            <a:pPr lvl="2"/>
            <a:r>
              <a:rPr lang="en-US" dirty="0"/>
              <a:t>This is easy but incurs overhead.</a:t>
            </a:r>
          </a:p>
          <a:p>
            <a:pPr lvl="1"/>
            <a:r>
              <a:rPr lang="en-US" dirty="0"/>
              <a:t>Use a </a:t>
            </a:r>
            <a:r>
              <a:rPr lang="en-US" dirty="0">
                <a:solidFill>
                  <a:srgbClr val="0070C0"/>
                </a:solidFill>
              </a:rPr>
              <a:t>global reference</a:t>
            </a:r>
          </a:p>
          <a:p>
            <a:pPr lvl="2"/>
            <a:r>
              <a:rPr lang="en-US" dirty="0"/>
              <a:t>Requires proper </a:t>
            </a:r>
            <a:r>
              <a:rPr lang="en-US" dirty="0">
                <a:solidFill>
                  <a:srgbClr val="0070C0"/>
                </a:solidFill>
              </a:rPr>
              <a:t>programming language support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Example: </a:t>
            </a:r>
            <a:r>
              <a:rPr lang="en-US" dirty="0">
                <a:solidFill>
                  <a:srgbClr val="0070C0"/>
                </a:solidFill>
              </a:rPr>
              <a:t>Microsoft COM (Component Object Model) </a:t>
            </a:r>
            <a:r>
              <a:rPr lang="en-US" dirty="0"/>
              <a:t>uses </a:t>
            </a:r>
            <a:r>
              <a:rPr lang="en-US" dirty="0">
                <a:solidFill>
                  <a:srgbClr val="0070C0"/>
                </a:solidFill>
              </a:rPr>
              <a:t>globally unique identifiers</a:t>
            </a:r>
            <a:r>
              <a:rPr lang="en-US" dirty="0"/>
              <a:t> for classes to ensure that objects created in one part of a distributed system can be precisely identified and referenced in other parts.</a:t>
            </a:r>
          </a:p>
        </p:txBody>
      </p:sp>
    </p:spTree>
    <p:extLst>
      <p:ext uri="{BB962C8B-B14F-4D97-AF65-F5344CB8AC3E}">
        <p14:creationId xmlns:p14="http://schemas.microsoft.com/office/powerpoint/2010/main" val="4010823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CC8E-DB95-4563-9220-71C9E3B7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RPC-based Application Support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635F2-5BBD-48A4-BCE8-B1D324CF9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4406"/>
            <a:ext cx="82296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How do we make both the client and server follow the same protocol (</a:t>
            </a:r>
            <a:r>
              <a:rPr lang="en-US" sz="2400" i="1" dirty="0"/>
              <a:t>e.g., </a:t>
            </a:r>
            <a:r>
              <a:rPr lang="en-US" sz="2400" dirty="0"/>
              <a:t>same message format) for RPC?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Approach 1: </a:t>
            </a:r>
            <a:r>
              <a:rPr lang="en-US" sz="2000" dirty="0"/>
              <a:t>Ask the </a:t>
            </a:r>
            <a:r>
              <a:rPr lang="en-US" sz="2000" b="1" dirty="0">
                <a:solidFill>
                  <a:srgbClr val="0070C0"/>
                </a:solidFill>
              </a:rPr>
              <a:t>developer</a:t>
            </a:r>
            <a:r>
              <a:rPr lang="en-US" sz="2000" dirty="0"/>
              <a:t> to specify exactly in a message what need to be called remotely</a:t>
            </a:r>
          </a:p>
          <a:p>
            <a:pPr lvl="1"/>
            <a:r>
              <a:rPr lang="en-US" sz="1800" dirty="0"/>
              <a:t>Often specified by the means of an </a:t>
            </a:r>
            <a:r>
              <a:rPr lang="en-US" sz="1800" dirty="0">
                <a:solidFill>
                  <a:srgbClr val="0070C0"/>
                </a:solidFill>
              </a:rPr>
              <a:t>interface definition language (IDL)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IDL</a:t>
            </a:r>
            <a:r>
              <a:rPr lang="en-US" sz="1800" dirty="0"/>
              <a:t> provides a </a:t>
            </a:r>
            <a:r>
              <a:rPr lang="en-US" sz="1800" dirty="0">
                <a:solidFill>
                  <a:srgbClr val="0070C0"/>
                </a:solidFill>
              </a:rPr>
              <a:t>language-neutral way </a:t>
            </a:r>
            <a:r>
              <a:rPr lang="en-US" sz="1800" dirty="0"/>
              <a:t>to describe data types and structures that are passed between clients and servers </a:t>
            </a:r>
          </a:p>
          <a:p>
            <a:pPr lvl="1"/>
            <a:r>
              <a:rPr lang="en-US" sz="1800" dirty="0"/>
              <a:t>Examples: CORBA (Common Object Request Broker Architecture), Microsoft COM/DCOM (Component Object Model / Distributed Component Object Model)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 descr="Diagram, table&#10;&#10;Description automatically generated">
            <a:extLst>
              <a:ext uri="{FF2B5EF4-FFF2-40B4-BE49-F238E27FC236}">
                <a16:creationId xmlns:a16="http://schemas.microsoft.com/office/drawing/2014/main" id="{3E646584-97A8-4FBB-AAF3-1A9E8DBA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4756856"/>
            <a:ext cx="3276600" cy="207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9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B25A-CD6E-1CD0-9772-B2D02005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5756-F201-2083-CE72-B56EDE88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RPC-based Application Support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36C8-75C0-58C9-1C67-960F98D21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4406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Approach 2: </a:t>
            </a:r>
            <a:r>
              <a:rPr lang="en-US" sz="2400" dirty="0"/>
              <a:t>Embed remote procedure calling as part of a programming-language environment (let the programming language do the job)</a:t>
            </a:r>
          </a:p>
          <a:p>
            <a:pPr lvl="1"/>
            <a:r>
              <a:rPr lang="en-US" sz="2400" dirty="0"/>
              <a:t>Application development becomes much simpler.</a:t>
            </a:r>
          </a:p>
          <a:p>
            <a:pPr lvl="1"/>
            <a:r>
              <a:rPr lang="en-US" sz="2000" i="1" dirty="0"/>
              <a:t>e.g., </a:t>
            </a:r>
            <a:r>
              <a:rPr lang="en-US" sz="2000" dirty="0"/>
              <a:t>JAVA’s remote method invocation (RMI), Google’s </a:t>
            </a:r>
            <a:r>
              <a:rPr lang="en-US" sz="2000" dirty="0" err="1"/>
              <a:t>gRPC</a:t>
            </a:r>
            <a:r>
              <a:rPr lang="en-US" sz="2000" dirty="0"/>
              <a:t> (supports various programming languages), Python’s Pyro, Erlang’s Erlang Distribution,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F4B76-E743-48A5-47D4-AC5C9E93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50" y="4359344"/>
            <a:ext cx="37973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33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EDEE-AD0F-42A9-8480-96BE5B26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RPC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E358-2999-48CA-9B56-9166C4B79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4" y="1066800"/>
            <a:ext cx="82296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Several variations on RPC in terms of whether a client is blocked when a remote procedure call is made</a:t>
            </a:r>
          </a:p>
          <a:p>
            <a:r>
              <a:rPr lang="en-US" sz="2800" dirty="0">
                <a:solidFill>
                  <a:srgbClr val="0070C0"/>
                </a:solidFill>
              </a:rPr>
              <a:t>Asynchronous RPC</a:t>
            </a:r>
          </a:p>
          <a:p>
            <a:pPr lvl="1"/>
            <a:r>
              <a:rPr lang="en-US" sz="2400" dirty="0"/>
              <a:t>The server immediately sends a reply.</a:t>
            </a:r>
          </a:p>
          <a:p>
            <a:pPr lvl="1"/>
            <a:r>
              <a:rPr lang="en-US" sz="2400" dirty="0"/>
              <a:t>The client continues without being blocked.</a:t>
            </a:r>
          </a:p>
          <a:p>
            <a:pPr lvl="1"/>
            <a:r>
              <a:rPr lang="en-US" sz="2400" dirty="0"/>
              <a:t>Useful when there is no result to return.</a:t>
            </a:r>
          </a:p>
        </p:txBody>
      </p:sp>
      <p:pic>
        <p:nvPicPr>
          <p:cNvPr id="5" name="Picture 4" descr="Diagram, text&#10;&#10;Description automatically generated">
            <a:extLst>
              <a:ext uri="{FF2B5EF4-FFF2-40B4-BE49-F238E27FC236}">
                <a16:creationId xmlns:a16="http://schemas.microsoft.com/office/drawing/2014/main" id="{B415A432-213C-4B91-A2E3-F1C653AD7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89" y="4267200"/>
            <a:ext cx="6984822" cy="2209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549C7F-BEBC-1355-5401-512DBFA6AF55}"/>
              </a:ext>
            </a:extLst>
          </p:cNvPr>
          <p:cNvSpPr txBox="1"/>
          <p:nvPr/>
        </p:nvSpPr>
        <p:spPr>
          <a:xfrm>
            <a:off x="1905000" y="6403889"/>
            <a:ext cx="163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Traditional RPC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4A8E9-9105-8BE8-2C3E-5DCD3568E0D2}"/>
              </a:ext>
            </a:extLst>
          </p:cNvPr>
          <p:cNvSpPr txBox="1"/>
          <p:nvPr/>
        </p:nvSpPr>
        <p:spPr>
          <a:xfrm>
            <a:off x="5213052" y="6400800"/>
            <a:ext cx="195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Asynchronous RPC</a:t>
            </a:r>
          </a:p>
        </p:txBody>
      </p:sp>
    </p:spTree>
    <p:extLst>
      <p:ext uri="{BB962C8B-B14F-4D97-AF65-F5344CB8AC3E}">
        <p14:creationId xmlns:p14="http://schemas.microsoft.com/office/powerpoint/2010/main" val="605285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1A99-B22F-45D9-8CF8-551C4CFC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RPC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BB2C3-2662-455A-827B-EB6C1D98A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5638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Deferred synchronous RPC</a:t>
            </a:r>
          </a:p>
          <a:p>
            <a:pPr lvl="1"/>
            <a:r>
              <a:rPr lang="en-US" sz="2000" dirty="0"/>
              <a:t>Asynchronous RPC combined with a </a:t>
            </a:r>
            <a:r>
              <a:rPr lang="en-US" sz="2000" dirty="0">
                <a:solidFill>
                  <a:srgbClr val="0070C0"/>
                </a:solidFill>
              </a:rPr>
              <a:t>callback</a:t>
            </a:r>
          </a:p>
          <a:p>
            <a:pPr lvl="1"/>
            <a:r>
              <a:rPr lang="en-US" sz="2000" dirty="0"/>
              <a:t>A </a:t>
            </a:r>
            <a:r>
              <a:rPr lang="en-US" sz="2000" dirty="0">
                <a:solidFill>
                  <a:srgbClr val="0070C0"/>
                </a:solidFill>
              </a:rPr>
              <a:t>callback</a:t>
            </a:r>
            <a:r>
              <a:rPr lang="en-US" sz="2000" dirty="0"/>
              <a:t> is a user-defined function that is invoked when a special event happens</a:t>
            </a:r>
          </a:p>
          <a:p>
            <a:pPr lvl="1"/>
            <a:r>
              <a:rPr lang="en-US" sz="2000" dirty="0"/>
              <a:t>When results become available, the server sends a response message that leads to a callback at the client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B1B99-7C89-47B3-C0E5-C6F4ECBC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114800"/>
            <a:ext cx="5334000" cy="227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0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E0B0-C43F-6656-54E7-362C63B9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RPC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003CC-EEF1-3213-DC06-3A271C0E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One-way RPC</a:t>
            </a:r>
          </a:p>
          <a:p>
            <a:pPr lvl="1"/>
            <a:r>
              <a:rPr lang="en-US" sz="2000" dirty="0"/>
              <a:t>The client continues executing immediately after sending the request to the server and </a:t>
            </a:r>
            <a:r>
              <a:rPr lang="en-US" sz="2000" b="1" dirty="0">
                <a:solidFill>
                  <a:srgbClr val="0070C0"/>
                </a:solidFill>
              </a:rPr>
              <a:t>does not wait for an acknowledgement </a:t>
            </a:r>
            <a:r>
              <a:rPr lang="en-US" sz="2000" dirty="0"/>
              <a:t>of the server’s acceptance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reliability</a:t>
            </a:r>
            <a:r>
              <a:rPr lang="en-US" sz="2000" dirty="0"/>
              <a:t> is not guaranteed</a:t>
            </a:r>
          </a:p>
          <a:p>
            <a:pPr lvl="1"/>
            <a:r>
              <a:rPr lang="en-US" sz="2000" dirty="0"/>
              <a:t>Why use </a:t>
            </a:r>
            <a:r>
              <a:rPr lang="en-US" sz="2000" dirty="0">
                <a:solidFill>
                  <a:srgbClr val="0070C0"/>
                </a:solidFill>
              </a:rPr>
              <a:t>One-way RPC</a:t>
            </a:r>
            <a:r>
              <a:rPr lang="en-US" sz="2000" dirty="0"/>
              <a:t>?</a:t>
            </a:r>
          </a:p>
          <a:p>
            <a:pPr lvl="2"/>
            <a:r>
              <a:rPr lang="en-US" sz="1800" dirty="0"/>
              <a:t>Performance improvement (the client does not wait at all, and the server does not need to respond to each RPC call)</a:t>
            </a:r>
          </a:p>
          <a:p>
            <a:pPr marL="1371600" lvl="3" indent="0">
              <a:buNone/>
            </a:pPr>
            <a:r>
              <a:rPr lang="en-US" sz="1800" dirty="0"/>
              <a:t>-&gt; Higher scalability</a:t>
            </a:r>
          </a:p>
          <a:p>
            <a:pPr lvl="2"/>
            <a:r>
              <a:rPr lang="en-US" sz="1800" dirty="0"/>
              <a:t>Minimizes the latency (particularly useful in real-time systems)</a:t>
            </a:r>
          </a:p>
          <a:p>
            <a:pPr lvl="2"/>
            <a:r>
              <a:rPr lang="en-US" sz="1800" dirty="0"/>
              <a:t>E.g., status update (losing one or two requests does not impact the performance)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66073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B98C-2D44-447F-90E6-DA1BD121D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RPC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907DB-0E38-44CA-92A6-BEC59BD0D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Multicast RPC</a:t>
            </a:r>
          </a:p>
          <a:p>
            <a:pPr lvl="1"/>
            <a:r>
              <a:rPr lang="en-US" sz="2000" dirty="0"/>
              <a:t>Executes </a:t>
            </a:r>
            <a:r>
              <a:rPr lang="en-US" sz="2000" dirty="0">
                <a:solidFill>
                  <a:srgbClr val="0070C0"/>
                </a:solidFill>
              </a:rPr>
              <a:t>multiple RPCs </a:t>
            </a:r>
            <a:r>
              <a:rPr lang="en-US" sz="2000" dirty="0"/>
              <a:t>at the same time, </a:t>
            </a:r>
            <a:r>
              <a:rPr lang="en-US" sz="2000" i="1" dirty="0"/>
              <a:t>i.e., </a:t>
            </a:r>
            <a:r>
              <a:rPr lang="en-US" sz="2000" dirty="0"/>
              <a:t>sending an RPC request to multiple servers</a:t>
            </a:r>
          </a:p>
          <a:p>
            <a:pPr lvl="1"/>
            <a:r>
              <a:rPr lang="en-US" sz="2000" dirty="0"/>
              <a:t>The client is </a:t>
            </a:r>
            <a:r>
              <a:rPr lang="en-US" sz="2000" dirty="0">
                <a:solidFill>
                  <a:srgbClr val="0070C0"/>
                </a:solidFill>
              </a:rPr>
              <a:t>unaware</a:t>
            </a:r>
            <a:r>
              <a:rPr lang="en-US" sz="2000" dirty="0"/>
              <a:t> of the fact that an RPC request is actually being forwarded to more than one server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Issues</a:t>
            </a:r>
          </a:p>
          <a:p>
            <a:pPr lvl="2"/>
            <a:r>
              <a:rPr lang="en-US" sz="1800" dirty="0"/>
              <a:t>Decide what to do with responses, </a:t>
            </a:r>
            <a:r>
              <a:rPr lang="en-US" sz="1800" i="1" dirty="0"/>
              <a:t>e.g., </a:t>
            </a:r>
            <a:r>
              <a:rPr lang="en-US" sz="1800" dirty="0"/>
              <a:t>proceed if all responses are received, or wait just for 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1E0139-EC6D-C52C-B44A-41AA3913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951267"/>
            <a:ext cx="4724400" cy="290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51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Message-Oriented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976A9-1C23-4125-B7D3-EE0FAF2585A2}"/>
              </a:ext>
            </a:extLst>
          </p:cNvPr>
          <p:cNvSpPr txBox="1"/>
          <p:nvPr/>
        </p:nvSpPr>
        <p:spPr>
          <a:xfrm>
            <a:off x="291901" y="4000500"/>
            <a:ext cx="85602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“A different communication service is needed to address the synchronous nature of RPCs </a:t>
            </a:r>
          </a:p>
          <a:p>
            <a:pPr algn="ctr"/>
            <a:r>
              <a:rPr lang="en-US" dirty="0"/>
              <a:t>and the limitation of RPCs that the client and server must be executing at the time of</a:t>
            </a:r>
          </a:p>
          <a:p>
            <a:pPr algn="ctr"/>
            <a:r>
              <a:rPr lang="en-US" dirty="0"/>
              <a:t>communication.”</a:t>
            </a:r>
          </a:p>
        </p:txBody>
      </p:sp>
    </p:spTree>
    <p:extLst>
      <p:ext uri="{BB962C8B-B14F-4D97-AF65-F5344CB8AC3E}">
        <p14:creationId xmlns:p14="http://schemas.microsoft.com/office/powerpoint/2010/main" val="171908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5B8A-E8CD-347E-F32E-15AE1E2E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RPC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7CAC-E8EA-8B81-9CCA-6B58AF3FF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receiving side should be executing when a request is issued.</a:t>
            </a:r>
          </a:p>
          <a:p>
            <a:pPr lvl="1"/>
            <a:r>
              <a:rPr lang="en-US" dirty="0"/>
              <a:t>Supports </a:t>
            </a:r>
            <a:r>
              <a:rPr lang="en-US" dirty="0">
                <a:solidFill>
                  <a:srgbClr val="C00000"/>
                </a:solidFill>
              </a:rPr>
              <a:t>only the transient communication</a:t>
            </a:r>
          </a:p>
          <a:p>
            <a:r>
              <a:rPr lang="en-US" dirty="0"/>
              <a:t>The client is </a:t>
            </a:r>
            <a:r>
              <a:rPr lang="en-US" dirty="0">
                <a:solidFill>
                  <a:srgbClr val="C00000"/>
                </a:solidFill>
              </a:rPr>
              <a:t>blocked</a:t>
            </a:r>
            <a:r>
              <a:rPr lang="en-US" dirty="0"/>
              <a:t> (although it can perform another task while waiting for a reply) until its request has been processed.</a:t>
            </a:r>
          </a:p>
          <a:p>
            <a:r>
              <a:rPr lang="en-US" dirty="0">
                <a:solidFill>
                  <a:srgbClr val="0070C0"/>
                </a:solidFill>
              </a:rPr>
              <a:t>Message-oriented communication </a:t>
            </a:r>
            <a:r>
              <a:rPr lang="en-US" dirty="0"/>
              <a:t>addresses these limitations.</a:t>
            </a:r>
          </a:p>
          <a:p>
            <a:pPr lvl="1"/>
            <a:r>
              <a:rPr lang="en-US" dirty="0"/>
              <a:t>Supports both the persistent and transient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582074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199D-F1EB-4635-9722-735D4C17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Transient Messaging with Sockets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B3971-50AB-4F59-A413-33391BEBE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7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Socket</a:t>
            </a:r>
            <a:r>
              <a:rPr lang="en-US" dirty="0"/>
              <a:t> interface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socket</a:t>
            </a:r>
            <a:r>
              <a:rPr lang="en-US" dirty="0"/>
              <a:t> is a </a:t>
            </a:r>
            <a:r>
              <a:rPr lang="en-US" dirty="0">
                <a:solidFill>
                  <a:srgbClr val="0070C0"/>
                </a:solidFill>
              </a:rPr>
              <a:t>communication end point </a:t>
            </a:r>
            <a:r>
              <a:rPr lang="en-US" dirty="0"/>
              <a:t>to which an application writes data, and from which incoming data can be read.</a:t>
            </a:r>
          </a:p>
          <a:p>
            <a:pPr lvl="1"/>
            <a:r>
              <a:rPr lang="en-US" dirty="0"/>
              <a:t>Socket operations for TCP/IP</a:t>
            </a:r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9F0774E-1AA1-4250-B34B-2973DF092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41629"/>
            <a:ext cx="7620000" cy="29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37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C81E-7990-400B-9072-8DCA8A22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Transient Messaging with Sockets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89237-3C3D-4B1B-B2B1-544984988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Connection-oriented communication pattern using socket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04B2B7D-892C-48D2-B596-719827F9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9897"/>
            <a:ext cx="9144000" cy="247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75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3D9-DFA2-4711-91A9-9AFBF2C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Transient Messaging (1/6)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9446-5673-44F0-B30C-C2C5E9655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standard socket approach is very </a:t>
            </a:r>
            <a:r>
              <a:rPr lang="en-US" dirty="0">
                <a:solidFill>
                  <a:srgbClr val="C00000"/>
                </a:solidFill>
              </a:rPr>
              <a:t>basic</a:t>
            </a:r>
          </a:p>
          <a:p>
            <a:pPr lvl="1"/>
            <a:r>
              <a:rPr lang="en-US" dirty="0"/>
              <a:t>Any extra facility (</a:t>
            </a:r>
            <a:r>
              <a:rPr lang="en-US" i="1" dirty="0"/>
              <a:t>e.g., </a:t>
            </a:r>
            <a:r>
              <a:rPr lang="en-US" dirty="0"/>
              <a:t>message formatting, error checking, buffering, resource management, </a:t>
            </a:r>
            <a:r>
              <a:rPr lang="en-US" i="1" dirty="0"/>
              <a:t>etc.</a:t>
            </a:r>
            <a:r>
              <a:rPr lang="en-US" dirty="0"/>
              <a:t>) for messaging needs to be implemented by the programmer.</a:t>
            </a:r>
          </a:p>
          <a:p>
            <a:r>
              <a:rPr lang="en-US" dirty="0"/>
              <a:t>We often need more </a:t>
            </a:r>
            <a:r>
              <a:rPr lang="en-US" dirty="0">
                <a:solidFill>
                  <a:srgbClr val="0070C0"/>
                </a:solidFill>
              </a:rPr>
              <a:t>advanced approaches</a:t>
            </a:r>
            <a:r>
              <a:rPr lang="en-US" dirty="0"/>
              <a:t>, </a:t>
            </a:r>
            <a:r>
              <a:rPr lang="en-US" i="1" dirty="0"/>
              <a:t>e.g.</a:t>
            </a:r>
            <a:r>
              <a:rPr lang="en-US" dirty="0"/>
              <a:t>, to better use resources, to make network programming easier, and to expand beyond functionality offered by existing socket interface. </a:t>
            </a:r>
          </a:p>
        </p:txBody>
      </p:sp>
    </p:spTree>
    <p:extLst>
      <p:ext uri="{BB962C8B-B14F-4D97-AF65-F5344CB8AC3E}">
        <p14:creationId xmlns:p14="http://schemas.microsoft.com/office/powerpoint/2010/main" val="2957509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3D9-DFA2-4711-91A9-9AFBF2C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Transient Messaging (2/6)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9446-5673-44F0-B30C-C2C5E965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ZeroMQ</a:t>
            </a:r>
            <a:r>
              <a:rPr lang="en-US" dirty="0">
                <a:solidFill>
                  <a:srgbClr val="0070C0"/>
                </a:solidFill>
              </a:rPr>
              <a:t> socket</a:t>
            </a:r>
          </a:p>
          <a:p>
            <a:pPr lvl="1"/>
            <a:r>
              <a:rPr lang="en-US" dirty="0"/>
              <a:t>Setting up and maintaining connections is kept under the hood</a:t>
            </a:r>
          </a:p>
          <a:p>
            <a:pPr lvl="2"/>
            <a:r>
              <a:rPr lang="en-US" dirty="0"/>
              <a:t>An application programmer does not need to bother with setting up connections (</a:t>
            </a:r>
            <a:r>
              <a:rPr lang="en-US" i="1" dirty="0"/>
              <a:t>i.e.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listen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accept</a:t>
            </a:r>
            <a:r>
              <a:rPr lang="en-US" dirty="0"/>
              <a:t>)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A server can </a:t>
            </a:r>
            <a:r>
              <a:rPr lang="en-US" dirty="0">
                <a:solidFill>
                  <a:srgbClr val="0070C0"/>
                </a:solidFill>
              </a:rPr>
              <a:t>listen to multiple ports </a:t>
            </a:r>
            <a:r>
              <a:rPr lang="en-US" dirty="0"/>
              <a:t>using a single blocking call. </a:t>
            </a:r>
          </a:p>
          <a:p>
            <a:pPr lvl="1"/>
            <a:r>
              <a:rPr lang="en-US" dirty="0" err="1"/>
              <a:t>ZeroMQ</a:t>
            </a:r>
            <a:r>
              <a:rPr lang="en-US" dirty="0"/>
              <a:t> sockets support </a:t>
            </a:r>
            <a:r>
              <a:rPr lang="en-US" dirty="0">
                <a:solidFill>
                  <a:srgbClr val="0070C0"/>
                </a:solidFill>
              </a:rPr>
              <a:t>asynchronous</a:t>
            </a:r>
            <a:r>
              <a:rPr lang="en-US" dirty="0"/>
              <a:t> communication</a:t>
            </a:r>
          </a:p>
          <a:p>
            <a:pPr lvl="2"/>
            <a:r>
              <a:rPr lang="en-US" dirty="0"/>
              <a:t>A sender continues after having submitted a message to the underlying communication system.</a:t>
            </a:r>
          </a:p>
          <a:p>
            <a:pPr lvl="1"/>
            <a:r>
              <a:rPr lang="en-US" dirty="0" err="1"/>
              <a:t>ZeroMQ</a:t>
            </a:r>
            <a:r>
              <a:rPr lang="en-US" dirty="0"/>
              <a:t> sockets support various kinds of </a:t>
            </a:r>
            <a:r>
              <a:rPr lang="en-US" dirty="0">
                <a:solidFill>
                  <a:srgbClr val="0070C0"/>
                </a:solidFill>
              </a:rPr>
              <a:t>communication patterns</a:t>
            </a:r>
            <a:r>
              <a:rPr lang="en-US" dirty="0"/>
              <a:t>.</a:t>
            </a:r>
          </a:p>
        </p:txBody>
      </p:sp>
      <p:pic>
        <p:nvPicPr>
          <p:cNvPr id="1026" name="Picture 2" descr="ZeroMQ Reviews 2022: Details, Pricing, &amp; Features | G2">
            <a:extLst>
              <a:ext uri="{FF2B5EF4-FFF2-40B4-BE49-F238E27FC236}">
                <a16:creationId xmlns:a16="http://schemas.microsoft.com/office/drawing/2014/main" id="{E01050CC-7B63-A24A-A7C1-A3B88E43C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198245"/>
            <a:ext cx="1761673" cy="9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609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3D9-DFA2-4711-91A9-9AFBF2C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Transient Messaging (3/6)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9446-5673-44F0-B30C-C2C5E965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make network programming easier, many messaging applications (or components) can be organized according to a few simple </a:t>
            </a:r>
            <a:r>
              <a:rPr lang="en-US" dirty="0">
                <a:solidFill>
                  <a:srgbClr val="0070C0"/>
                </a:solidFill>
              </a:rPr>
              <a:t>communication patterns</a:t>
            </a:r>
            <a:endParaRPr lang="en-US" dirty="0"/>
          </a:p>
          <a:p>
            <a:r>
              <a:rPr lang="en-US" dirty="0"/>
              <a:t>Three most important </a:t>
            </a:r>
            <a:r>
              <a:rPr lang="en-US" dirty="0">
                <a:solidFill>
                  <a:srgbClr val="0070C0"/>
                </a:solidFill>
              </a:rPr>
              <a:t>communication patterns </a:t>
            </a:r>
            <a:r>
              <a:rPr lang="en-US" dirty="0"/>
              <a:t>supported by </a:t>
            </a:r>
            <a:r>
              <a:rPr lang="en-US" dirty="0" err="1">
                <a:solidFill>
                  <a:srgbClr val="0070C0"/>
                </a:solidFill>
              </a:rPr>
              <a:t>ZeroMQ</a:t>
            </a:r>
            <a:r>
              <a:rPr lang="en-US" dirty="0">
                <a:solidFill>
                  <a:srgbClr val="0070C0"/>
                </a:solidFill>
              </a:rPr>
              <a:t> sockets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Request-reply pattern</a:t>
            </a:r>
            <a:r>
              <a:rPr lang="en-US" dirty="0"/>
              <a:t>: used in traditional client-server communication</a:t>
            </a:r>
          </a:p>
          <a:p>
            <a:pPr lvl="2"/>
            <a:r>
              <a:rPr lang="en-US" dirty="0"/>
              <a:t>A client uses a request socket to send a request message.</a:t>
            </a:r>
          </a:p>
          <a:p>
            <a:pPr lvl="2"/>
            <a:r>
              <a:rPr lang="en-US" dirty="0"/>
              <a:t>A server uses a reply socket</a:t>
            </a:r>
          </a:p>
          <a:p>
            <a:pPr lvl="2"/>
            <a:r>
              <a:rPr lang="en-US" dirty="0"/>
              <a:t>Simplifies matters for developers by avoiding the need to call the </a:t>
            </a:r>
            <a:r>
              <a:rPr lang="en-US" dirty="0">
                <a:solidFill>
                  <a:srgbClr val="0070C0"/>
                </a:solidFill>
              </a:rPr>
              <a:t>listen</a:t>
            </a:r>
            <a:r>
              <a:rPr lang="en-US" dirty="0"/>
              <a:t> operation as well as the </a:t>
            </a:r>
            <a:r>
              <a:rPr lang="en-US" dirty="0">
                <a:solidFill>
                  <a:srgbClr val="0070C0"/>
                </a:solidFill>
              </a:rPr>
              <a:t>accept</a:t>
            </a:r>
            <a:r>
              <a:rPr lang="en-US" dirty="0"/>
              <a:t> operation</a:t>
            </a:r>
          </a:p>
          <a:p>
            <a:pPr lvl="3"/>
            <a:r>
              <a:rPr lang="en-US" dirty="0"/>
              <a:t>These operations are done automatically with a single </a:t>
            </a:r>
            <a:r>
              <a:rPr lang="en-US" dirty="0">
                <a:solidFill>
                  <a:srgbClr val="0070C0"/>
                </a:solidFill>
              </a:rPr>
              <a:t>bind() </a:t>
            </a:r>
            <a:r>
              <a:rPr lang="en-US" dirty="0"/>
              <a:t>call.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30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5AB8-D8AF-90B7-BFAE-277D7D70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Python Server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81683-1CB7-E8C6-BB90-28F2A375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5810"/>
            <a:ext cx="7772400" cy="48875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F8B5E0-16EA-3480-6D1D-DB56CDF80F05}"/>
              </a:ext>
            </a:extLst>
          </p:cNvPr>
          <p:cNvSpPr txBox="1"/>
          <p:nvPr/>
        </p:nvSpPr>
        <p:spPr>
          <a:xfrm>
            <a:off x="3200400" y="3657600"/>
            <a:ext cx="502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Connection received via any local network interface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8D7478-1887-9254-1D70-0B2FB4BB3C95}"/>
              </a:ext>
            </a:extLst>
          </p:cNvPr>
          <p:cNvCxnSpPr>
            <a:cxnSpLocks/>
          </p:cNvCxnSpPr>
          <p:nvPr/>
        </p:nvCxnSpPr>
        <p:spPr>
          <a:xfrm flipH="1" flipV="1">
            <a:off x="3276600" y="3429000"/>
            <a:ext cx="1524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E46981-A1C3-196A-346E-5798738EB5C7}"/>
              </a:ext>
            </a:extLst>
          </p:cNvPr>
          <p:cNvSpPr txBox="1"/>
          <p:nvPr/>
        </p:nvSpPr>
        <p:spPr>
          <a:xfrm>
            <a:off x="3810000" y="2450068"/>
            <a:ext cx="22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 </a:t>
            </a:r>
            <a:r>
              <a:rPr lang="en-US" dirty="0" err="1"/>
              <a:t>zmq</a:t>
            </a:r>
            <a:r>
              <a:rPr lang="en-US" dirty="0"/>
              <a:t> object creation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B1DED-E47A-5EDA-CBCE-F8D432EE7036}"/>
              </a:ext>
            </a:extLst>
          </p:cNvPr>
          <p:cNvSpPr txBox="1"/>
          <p:nvPr/>
        </p:nvSpPr>
        <p:spPr>
          <a:xfrm>
            <a:off x="4950537" y="2819400"/>
            <a:ext cx="38682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 </a:t>
            </a:r>
            <a:r>
              <a:rPr lang="en-US" dirty="0" err="1"/>
              <a:t>zmq</a:t>
            </a:r>
            <a:r>
              <a:rPr lang="en-US" dirty="0"/>
              <a:t> socket creation</a:t>
            </a:r>
          </a:p>
          <a:p>
            <a:r>
              <a:rPr lang="en-US" dirty="0"/>
              <a:t>// REP: server-side in the request-reply </a:t>
            </a:r>
          </a:p>
          <a:p>
            <a:r>
              <a:rPr lang="en-US" dirty="0"/>
              <a:t>// pattern </a:t>
            </a:r>
          </a:p>
        </p:txBody>
      </p:sp>
    </p:spTree>
    <p:extLst>
      <p:ext uri="{BB962C8B-B14F-4D97-AF65-F5344CB8AC3E}">
        <p14:creationId xmlns:p14="http://schemas.microsoft.com/office/powerpoint/2010/main" val="933801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3D9-DFA2-4711-91A9-9AFBF2C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Transient Messaging (4/6)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9446-5673-44F0-B30C-C2C5E9655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most important communication patterns supported by </a:t>
            </a:r>
            <a:r>
              <a:rPr lang="en-US" dirty="0" err="1">
                <a:solidFill>
                  <a:srgbClr val="0070C0"/>
                </a:solidFill>
              </a:rPr>
              <a:t>ZeroMQ</a:t>
            </a:r>
            <a:r>
              <a:rPr lang="en-US" dirty="0">
                <a:solidFill>
                  <a:srgbClr val="0070C0"/>
                </a:solidFill>
              </a:rPr>
              <a:t> sockets </a:t>
            </a:r>
            <a:r>
              <a:rPr lang="en-US" dirty="0"/>
              <a:t>(cont.)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Publish-subscribe pattern</a:t>
            </a:r>
          </a:p>
          <a:p>
            <a:pPr lvl="2"/>
            <a:r>
              <a:rPr lang="en-US" dirty="0"/>
              <a:t>A client </a:t>
            </a:r>
            <a:r>
              <a:rPr lang="en-US" dirty="0">
                <a:solidFill>
                  <a:srgbClr val="0070C0"/>
                </a:solidFill>
              </a:rPr>
              <a:t>subscribes</a:t>
            </a:r>
            <a:r>
              <a:rPr lang="en-US" dirty="0"/>
              <a:t> to specific messages that are </a:t>
            </a:r>
            <a:r>
              <a:rPr lang="en-US" dirty="0">
                <a:solidFill>
                  <a:srgbClr val="0070C0"/>
                </a:solidFill>
              </a:rPr>
              <a:t>published</a:t>
            </a:r>
            <a:r>
              <a:rPr lang="en-US" dirty="0"/>
              <a:t> by servers</a:t>
            </a:r>
          </a:p>
          <a:p>
            <a:pPr lvl="2"/>
            <a:r>
              <a:rPr lang="en-US" dirty="0"/>
              <a:t>Only the messages to which the client has subscribed will be transmitted</a:t>
            </a:r>
          </a:p>
          <a:p>
            <a:pPr lvl="2"/>
            <a:r>
              <a:rPr lang="en-US" dirty="0"/>
              <a:t>Messages from the server that no one has subscribed will be dropped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9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68B3-55E8-00E4-ED7A-F8D73743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Python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C9DD0-B2F5-A27C-FCE7-3CF21E46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222524"/>
            <a:ext cx="5810250" cy="536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05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3D9-DFA2-4711-91A9-9AFBF2C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Transient Messaging (5/6)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9446-5673-44F0-B30C-C2C5E965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/>
              <a:t>Three most important communication patterns supported by </a:t>
            </a:r>
            <a:r>
              <a:rPr lang="en-US" dirty="0" err="1">
                <a:solidFill>
                  <a:srgbClr val="0070C0"/>
                </a:solidFill>
              </a:rPr>
              <a:t>ZeroMQ</a:t>
            </a:r>
            <a:r>
              <a:rPr lang="en-US" dirty="0">
                <a:solidFill>
                  <a:srgbClr val="0070C0"/>
                </a:solidFill>
              </a:rPr>
              <a:t> sockets </a:t>
            </a:r>
            <a:r>
              <a:rPr lang="en-US" dirty="0"/>
              <a:t>(cont.)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Pipeline pattern</a:t>
            </a:r>
          </a:p>
          <a:p>
            <a:pPr lvl="2"/>
            <a:r>
              <a:rPr lang="en-US" dirty="0"/>
              <a:t>The pipeline pattern is designed for </a:t>
            </a:r>
            <a:r>
              <a:rPr lang="en-US" b="1" dirty="0"/>
              <a:t>distributing tasks across multiple workers</a:t>
            </a:r>
            <a:r>
              <a:rPr lang="en-US" dirty="0"/>
              <a:t>. </a:t>
            </a:r>
          </a:p>
          <a:p>
            <a:pPr lvl="3"/>
            <a:r>
              <a:rPr lang="en-US" dirty="0"/>
              <a:t>Note that the goal of the publish and subscribe pattern is to distribute information (all subscribers receive the same information)</a:t>
            </a:r>
          </a:p>
          <a:p>
            <a:pPr lvl="3"/>
            <a:r>
              <a:rPr lang="en-US" dirty="0"/>
              <a:t>On the other hand, for the pipeline pattern, the goal is to distribute work (different tasks)</a:t>
            </a:r>
          </a:p>
          <a:p>
            <a:pPr lvl="2"/>
            <a:r>
              <a:rPr lang="en-US" dirty="0"/>
              <a:t>It is used primarily for </a:t>
            </a:r>
            <a:r>
              <a:rPr lang="en-US" dirty="0">
                <a:solidFill>
                  <a:srgbClr val="0070C0"/>
                </a:solidFill>
              </a:rPr>
              <a:t>load balancing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parallel processing</a:t>
            </a:r>
            <a:r>
              <a:rPr lang="en-US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63541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3D9-DFA2-4711-91A9-9AFBF2C8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Transient Messaging (6/6)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C9446-5673-44F0-B30C-C2C5E965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Message Passing Interface (MPI)</a:t>
            </a:r>
          </a:p>
          <a:p>
            <a:pPr lvl="1"/>
            <a:r>
              <a:rPr lang="en-US" dirty="0"/>
              <a:t>Sockets alone provide only a </a:t>
            </a:r>
            <a:r>
              <a:rPr lang="en-US" dirty="0">
                <a:solidFill>
                  <a:srgbClr val="C00000"/>
                </a:solidFill>
              </a:rPr>
              <a:t>basic communication mechanism</a:t>
            </a:r>
            <a:r>
              <a:rPr lang="en-US" dirty="0"/>
              <a:t> for high-performance distributed systems. </a:t>
            </a:r>
          </a:p>
          <a:p>
            <a:pPr lvl="2"/>
            <a:r>
              <a:rPr lang="en-US" dirty="0"/>
              <a:t>Support only low-level, point-to-point send and receive operations.</a:t>
            </a:r>
          </a:p>
          <a:p>
            <a:pPr lvl="2"/>
            <a:r>
              <a:rPr lang="en-US" dirty="0"/>
              <a:t>Parallel applications often require higher-level communication support (</a:t>
            </a:r>
            <a:r>
              <a:rPr lang="en-US" b="1" dirty="0"/>
              <a:t>multi-to-multi communication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Efficient buffering</a:t>
            </a:r>
          </a:p>
          <a:p>
            <a:pPr lvl="3"/>
            <a:r>
              <a:rPr lang="en-US" dirty="0"/>
              <a:t>Synchronization among processes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MPI</a:t>
            </a:r>
            <a:r>
              <a:rPr lang="en-US" dirty="0"/>
              <a:t> is designed for parallel applications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MPI</a:t>
            </a:r>
            <a:r>
              <a:rPr lang="en-US" dirty="0"/>
              <a:t> assumes communication takes place within a known group of processes </a:t>
            </a:r>
          </a:p>
          <a:p>
            <a:pPr lvl="1"/>
            <a:r>
              <a:rPr lang="en-US" dirty="0"/>
              <a:t>Instead of transport-level addresses (</a:t>
            </a:r>
            <a:r>
              <a:rPr lang="en-US" i="1" dirty="0"/>
              <a:t>e.g.</a:t>
            </a:r>
            <a:r>
              <a:rPr lang="en-US" dirty="0"/>
              <a:t>, IP address for </a:t>
            </a:r>
            <a:r>
              <a:rPr lang="en-US" b="1" dirty="0"/>
              <a:t>point-to-point communication</a:t>
            </a:r>
            <a:r>
              <a:rPr lang="en-US" dirty="0"/>
              <a:t>), a unique identifier (</a:t>
            </a:r>
            <a:r>
              <a:rPr lang="en-US" dirty="0" err="1"/>
              <a:t>groupID</a:t>
            </a:r>
            <a:r>
              <a:rPr lang="en-US" dirty="0"/>
              <a:t>, </a:t>
            </a:r>
            <a:r>
              <a:rPr lang="en-US" dirty="0" err="1"/>
              <a:t>processID</a:t>
            </a:r>
            <a:r>
              <a:rPr lang="en-US" dirty="0"/>
              <a:t>) is used for communication (for easier implementation of synchronization and buffering)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38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CEA9-A529-3C20-BDCF-108A8A81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MPI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0FC2-C7DD-1480-6F2B-45192805F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Messaging operations of MPI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46B9E-489A-2FC5-B90F-C974B63D4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92" y="2514600"/>
            <a:ext cx="7958907" cy="341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77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B4FD-E29E-4C7C-89DC-435D2902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Message-Oriented Persistent Communication (1/6)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46EB-810A-4C90-AF6D-7BF756FBE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Message queuing </a:t>
            </a:r>
            <a:r>
              <a:rPr lang="en-US" sz="2400" dirty="0"/>
              <a:t>systems provide intermediate-term storage capacity for messages, without requiring either the sender or receiver to be active during message transmission	</a:t>
            </a:r>
          </a:p>
          <a:p>
            <a:r>
              <a:rPr lang="en-US" sz="2400" dirty="0"/>
              <a:t>Message-queuing model </a:t>
            </a:r>
          </a:p>
          <a:p>
            <a:pPr lvl="1"/>
            <a:endParaRPr lang="en-US" sz="2000" dirty="0"/>
          </a:p>
        </p:txBody>
      </p:sp>
      <p:pic>
        <p:nvPicPr>
          <p:cNvPr id="7" name="Picture 6" descr="Box and whisker chart&#10;&#10;Description automatically generated with medium confidence">
            <a:extLst>
              <a:ext uri="{FF2B5EF4-FFF2-40B4-BE49-F238E27FC236}">
                <a16:creationId xmlns:a16="http://schemas.microsoft.com/office/drawing/2014/main" id="{41ABE9DA-EE79-4369-A7EE-0A8C8C00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3429000"/>
            <a:ext cx="4191000" cy="30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64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B4FD-E29E-4C7C-89DC-435D2902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Message-Oriented Persistent Communication (2/6)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46EB-810A-4C90-AF6D-7BF756FBE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interface to a queue in a message-queuing system</a:t>
            </a:r>
          </a:p>
          <a:p>
            <a:pPr lvl="1"/>
            <a:endParaRPr lang="en-US" sz="2000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53D035CD-14FE-4B10-8275-D16FDB2FB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0800"/>
            <a:ext cx="9144000" cy="286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7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B4FD-E29E-4C7C-89DC-435D2902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Message-Oriented Persistent Communication (3/6)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55DF0-933D-488A-B511-9780BB393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8854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General </a:t>
            </a:r>
            <a:r>
              <a:rPr lang="en-US" sz="2000" dirty="0">
                <a:solidFill>
                  <a:srgbClr val="0070C0"/>
                </a:solidFill>
              </a:rPr>
              <a:t>architecture</a:t>
            </a:r>
            <a:r>
              <a:rPr lang="en-US" sz="2000" dirty="0"/>
              <a:t> of a message-queuing system</a:t>
            </a:r>
          </a:p>
          <a:p>
            <a:pPr lvl="1"/>
            <a:r>
              <a:rPr lang="en-US" sz="1800" dirty="0"/>
              <a:t>Queues are managed by </a:t>
            </a:r>
            <a:r>
              <a:rPr lang="en-US" sz="1800" dirty="0">
                <a:solidFill>
                  <a:srgbClr val="0070C0"/>
                </a:solidFill>
              </a:rPr>
              <a:t>queue managers </a:t>
            </a:r>
            <a:r>
              <a:rPr lang="en-US" sz="1800" dirty="0"/>
              <a:t>(usually a separate process)</a:t>
            </a:r>
            <a:endParaRPr lang="en-US" sz="1800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An application can put messages only into a </a:t>
            </a:r>
            <a:r>
              <a:rPr lang="en-US" sz="1800" dirty="0">
                <a:solidFill>
                  <a:srgbClr val="0070C0"/>
                </a:solidFill>
              </a:rPr>
              <a:t>local queue</a:t>
            </a:r>
          </a:p>
          <a:p>
            <a:pPr lvl="1"/>
            <a:r>
              <a:rPr lang="en-US" sz="1800" dirty="0"/>
              <a:t>Getting a message is possible by extracting it from a </a:t>
            </a:r>
            <a:r>
              <a:rPr lang="en-US" sz="1800" dirty="0">
                <a:solidFill>
                  <a:srgbClr val="0070C0"/>
                </a:solidFill>
              </a:rPr>
              <a:t>local queue </a:t>
            </a:r>
            <a:r>
              <a:rPr lang="en-US" sz="1800" dirty="0"/>
              <a:t>only</a:t>
            </a:r>
          </a:p>
          <a:p>
            <a:r>
              <a:rPr lang="en-US" sz="2000" dirty="0">
                <a:solidFill>
                  <a:srgbClr val="C00000"/>
                </a:solidFill>
              </a:rPr>
              <a:t>Issues</a:t>
            </a:r>
          </a:p>
          <a:p>
            <a:pPr lvl="1"/>
            <a:r>
              <a:rPr lang="en-US" sz="1800" dirty="0"/>
              <a:t>Since messages are put into only local queues, the message should carry information concerning the destination; How the destination queue is addressed?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Contact address </a:t>
            </a:r>
            <a:r>
              <a:rPr lang="en-US" sz="1600" dirty="0"/>
              <a:t>such as (host name, port) of destination queue manager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Name-to-address mapping </a:t>
            </a:r>
            <a:r>
              <a:rPr lang="en-US" sz="1600" dirty="0"/>
              <a:t>is available locally</a:t>
            </a:r>
          </a:p>
          <a:p>
            <a:pPr lvl="1"/>
            <a:endParaRPr lang="en-US" sz="1800" dirty="0"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139434B-FECE-4630-97D1-A1283083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497085"/>
            <a:ext cx="4876800" cy="23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15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90E2-7007-43C1-8113-264AD4E8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Message-Oriented Persistent Communication (4/6)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CBB8-4E2F-4106-B807-DDFDD0322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Issues</a:t>
            </a:r>
            <a:r>
              <a:rPr lang="en-US" dirty="0"/>
              <a:t> cont.</a:t>
            </a:r>
          </a:p>
          <a:p>
            <a:pPr lvl="1"/>
            <a:r>
              <a:rPr lang="en-US" dirty="0"/>
              <a:t>How is the name-to-address mapping actually made available to a queue manager?</a:t>
            </a:r>
          </a:p>
          <a:p>
            <a:pPr lvl="2"/>
            <a:r>
              <a:rPr lang="en-US" dirty="0"/>
              <a:t>Implement the mapping as a lookup table and copy that table to all managers (more details in Chapter 5)</a:t>
            </a:r>
          </a:p>
          <a:p>
            <a:pPr lvl="3"/>
            <a:r>
              <a:rPr lang="en-US" dirty="0"/>
              <a:t>Leads to a </a:t>
            </a:r>
            <a:r>
              <a:rPr lang="en-US" dirty="0">
                <a:solidFill>
                  <a:srgbClr val="C00000"/>
                </a:solidFill>
              </a:rPr>
              <a:t>maintenance problem </a:t>
            </a:r>
            <a:r>
              <a:rPr lang="en-US" dirty="0"/>
              <a:t>(</a:t>
            </a:r>
            <a:r>
              <a:rPr lang="en-US" i="1" dirty="0"/>
              <a:t>i.e., </a:t>
            </a:r>
            <a:r>
              <a:rPr lang="en-US" dirty="0"/>
              <a:t>updating all tables when a change is made)</a:t>
            </a:r>
          </a:p>
          <a:p>
            <a:pPr lvl="1"/>
            <a:r>
              <a:rPr lang="en-US" dirty="0"/>
              <a:t>How to efficiently maintain name-to-address mappings?</a:t>
            </a:r>
          </a:p>
          <a:p>
            <a:pPr lvl="2"/>
            <a:r>
              <a:rPr lang="en-US" dirty="0"/>
              <a:t>Each queue manager needs to know the address of every other queue manager? </a:t>
            </a:r>
          </a:p>
          <a:p>
            <a:pPr lvl="3"/>
            <a:r>
              <a:rPr lang="en-US" dirty="0">
                <a:solidFill>
                  <a:srgbClr val="C00000"/>
                </a:solidFill>
              </a:rPr>
              <a:t>Scalability issue</a:t>
            </a:r>
          </a:p>
          <a:p>
            <a:pPr lvl="2"/>
            <a:r>
              <a:rPr lang="en-US" dirty="0"/>
              <a:t>There is often a </a:t>
            </a:r>
            <a:r>
              <a:rPr lang="en-US" dirty="0">
                <a:solidFill>
                  <a:srgbClr val="0070C0"/>
                </a:solidFill>
              </a:rPr>
              <a:t>special queue manager </a:t>
            </a:r>
            <a:r>
              <a:rPr lang="en-US" dirty="0"/>
              <a:t>that operates as </a:t>
            </a:r>
            <a:r>
              <a:rPr lang="en-US" dirty="0">
                <a:solidFill>
                  <a:srgbClr val="0070C0"/>
                </a:solidFill>
              </a:rPr>
              <a:t>routers</a:t>
            </a:r>
            <a:r>
              <a:rPr lang="en-US" dirty="0"/>
              <a:t> that forward messages to other queue mangers</a:t>
            </a:r>
          </a:p>
        </p:txBody>
      </p:sp>
    </p:spTree>
    <p:extLst>
      <p:ext uri="{BB962C8B-B14F-4D97-AF65-F5344CB8AC3E}">
        <p14:creationId xmlns:p14="http://schemas.microsoft.com/office/powerpoint/2010/main" val="3571408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90E2-7007-43C1-8113-264AD4E8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Message-Oriented Persistent Communication (5/6)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CBB8-4E2F-4106-B807-DDFDD032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More issues</a:t>
            </a:r>
          </a:p>
          <a:p>
            <a:pPr lvl="1"/>
            <a:r>
              <a:rPr lang="en-US" dirty="0"/>
              <a:t>How to integrate </a:t>
            </a:r>
            <a:r>
              <a:rPr lang="en-US" dirty="0">
                <a:solidFill>
                  <a:srgbClr val="0070C0"/>
                </a:solidFill>
              </a:rPr>
              <a:t>new applications</a:t>
            </a:r>
            <a:r>
              <a:rPr lang="en-US" dirty="0"/>
              <a:t>, </a:t>
            </a:r>
            <a:r>
              <a:rPr lang="en-US" i="1" dirty="0"/>
              <a:t>i.e., </a:t>
            </a:r>
            <a:r>
              <a:rPr lang="en-US" dirty="0"/>
              <a:t>how to make them understand messages they receive from different applications?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message broker </a:t>
            </a:r>
            <a:r>
              <a:rPr lang="en-US" dirty="0"/>
              <a:t>acts as an application-level gateway in a message-queuing system </a:t>
            </a:r>
          </a:p>
          <a:p>
            <a:pPr lvl="1"/>
            <a:r>
              <a:rPr lang="en-US" dirty="0"/>
              <a:t>Its main purpose is to convert incoming messages so that they can be understood by the destination application </a:t>
            </a:r>
          </a:p>
        </p:txBody>
      </p:sp>
    </p:spTree>
    <p:extLst>
      <p:ext uri="{BB962C8B-B14F-4D97-AF65-F5344CB8AC3E}">
        <p14:creationId xmlns:p14="http://schemas.microsoft.com/office/powerpoint/2010/main" val="242012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90E2-7007-43C1-8113-264AD4E8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Message-Oriented Persistent Communication (6/6)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CBB8-4E2F-4106-B807-DDFDD0322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48" y="1417638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Message brokers </a:t>
            </a:r>
            <a:r>
              <a:rPr lang="en-US" sz="2400" dirty="0"/>
              <a:t>cont.</a:t>
            </a:r>
          </a:p>
          <a:p>
            <a:pPr lvl="1"/>
            <a:r>
              <a:rPr lang="en-US" sz="2000" dirty="0"/>
              <a:t>Maintaining a </a:t>
            </a:r>
            <a:r>
              <a:rPr lang="en-US" sz="2000" dirty="0">
                <a:solidFill>
                  <a:srgbClr val="0070C0"/>
                </a:solidFill>
              </a:rPr>
              <a:t>repository of rules</a:t>
            </a:r>
            <a:r>
              <a:rPr lang="en-US" sz="2000" dirty="0"/>
              <a:t> for transforming messages of one type to another is the key function of a message broker</a:t>
            </a:r>
          </a:p>
          <a:p>
            <a:pPr lvl="1"/>
            <a:r>
              <a:rPr lang="en-US" sz="2000" dirty="0"/>
              <a:t>Each </a:t>
            </a:r>
            <a:r>
              <a:rPr lang="en-US" sz="2000" dirty="0">
                <a:solidFill>
                  <a:srgbClr val="0070C0"/>
                </a:solidFill>
              </a:rPr>
              <a:t>plugin</a:t>
            </a:r>
            <a:r>
              <a:rPr lang="en-US" sz="2000" dirty="0"/>
              <a:t> of the message broker performs conversion between two specific applications -&gt; allows transmission of a message from App A to many different Apps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1B6181C-EDD0-4092-82DB-522588B1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54038"/>
            <a:ext cx="7404652" cy="299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69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Multicast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976A9-1C23-4125-B7D3-EE0FAF2585A2}"/>
              </a:ext>
            </a:extLst>
          </p:cNvPr>
          <p:cNvSpPr txBox="1"/>
          <p:nvPr/>
        </p:nvSpPr>
        <p:spPr>
          <a:xfrm>
            <a:off x="13684" y="4000500"/>
            <a:ext cx="9116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“An important topic in communication in distributed systems is the support for sending data to </a:t>
            </a:r>
          </a:p>
          <a:p>
            <a:pPr algn="ctr"/>
            <a:r>
              <a:rPr lang="en-US" dirty="0"/>
              <a:t>multiple receivers.”</a:t>
            </a:r>
          </a:p>
        </p:txBody>
      </p:sp>
    </p:spTree>
    <p:extLst>
      <p:ext uri="{BB962C8B-B14F-4D97-AF65-F5344CB8AC3E}">
        <p14:creationId xmlns:p14="http://schemas.microsoft.com/office/powerpoint/2010/main" val="164133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52288" y="303591"/>
            <a:ext cx="4301692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0631F-F401-4BF1-A72B-7F701E2D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640263"/>
            <a:ext cx="3929634" cy="1344975"/>
          </a:xfrm>
        </p:spPr>
        <p:txBody>
          <a:bodyPr>
            <a:normAutofit/>
          </a:bodyPr>
          <a:lstStyle/>
          <a:p>
            <a:r>
              <a:rPr lang="en-US" sz="3500"/>
              <a:t>Tree-based Multicasting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486A8-E190-49E1-B947-6C36B2E74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207" y="2121763"/>
            <a:ext cx="3926618" cy="37730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Nodes organize into an overlay network, which is used to disseminate information to its members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 crucial issue is the construction of the overlay network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Nodes organize into a tree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Nodes organize into a mesh network</a:t>
            </a:r>
          </a:p>
          <a:p>
            <a:pPr lvl="2">
              <a:lnSpc>
                <a:spcPct val="90000"/>
              </a:lnSpc>
            </a:pPr>
            <a:r>
              <a:rPr lang="en-US" sz="1600" b="0" i="0" dirty="0">
                <a:effectLst/>
                <a:latin typeface="urw-din"/>
              </a:rPr>
              <a:t>Mesh topology is a type of network topology in which each node is connected to as many other nodes as possible fully through dedicated link in the network.</a:t>
            </a:r>
            <a:endParaRPr lang="en-US" sz="1600" dirty="0"/>
          </a:p>
          <a:p>
            <a:pPr lvl="2">
              <a:lnSpc>
                <a:spcPct val="90000"/>
              </a:lnSpc>
            </a:pPr>
            <a:r>
              <a:rPr lang="en-US" sz="1600" dirty="0"/>
              <a:t>Provides higher robustness</a:t>
            </a:r>
          </a:p>
        </p:txBody>
      </p:sp>
      <p:pic>
        <p:nvPicPr>
          <p:cNvPr id="1026" name="Picture 2" descr="An overview of basic types of network topologies, including the (A)... |  Download Scientific Diagram">
            <a:extLst>
              <a:ext uri="{FF2B5EF4-FFF2-40B4-BE49-F238E27FC236}">
                <a16:creationId xmlns:a16="http://schemas.microsoft.com/office/drawing/2014/main" id="{77C83B6B-389A-B88E-35BF-60020E992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35474" y="977788"/>
            <a:ext cx="3845052" cy="474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761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5DC8-1A40-4F1A-9CBD-DC0C1F7B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Multicasting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41ABF-FF4F-4E2A-93F1-73D3DFFEC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Performance</a:t>
            </a:r>
            <a:r>
              <a:rPr lang="en-US" dirty="0"/>
              <a:t> issues</a:t>
            </a:r>
          </a:p>
          <a:p>
            <a:pPr lvl="1"/>
            <a:r>
              <a:rPr lang="en-US" dirty="0"/>
              <a:t>Building an efficient tree is a challenging problem.</a:t>
            </a:r>
          </a:p>
          <a:p>
            <a:pPr lvl="1"/>
            <a:r>
              <a:rPr lang="en-US" dirty="0"/>
              <a:t>The quality of a multicast tree is measured by three different metrics </a:t>
            </a:r>
          </a:p>
          <a:p>
            <a:pPr lvl="2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link stress </a:t>
            </a:r>
            <a:r>
              <a:rPr lang="en-US" dirty="0"/>
              <a:t>defines how often a packet crosses the same link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Stretch</a:t>
            </a:r>
            <a:r>
              <a:rPr lang="en-US" dirty="0"/>
              <a:t> is the ratio between the delay experienced by two nodes when communicating through the overlay network and the minimum possible delay between those same two nodes.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Tree cost </a:t>
            </a:r>
            <a:r>
              <a:rPr lang="en-US" dirty="0"/>
              <a:t>is the sum of the costs of all links used in the dissemination tree. </a:t>
            </a:r>
          </a:p>
        </p:txBody>
      </p:sp>
    </p:spTree>
    <p:extLst>
      <p:ext uri="{BB962C8B-B14F-4D97-AF65-F5344CB8AC3E}">
        <p14:creationId xmlns:p14="http://schemas.microsoft.com/office/powerpoint/2010/main" val="37421963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2D4DC9-ED38-41F8-B14C-8919CA9B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8180916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1F985C-3394-A724-01A8-A0FC2117C4A9}"/>
              </a:ext>
            </a:extLst>
          </p:cNvPr>
          <p:cNvSpPr txBox="1"/>
          <p:nvPr/>
        </p:nvSpPr>
        <p:spPr>
          <a:xfrm>
            <a:off x="304800" y="304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Links with link stress &gt; 1 </a:t>
            </a:r>
          </a:p>
        </p:txBody>
      </p:sp>
    </p:spTree>
    <p:extLst>
      <p:ext uri="{BB962C8B-B14F-4D97-AF65-F5344CB8AC3E}">
        <p14:creationId xmlns:p14="http://schemas.microsoft.com/office/powerpoint/2010/main" val="628716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F2410E-2C52-4AAA-878F-A3C52C5C2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7" y="762000"/>
            <a:ext cx="7840045" cy="4381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9E4F0A-4E81-4D2C-A588-0BEA4607684D}"/>
              </a:ext>
            </a:extLst>
          </p:cNvPr>
          <p:cNvSpPr txBox="1"/>
          <p:nvPr/>
        </p:nvSpPr>
        <p:spPr>
          <a:xfrm>
            <a:off x="2514600" y="5334000"/>
            <a:ext cx="390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Stretch between B and C = 73/47 = 1.55</a:t>
            </a:r>
          </a:p>
        </p:txBody>
      </p:sp>
    </p:spTree>
    <p:extLst>
      <p:ext uri="{BB962C8B-B14F-4D97-AF65-F5344CB8AC3E}">
        <p14:creationId xmlns:p14="http://schemas.microsoft.com/office/powerpoint/2010/main" val="2089865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ECEF-1175-4AF7-93CA-E5502EA9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Flooding-based Multicasting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03403-6D4E-423E-99D5-DE9377821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84" y="1828800"/>
            <a:ext cx="82296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key design issue for multicasting is to minimize the </a:t>
            </a:r>
            <a:r>
              <a:rPr lang="en-US" dirty="0">
                <a:solidFill>
                  <a:srgbClr val="0070C0"/>
                </a:solidFill>
              </a:rPr>
              <a:t>use of intermediate nodes </a:t>
            </a:r>
            <a:r>
              <a:rPr lang="en-US" dirty="0"/>
              <a:t>for which the message is not intended </a:t>
            </a:r>
          </a:p>
          <a:p>
            <a:r>
              <a:rPr lang="en-US" dirty="0"/>
              <a:t>To avoid this inefficiency, we can construct an overlay network </a:t>
            </a:r>
            <a:r>
              <a:rPr lang="en-US" i="1" dirty="0">
                <a:solidFill>
                  <a:srgbClr val="0070C0"/>
                </a:solidFill>
              </a:rPr>
              <a:t>per multicast group </a:t>
            </a:r>
            <a:r>
              <a:rPr lang="en-US" dirty="0"/>
              <a:t>and broadcast message over the network (</a:t>
            </a:r>
            <a:r>
              <a:rPr lang="en-US" i="1" dirty="0"/>
              <a:t>i.e., </a:t>
            </a:r>
            <a:r>
              <a:rPr lang="en-US" dirty="0">
                <a:solidFill>
                  <a:srgbClr val="0070C0"/>
                </a:solidFill>
              </a:rPr>
              <a:t>flooding</a:t>
            </a:r>
            <a:r>
              <a:rPr lang="en-US" dirty="0"/>
              <a:t>)</a:t>
            </a:r>
          </a:p>
          <a:p>
            <a:pPr lvl="1"/>
            <a:r>
              <a:rPr lang="en-US" sz="3200" dirty="0"/>
              <a:t>A </a:t>
            </a:r>
            <a:r>
              <a:rPr lang="en-US" sz="3200" dirty="0">
                <a:solidFill>
                  <a:srgbClr val="0070C0"/>
                </a:solidFill>
              </a:rPr>
              <a:t>multicast group </a:t>
            </a:r>
            <a:r>
              <a:rPr lang="en-US" sz="3200" dirty="0"/>
              <a:t>is a set of receivers interested in receiving a particular set of data traffic.</a:t>
            </a:r>
          </a:p>
        </p:txBody>
      </p:sp>
    </p:spTree>
    <p:extLst>
      <p:ext uri="{BB962C8B-B14F-4D97-AF65-F5344CB8AC3E}">
        <p14:creationId xmlns:p14="http://schemas.microsoft.com/office/powerpoint/2010/main" val="15259481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3773-15B3-AC6E-E347-8B8E8145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Flooding-based Multicasting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479AB-1C5D-CD84-9621-C085916F5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reduce the number of messages, we can also use </a:t>
            </a:r>
            <a:r>
              <a:rPr lang="en-US" dirty="0">
                <a:solidFill>
                  <a:srgbClr val="0070C0"/>
                </a:solidFill>
              </a:rPr>
              <a:t>probabilistic flooding </a:t>
            </a:r>
          </a:p>
          <a:p>
            <a:pPr lvl="1"/>
            <a:r>
              <a:rPr lang="en-US" dirty="0"/>
              <a:t>Regular flooding can lead to multiple reception of the same message.</a:t>
            </a:r>
          </a:p>
          <a:p>
            <a:pPr lvl="1"/>
            <a:r>
              <a:rPr lang="en-US" dirty="0"/>
              <a:t>A node forwards a message with a certain probability </a:t>
            </a:r>
          </a:p>
          <a:p>
            <a:pPr lvl="1"/>
            <a:r>
              <a:rPr lang="en-US" dirty="0"/>
              <a:t>Probabilistic flooding is particularly useful in scenarios where network resources are limited, such as in sensor networks or mobile ad hoc networks (MANETs)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522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29EF-7CBB-4146-8045-2922FFF7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Gossip-based Data Dissemination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61D9-18A3-4E46-828B-6203C871D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main goal is to </a:t>
            </a:r>
            <a:r>
              <a:rPr lang="en-US" dirty="0">
                <a:solidFill>
                  <a:srgbClr val="0070C0"/>
                </a:solidFill>
              </a:rPr>
              <a:t>rapidly</a:t>
            </a:r>
            <a:r>
              <a:rPr lang="en-US" dirty="0"/>
              <a:t> disseminate information among a large number of nodes using only </a:t>
            </a:r>
            <a:r>
              <a:rPr lang="en-US" dirty="0">
                <a:solidFill>
                  <a:srgbClr val="0070C0"/>
                </a:solidFill>
              </a:rPr>
              <a:t>local information </a:t>
            </a:r>
            <a:r>
              <a:rPr lang="en-US" dirty="0"/>
              <a:t>(i.e., no central component which coordinates dissemination)</a:t>
            </a:r>
          </a:p>
          <a:p>
            <a:r>
              <a:rPr lang="en-US" dirty="0"/>
              <a:t>Three approaches for exchanging updates</a:t>
            </a:r>
          </a:p>
          <a:p>
            <a:pPr lvl="1"/>
            <a:r>
              <a:rPr lang="en-US" dirty="0"/>
              <a:t>P only pushes its own updates to randomly selected Q (</a:t>
            </a:r>
            <a:r>
              <a:rPr lang="en-US" dirty="0">
                <a:solidFill>
                  <a:srgbClr val="0070C0"/>
                </a:solidFill>
              </a:rPr>
              <a:t>push-based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Not a good choice for rapidly spreading updates since only “infected” nodes propagate updates</a:t>
            </a:r>
          </a:p>
          <a:p>
            <a:pPr lvl="2"/>
            <a:r>
              <a:rPr lang="en-US" dirty="0"/>
              <a:t>Some nodes will remain “not infected” for a long time since it is not selected by an infected node.</a:t>
            </a:r>
          </a:p>
          <a:p>
            <a:pPr lvl="1"/>
            <a:r>
              <a:rPr lang="en-US" dirty="0"/>
              <a:t>P only pulls in new updates from Q (</a:t>
            </a:r>
            <a:r>
              <a:rPr lang="en-US" dirty="0">
                <a:solidFill>
                  <a:srgbClr val="0070C0"/>
                </a:solidFill>
              </a:rPr>
              <a:t>pull-based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Chances of getting infected is higher because nodes continually seek out new information until they receive it.</a:t>
            </a:r>
          </a:p>
          <a:p>
            <a:pPr lvl="2"/>
            <a:r>
              <a:rPr lang="en-US" dirty="0"/>
              <a:t>Propagates data more slowly since a node only receives new data when it actively requests it from others.</a:t>
            </a:r>
          </a:p>
          <a:p>
            <a:pPr lvl="1"/>
            <a:r>
              <a:rPr lang="en-US" dirty="0"/>
              <a:t>P and Q send updates to each other (</a:t>
            </a:r>
            <a:r>
              <a:rPr lang="en-US" dirty="0">
                <a:solidFill>
                  <a:srgbClr val="0070C0"/>
                </a:solidFill>
              </a:rPr>
              <a:t>push and pull-based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best strategy</a:t>
            </a:r>
          </a:p>
        </p:txBody>
      </p:sp>
    </p:spTree>
    <p:extLst>
      <p:ext uri="{BB962C8B-B14F-4D97-AF65-F5344CB8AC3E}">
        <p14:creationId xmlns:p14="http://schemas.microsoft.com/office/powerpoint/2010/main" val="534246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0B5E-A279-4B22-B0C9-47F31C7E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Gossip-based Data Dissemination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B3A5-A6CD-4532-8AB9-D17917F4D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Rumor spreading</a:t>
            </a:r>
          </a:p>
          <a:p>
            <a:pPr lvl="1"/>
            <a:r>
              <a:rPr lang="en-US" dirty="0"/>
              <a:t>A variant of gossip-based protocols</a:t>
            </a:r>
          </a:p>
          <a:p>
            <a:pPr lvl="1"/>
            <a:r>
              <a:rPr lang="en-US" dirty="0"/>
              <a:t>If P has been just updated, it contacts an arbitrary node Q and tries to push the update to Q</a:t>
            </a:r>
          </a:p>
          <a:p>
            <a:pPr lvl="1"/>
            <a:r>
              <a:rPr lang="en-US" dirty="0"/>
              <a:t>It is possible that Q has been already updated</a:t>
            </a:r>
          </a:p>
          <a:p>
            <a:pPr lvl="1"/>
            <a:r>
              <a:rPr lang="en-US" dirty="0"/>
              <a:t>In that case, P stops spreading update with probability p (it lost interests in spreading update)</a:t>
            </a:r>
          </a:p>
          <a:p>
            <a:pPr lvl="2"/>
            <a:r>
              <a:rPr lang="en-US" dirty="0"/>
              <a:t>Avoid collision and reduce network congestion</a:t>
            </a:r>
          </a:p>
          <a:p>
            <a:pPr lvl="1"/>
            <a:r>
              <a:rPr lang="en-US" dirty="0"/>
              <a:t>But it is </a:t>
            </a:r>
            <a:r>
              <a:rPr lang="en-US" dirty="0">
                <a:solidFill>
                  <a:srgbClr val="C00000"/>
                </a:solidFill>
              </a:rPr>
              <a:t>not guaranteed </a:t>
            </a:r>
            <a:r>
              <a:rPr lang="en-US" dirty="0"/>
              <a:t>that all nodes will be updated</a:t>
            </a:r>
          </a:p>
        </p:txBody>
      </p:sp>
    </p:spTree>
    <p:extLst>
      <p:ext uri="{BB962C8B-B14F-4D97-AF65-F5344CB8AC3E}">
        <p14:creationId xmlns:p14="http://schemas.microsoft.com/office/powerpoint/2010/main" val="182526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03AE-5C2A-4E5E-BDEC-DD85EC3B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Gossip-based Data Dissemination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3C80-DFB6-42C8-B104-BB752D3F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Directional gossiping</a:t>
            </a:r>
          </a:p>
          <a:p>
            <a:pPr lvl="1"/>
            <a:r>
              <a:rPr lang="en-US" dirty="0"/>
              <a:t>Nodes that are connected to only a few other nodes are contacted with a relatively higher probability </a:t>
            </a:r>
          </a:p>
          <a:p>
            <a:pPr lvl="2"/>
            <a:r>
              <a:rPr lang="en-US" dirty="0"/>
              <a:t>Those nodes are likely to be the one that forms a bridge to another network.</a:t>
            </a:r>
          </a:p>
          <a:p>
            <a:r>
              <a:rPr lang="en-US" dirty="0">
                <a:solidFill>
                  <a:srgbClr val="0070C0"/>
                </a:solidFill>
              </a:rPr>
              <a:t>Removing data</a:t>
            </a:r>
          </a:p>
          <a:p>
            <a:pPr lvl="1"/>
            <a:r>
              <a:rPr lang="en-US" dirty="0"/>
              <a:t>Epidemic (i.e., gossip-based) algorithms are extremely good for spreading updates</a:t>
            </a:r>
          </a:p>
          <a:p>
            <a:pPr lvl="1"/>
            <a:r>
              <a:rPr lang="en-US" dirty="0"/>
              <a:t>However, </a:t>
            </a:r>
            <a:r>
              <a:rPr lang="en-US" dirty="0">
                <a:solidFill>
                  <a:srgbClr val="C00000"/>
                </a:solidFill>
              </a:rPr>
              <a:t>spreading the deletion of a data item </a:t>
            </a:r>
            <a:r>
              <a:rPr lang="en-US" dirty="0"/>
              <a:t>is hard because when a data item is removed from a node, that node may eventually receive an </a:t>
            </a:r>
            <a:r>
              <a:rPr lang="en-US" dirty="0">
                <a:solidFill>
                  <a:srgbClr val="C00000"/>
                </a:solidFill>
              </a:rPr>
              <a:t>old copy </a:t>
            </a:r>
            <a:r>
              <a:rPr lang="en-US" dirty="0"/>
              <a:t>of the data and </a:t>
            </a:r>
            <a:r>
              <a:rPr lang="en-US" dirty="0">
                <a:solidFill>
                  <a:srgbClr val="C00000"/>
                </a:solidFill>
              </a:rPr>
              <a:t>interpret that as an update</a:t>
            </a:r>
            <a:endParaRPr lang="en-US" dirty="0"/>
          </a:p>
          <a:p>
            <a:pPr lvl="1"/>
            <a:r>
              <a:rPr lang="en-US" dirty="0"/>
              <a:t>A solution is to record the deletion of data item and keep a record of that deletion</a:t>
            </a:r>
          </a:p>
          <a:p>
            <a:pPr lvl="2"/>
            <a:r>
              <a:rPr lang="en-US" dirty="0"/>
              <a:t>This way, </a:t>
            </a:r>
            <a:r>
              <a:rPr lang="en-US" dirty="0">
                <a:solidFill>
                  <a:srgbClr val="0070C0"/>
                </a:solidFill>
              </a:rPr>
              <a:t>old copies will not be interpreted as an update</a:t>
            </a:r>
          </a:p>
        </p:txBody>
      </p:sp>
    </p:spTree>
    <p:extLst>
      <p:ext uri="{BB962C8B-B14F-4D97-AF65-F5344CB8AC3E}">
        <p14:creationId xmlns:p14="http://schemas.microsoft.com/office/powerpoint/2010/main" val="25223120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8534-24A7-97E6-ECC9-6B4C0580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Question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B761F-9B35-112C-603D-2B7278A6C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paragraph comparing push-based and pull-based gossip algorithms. Discuss the advantages and disadvantages of each method.</a:t>
            </a:r>
          </a:p>
        </p:txBody>
      </p:sp>
    </p:spTree>
    <p:extLst>
      <p:ext uri="{BB962C8B-B14F-4D97-AF65-F5344CB8AC3E}">
        <p14:creationId xmlns:p14="http://schemas.microsoft.com/office/powerpoint/2010/main" val="17070347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DB6B-7233-58D8-7607-C606D69A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Question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32140-B2E6-662E-4C5C-7CB9100FA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Consider a network with nodes and edges as follows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Nodes: A, B, C, D, E, 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Edges with Weights:</a:t>
            </a:r>
          </a:p>
          <a:p>
            <a:pPr lvl="2"/>
            <a:r>
              <a:rPr lang="en-US" dirty="0"/>
              <a:t>A-B: 4</a:t>
            </a:r>
          </a:p>
          <a:p>
            <a:pPr lvl="2"/>
            <a:r>
              <a:rPr lang="en-US" dirty="0"/>
              <a:t>A-D: 1</a:t>
            </a:r>
          </a:p>
          <a:p>
            <a:pPr lvl="2"/>
            <a:r>
              <a:rPr lang="en-US" dirty="0"/>
              <a:t>B-C: 1</a:t>
            </a:r>
          </a:p>
          <a:p>
            <a:pPr lvl="2"/>
            <a:r>
              <a:rPr lang="en-US" dirty="0"/>
              <a:t>B-E: 5</a:t>
            </a:r>
          </a:p>
          <a:p>
            <a:pPr lvl="2"/>
            <a:r>
              <a:rPr lang="en-US" dirty="0"/>
              <a:t>C-E: 1</a:t>
            </a:r>
          </a:p>
          <a:p>
            <a:pPr lvl="2"/>
            <a:r>
              <a:rPr lang="en-US" dirty="0"/>
              <a:t>D-C: 2</a:t>
            </a:r>
          </a:p>
          <a:p>
            <a:pPr lvl="2"/>
            <a:r>
              <a:rPr lang="en-US" dirty="0"/>
              <a:t>D-E: 8</a:t>
            </a:r>
          </a:p>
          <a:p>
            <a:pPr lvl="2"/>
            <a:r>
              <a:rPr lang="en-US" dirty="0"/>
              <a:t>E-F: 1</a:t>
            </a:r>
          </a:p>
          <a:p>
            <a:r>
              <a:rPr lang="en-US" dirty="0"/>
              <a:t>Draw this network.</a:t>
            </a:r>
          </a:p>
          <a:p>
            <a:r>
              <a:rPr lang="en-US" dirty="0"/>
              <a:t>The shortest path from A to F is A → D → C → E → F. Calculate the path stretch for this path: A → D → E → F.</a:t>
            </a:r>
          </a:p>
        </p:txBody>
      </p:sp>
    </p:spTree>
    <p:extLst>
      <p:ext uri="{BB962C8B-B14F-4D97-AF65-F5344CB8AC3E}">
        <p14:creationId xmlns:p14="http://schemas.microsoft.com/office/powerpoint/2010/main" val="1300752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4460-F7A1-2CC7-ACE8-E24AEEA0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Question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2BDDE-B314-21EA-0CA4-110338A2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</a:t>
            </a:r>
            <a:r>
              <a:rPr lang="en-US"/>
              <a:t>a paragraph on </a:t>
            </a:r>
            <a:r>
              <a:rPr lang="en-US" dirty="0"/>
              <a:t>the limitations and advantages of flooding in large-scale networks.</a:t>
            </a:r>
          </a:p>
        </p:txBody>
      </p:sp>
    </p:spTree>
    <p:extLst>
      <p:ext uri="{BB962C8B-B14F-4D97-AF65-F5344CB8AC3E}">
        <p14:creationId xmlns:p14="http://schemas.microsoft.com/office/powerpoint/2010/main" val="3563012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3864</TotalTime>
  <Words>3359</Words>
  <Application>Microsoft Macintosh PowerPoint</Application>
  <PresentationFormat>On-screen Show (4:3)</PresentationFormat>
  <Paragraphs>333</Paragraphs>
  <Slides>55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urw-din</vt:lpstr>
      <vt:lpstr>Arial</vt:lpstr>
      <vt:lpstr>Calibri</vt:lpstr>
      <vt:lpstr>Roboto</vt:lpstr>
      <vt:lpstr>Office Theme</vt:lpstr>
      <vt:lpstr>COMP 7212: Operating/Distributed Systems Chapter 4: Communication</vt:lpstr>
      <vt:lpstr>Outline</vt:lpstr>
      <vt:lpstr>Foundations</vt:lpstr>
      <vt:lpstr>Layered Protocols (1/3)</vt:lpstr>
      <vt:lpstr>Layered Protocols (2/3)</vt:lpstr>
      <vt:lpstr>PowerPoint Presentation</vt:lpstr>
      <vt:lpstr>PowerPoint Presentation</vt:lpstr>
      <vt:lpstr>Layered Protocols (3/3)</vt:lpstr>
      <vt:lpstr>Types of Communication (1/2)</vt:lpstr>
      <vt:lpstr>Types of Communication (2/2)</vt:lpstr>
      <vt:lpstr>Remote Procedure Call</vt:lpstr>
      <vt:lpstr>Basic RPC Operation (1/3)</vt:lpstr>
      <vt:lpstr>Basic RPC Operation (2/3)</vt:lpstr>
      <vt:lpstr>Basic RPC Operation (3/3)</vt:lpstr>
      <vt:lpstr>Parameter Passing (1/2)</vt:lpstr>
      <vt:lpstr>PowerPoint Presentation</vt:lpstr>
      <vt:lpstr>Parameter Passing (2/2)</vt:lpstr>
      <vt:lpstr>RPC-based Application Support (1/2)</vt:lpstr>
      <vt:lpstr>RPC-based Application Support (2/2)</vt:lpstr>
      <vt:lpstr>Variants of RPC (1/4)</vt:lpstr>
      <vt:lpstr>Variants of RPC (2/4)</vt:lpstr>
      <vt:lpstr>Variants of RPC (3/4)</vt:lpstr>
      <vt:lpstr>Variants of RPC (4/4)</vt:lpstr>
      <vt:lpstr>Message-Oriented Communication</vt:lpstr>
      <vt:lpstr>Limitations of RPC</vt:lpstr>
      <vt:lpstr>Simple Transient Messaging with Sockets (1/2)</vt:lpstr>
      <vt:lpstr>Simple Transient Messaging with Sockets (2/2)</vt:lpstr>
      <vt:lpstr>Advanced Transient Messaging (1/6)</vt:lpstr>
      <vt:lpstr>Advanced Transient Messaging (2/6)</vt:lpstr>
      <vt:lpstr>Advanced Transient Messaging (3/6)</vt:lpstr>
      <vt:lpstr>Example Python Server Code</vt:lpstr>
      <vt:lpstr>Advanced Transient Messaging (4/6)</vt:lpstr>
      <vt:lpstr>Example Python Code</vt:lpstr>
      <vt:lpstr>Advanced Transient Messaging (5/6)</vt:lpstr>
      <vt:lpstr>Advanced Transient Messaging (6/6)</vt:lpstr>
      <vt:lpstr>More about MPI</vt:lpstr>
      <vt:lpstr>Message-Oriented Persistent Communication (1/6)</vt:lpstr>
      <vt:lpstr>Message-Oriented Persistent Communication (2/6)</vt:lpstr>
      <vt:lpstr>Message-Oriented Persistent Communication (3/6)</vt:lpstr>
      <vt:lpstr>Message-Oriented Persistent Communication (4/6)</vt:lpstr>
      <vt:lpstr>Message-Oriented Persistent Communication (5/6)</vt:lpstr>
      <vt:lpstr>Message-Oriented Persistent Communication (6/6)</vt:lpstr>
      <vt:lpstr>Multicast Communication</vt:lpstr>
      <vt:lpstr>Tree-based Multicasting (1/2)</vt:lpstr>
      <vt:lpstr>Tree-based Multicasting (2/2)</vt:lpstr>
      <vt:lpstr>PowerPoint Presentation</vt:lpstr>
      <vt:lpstr>PowerPoint Presentation</vt:lpstr>
      <vt:lpstr>Flooding-based Multicasting (1/2)</vt:lpstr>
      <vt:lpstr>Flooding-based Multicasting (2/2)</vt:lpstr>
      <vt:lpstr>Gossip-based Data Dissemination (1/3)</vt:lpstr>
      <vt:lpstr>Gossip-based Data Dissemination (2/3)</vt:lpstr>
      <vt:lpstr>Gossip-based Data Dissemination (3/3)</vt:lpstr>
      <vt:lpstr>Exercise Question #1</vt:lpstr>
      <vt:lpstr>Exercise Question #2</vt:lpstr>
      <vt:lpstr>Exercise Question 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700</cp:revision>
  <dcterms:created xsi:type="dcterms:W3CDTF">2006-08-16T00:00:00Z</dcterms:created>
  <dcterms:modified xsi:type="dcterms:W3CDTF">2026-09-24T18:56:58Z</dcterms:modified>
</cp:coreProperties>
</file>